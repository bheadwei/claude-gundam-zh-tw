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9"/>
  </p:notesMasterIdLst>
  <p:sldIdLst>
    <p:sldId id="375" r:id="rId2"/>
    <p:sldId id="376" r:id="rId3"/>
    <p:sldId id="377" r:id="rId4"/>
    <p:sldId id="378" r:id="rId5"/>
    <p:sldId id="379" r:id="rId6"/>
    <p:sldId id="380" r:id="rId7"/>
    <p:sldId id="381" r:id="rId8"/>
    <p:sldId id="382" r:id="rId9"/>
    <p:sldId id="383" r:id="rId10"/>
    <p:sldId id="384" r:id="rId11"/>
    <p:sldId id="385" r:id="rId12"/>
    <p:sldId id="386" r:id="rId13"/>
    <p:sldId id="387" r:id="rId14"/>
    <p:sldId id="388" r:id="rId15"/>
    <p:sldId id="389" r:id="rId16"/>
    <p:sldId id="390" r:id="rId17"/>
    <p:sldId id="391" r:id="rId18"/>
    <p:sldId id="392" r:id="rId19"/>
    <p:sldId id="393" r:id="rId20"/>
    <p:sldId id="394" r:id="rId21"/>
    <p:sldId id="395" r:id="rId22"/>
    <p:sldId id="396" r:id="rId23"/>
    <p:sldId id="397" r:id="rId24"/>
    <p:sldId id="398" r:id="rId25"/>
    <p:sldId id="399" r:id="rId26"/>
    <p:sldId id="400" r:id="rId27"/>
    <p:sldId id="401" r:id="rId28"/>
    <p:sldId id="402" r:id="rId29"/>
    <p:sldId id="403" r:id="rId30"/>
    <p:sldId id="404" r:id="rId31"/>
    <p:sldId id="405" r:id="rId32"/>
    <p:sldId id="406" r:id="rId33"/>
    <p:sldId id="407" r:id="rId34"/>
    <p:sldId id="408" r:id="rId35"/>
    <p:sldId id="409" r:id="rId36"/>
    <p:sldId id="410" r:id="rId37"/>
    <p:sldId id="411" r:id="rId38"/>
    <p:sldId id="412" r:id="rId39"/>
    <p:sldId id="413" r:id="rId40"/>
    <p:sldId id="414" r:id="rId41"/>
    <p:sldId id="415" r:id="rId42"/>
    <p:sldId id="416" r:id="rId43"/>
    <p:sldId id="417" r:id="rId44"/>
    <p:sldId id="418" r:id="rId45"/>
    <p:sldId id="419" r:id="rId46"/>
    <p:sldId id="420" r:id="rId47"/>
    <p:sldId id="421" r:id="rId4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99" d="100"/>
          <a:sy n="99" d="100"/>
        </p:scale>
        <p:origin x="108" y="20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notesMaster" Target="notesMasters/notesMaster1.xml"/><Relationship Id="rId50" Type="http://schemas.openxmlformats.org/officeDocument/2006/relationships/presProps" Target="presProps.xml"/><Relationship Id="rId51" Type="http://schemas.openxmlformats.org/officeDocument/2006/relationships/viewProps" Target="viewProps.xml"/><Relationship Id="rId52" Type="http://schemas.openxmlformats.org/officeDocument/2006/relationships/theme" Target="theme/theme1.xml"/><Relationship Id="rId5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FBD87F5-AAD7-41CE-BFF1-C9AFDC013224}" type="datetimeFigureOut">
              <a:rPr lang="zh-TW" altLang="en-US" smtClean="0"/>
              <a:t>2026/6/8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06DC154-63BA-46A2-9D96-8F494F7A2EE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313803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互動：請學員舉手看看遇過幾個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核心訊息：差別在流程，不在 AI 模型本身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這是今天最關鍵的一張。所有 AI 行為都來自這 6 種設定。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/task-init 會幫你產一份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rules 是橫切通則，CLAUDE.md 是專案專屬。分開讓規則可跨專案複用。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今天密集用到 commands 和 agents，其他在背景幫你工作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Agent 像接力賽：一棒留報告 + 交接單，hook 提示主 AI 接手下一棒。Ch4 的 /agent-log 會攤開整條軌跡。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不需要背，知道去哪找就好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重點：uv 和 Gemini API Key（Google AI Studio 取得，放 .env 別 commit）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這是最關鍵的 Aha Moment — AI 先問問題、理解需求，再產文件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讓學員跟著做。注意 AI 一次只問一題。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v5.3 新增任務分級。小修改走 quick 不被綡住，核心邏輯走 critical 加倍嚴謹。/verify 依模式自動選 profile。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暫停讓學員讀計畫。強調：AI 不是直接寫 code，而是先用 Opus 做規劃。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看到紅色不要緊張。先定義期望（測試），再寫滿足期望的 code。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Aha Moment：讓學員打開 /docs 頁面，點 Try it out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AI 寫的 code，再讓另一個 AI 審查。依模板的 9 條規則打分。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教學效果：刻意犯錯比完美示範更有記憶點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視覺衝擊最強的 demo — 瀏覽器自己在動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用數據收尾：我們花了 X 分鐘約 20 分鐘做出一個會串流的 AI 聊天機器人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4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0116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 dirty="0" err="1">
                <a:solidFill>
                  <a:srgbClr val="141413"/>
                </a:solidFill>
                <a:latin typeface="Georgia"/>
                <a:ea typeface="Microsoft JhengHei"/>
              </a:rPr>
              <a:t>VibeCoding</a:t>
            </a:r>
            <a:r>
              <a:rPr sz="4400" b="1" i="0" dirty="0">
                <a:solidFill>
                  <a:srgbClr val="141413"/>
                </a:solidFill>
                <a:latin typeface="Georgia"/>
                <a:ea typeface="Microsoft JhengHei"/>
              </a:rPr>
              <a:t> </a:t>
            </a:r>
            <a:r>
              <a:rPr sz="4400" b="1" i="0" dirty="0" err="1">
                <a:solidFill>
                  <a:srgbClr val="141413"/>
                </a:solidFill>
                <a:latin typeface="Georgia"/>
                <a:ea typeface="Microsoft JhengHei"/>
              </a:rPr>
              <a:t>模板實戰</a:t>
            </a:r>
            <a:r>
              <a:rPr sz="4400" b="1" i="0" dirty="0">
                <a:solidFill>
                  <a:srgbClr val="141413"/>
                </a:solidFill>
                <a:latin typeface="Georgia"/>
                <a:ea typeface="Microsoft JhengHei"/>
              </a:rPr>
              <a:t> Workshop</a:t>
            </a:r>
          </a:p>
          <a:p>
            <a:pPr algn="ctr">
              <a:spcBef>
                <a:spcPts val="1600"/>
              </a:spcBef>
              <a:spcAft>
                <a:spcPts val="600"/>
              </a:spcAft>
            </a:pPr>
            <a:r>
              <a:rPr sz="2200" b="0" i="0" dirty="0">
                <a:solidFill>
                  <a:srgbClr val="5E5D59"/>
                </a:solidFill>
                <a:latin typeface="Arial"/>
                <a:ea typeface="Microsoft JhengHei"/>
              </a:rPr>
              <a:t>用 Claude Code </a:t>
            </a:r>
            <a:r>
              <a:rPr sz="2200" b="0" i="0" dirty="0" err="1">
                <a:solidFill>
                  <a:srgbClr val="5E5D59"/>
                </a:solidFill>
                <a:latin typeface="Arial"/>
                <a:ea typeface="Microsoft JhengHei"/>
              </a:rPr>
              <a:t>做出一個會串流回覆的</a:t>
            </a:r>
            <a:r>
              <a:rPr sz="2200" b="0" i="0" dirty="0">
                <a:solidFill>
                  <a:srgbClr val="5E5D59"/>
                </a:solidFill>
                <a:latin typeface="Arial"/>
                <a:ea typeface="Microsoft JhengHei"/>
              </a:rPr>
              <a:t> AI </a:t>
            </a:r>
            <a:r>
              <a:rPr sz="2200" b="0" i="0" dirty="0" err="1">
                <a:solidFill>
                  <a:srgbClr val="5E5D59"/>
                </a:solidFill>
                <a:latin typeface="Arial"/>
                <a:ea typeface="Microsoft JhengHei"/>
              </a:rPr>
              <a:t>聊天機器人</a:t>
            </a:r>
            <a:endParaRPr sz="2200" b="0" i="0" dirty="0">
              <a:solidFill>
                <a:srgbClr val="5E5D59"/>
              </a:solidFill>
              <a:latin typeface="Arial"/>
              <a:ea typeface="Microsoft JhengHei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3657600" y="3383280"/>
            <a:ext cx="4846320" cy="50800"/>
          </a:xfrm>
          <a:prstGeom prst="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ea typeface="Microsoft JhengHei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9CC78604-1767-4530-B9C2-0402DD69E509}"/>
              </a:ext>
            </a:extLst>
          </p:cNvPr>
          <p:cNvSpPr/>
          <p:nvPr/>
        </p:nvSpPr>
        <p:spPr>
          <a:xfrm>
            <a:off x="5689600" y="1498600"/>
            <a:ext cx="812800" cy="63500"/>
          </a:xfrm>
          <a:prstGeom prst="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52C8A94B-570E-4D38-A345-63D6866766E5}"/>
              </a:ext>
            </a:extLst>
          </p:cNvPr>
          <p:cNvSpPr txBox="1"/>
          <p:nvPr/>
        </p:nvSpPr>
        <p:spPr>
          <a:xfrm>
            <a:off x="11404600" y="6451600"/>
            <a:ext cx="584200" cy="3048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altLang="zh-TW" sz="1100">
                <a:solidFill>
                  <a:srgbClr val="A8A6A0"/>
                </a:solidFill>
                <a:latin typeface="Arial"/>
                <a:ea typeface="Microsoft JhengHei"/>
                <a:cs typeface="Arial"/>
              </a:rPr>
              <a:t>1</a:t>
            </a:r>
            <a:endParaRPr lang="zh-TW" altLang="en-US" sz="1100">
              <a:solidFill>
                <a:srgbClr val="A8A6A0"/>
              </a:solidFill>
              <a:latin typeface="Arial"/>
              <a:ea typeface="Microsoft JhengHei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6720594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4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219200" y="2540000"/>
            <a:ext cx="7620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C96442"/>
                </a:solidFill>
                <a:latin typeface="Arial"/>
                <a:ea typeface="Microsoft JhengHei"/>
              </a:rPr>
              <a:t>CHAPTER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19200" y="3022600"/>
            <a:ext cx="8890000" cy="10823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141413"/>
                </a:solidFill>
                <a:latin typeface="Georgia"/>
                <a:ea typeface="Microsoft JhengHei"/>
              </a:rPr>
              <a:t>認識 VibeCoding 模板</a:t>
            </a:r>
          </a:p>
          <a:p>
            <a:pPr algn="l">
              <a:spcBef>
                <a:spcPts val="1000"/>
              </a:spcBef>
            </a:pPr>
            <a:r>
              <a:rPr sz="1600" b="0" i="0">
                <a:solidFill>
                  <a:srgbClr val="5E5D59"/>
                </a:solidFill>
                <a:latin typeface="Arial"/>
                <a:ea typeface="Microsoft JhengHei"/>
              </a:rPr>
              <a:t>為什麼需要模板，以及 .claude/ 裡有什麼</a:t>
            </a:r>
          </a:p>
        </p:txBody>
      </p:sp>
      <p:sp>
        <p:nvSpPr>
          <p:cNvPr id="200" name="Prog0"/>
          <p:cNvSpPr/>
          <p:nvPr/>
        </p:nvSpPr>
        <p:spPr>
          <a:xfrm>
            <a:off x="914400" y="508000"/>
            <a:ext cx="889000" cy="63500"/>
          </a:xfrm>
          <a:prstGeom prst="rect">
            <a:avLst/>
          </a:prstGeom>
          <a:solidFill>
            <a:srgbClr val="C96442"/>
          </a:solidFill>
          <a:ln>
            <a:noFill/>
          </a:ln>
        </p:spPr>
        <p:txBody>
          <a:bodyPr/>
          <a:lstStyle/>
          <a:p>
            <a:endParaRPr lang="zh-TW" altLang="en-US">
              <a:ea typeface="Microsoft JhengHei"/>
            </a:endParaRPr>
          </a:p>
        </p:txBody>
      </p:sp>
      <p:sp>
        <p:nvSpPr>
          <p:cNvPr id="201" name="Prog1"/>
          <p:cNvSpPr/>
          <p:nvPr/>
        </p:nvSpPr>
        <p:spPr>
          <a:xfrm>
            <a:off x="1905000" y="508000"/>
            <a:ext cx="889000" cy="63500"/>
          </a:xfrm>
          <a:prstGeom prst="rect">
            <a:avLst/>
          </a:prstGeom>
          <a:solidFill>
            <a:srgbClr val="E5E0D8"/>
          </a:solidFill>
          <a:ln>
            <a:noFill/>
          </a:ln>
        </p:spPr>
        <p:txBody>
          <a:bodyPr/>
          <a:lstStyle/>
          <a:p>
            <a:endParaRPr lang="zh-TW" altLang="en-US">
              <a:ea typeface="Microsoft JhengHei"/>
            </a:endParaRPr>
          </a:p>
        </p:txBody>
      </p:sp>
      <p:sp>
        <p:nvSpPr>
          <p:cNvPr id="202" name="Prog2"/>
          <p:cNvSpPr/>
          <p:nvPr/>
        </p:nvSpPr>
        <p:spPr>
          <a:xfrm>
            <a:off x="2895600" y="508000"/>
            <a:ext cx="889000" cy="63500"/>
          </a:xfrm>
          <a:prstGeom prst="rect">
            <a:avLst/>
          </a:prstGeom>
          <a:solidFill>
            <a:srgbClr val="E5E0D8"/>
          </a:solidFill>
          <a:ln>
            <a:noFill/>
          </a:ln>
        </p:spPr>
        <p:txBody>
          <a:bodyPr/>
          <a:lstStyle/>
          <a:p>
            <a:endParaRPr lang="zh-TW" altLang="en-US">
              <a:ea typeface="Microsoft JhengHei"/>
            </a:endParaRPr>
          </a:p>
        </p:txBody>
      </p:sp>
      <p:sp>
        <p:nvSpPr>
          <p:cNvPr id="203" name="Prog3"/>
          <p:cNvSpPr/>
          <p:nvPr/>
        </p:nvSpPr>
        <p:spPr>
          <a:xfrm>
            <a:off x="3886200" y="508000"/>
            <a:ext cx="889000" cy="63500"/>
          </a:xfrm>
          <a:prstGeom prst="rect">
            <a:avLst/>
          </a:prstGeom>
          <a:solidFill>
            <a:srgbClr val="E5E0D8"/>
          </a:solidFill>
          <a:ln>
            <a:noFill/>
          </a:ln>
        </p:spPr>
        <p:txBody>
          <a:bodyPr/>
          <a:lstStyle/>
          <a:p>
            <a:endParaRPr lang="zh-TW" altLang="en-US">
              <a:ea typeface="Microsoft JhengHei"/>
            </a:endParaRPr>
          </a:p>
        </p:txBody>
      </p:sp>
      <p:sp>
        <p:nvSpPr>
          <p:cNvPr id="204" name="Prog4"/>
          <p:cNvSpPr/>
          <p:nvPr/>
        </p:nvSpPr>
        <p:spPr>
          <a:xfrm>
            <a:off x="4876800" y="508000"/>
            <a:ext cx="889000" cy="63500"/>
          </a:xfrm>
          <a:prstGeom prst="rect">
            <a:avLst/>
          </a:prstGeom>
          <a:solidFill>
            <a:srgbClr val="E5E0D8"/>
          </a:solidFill>
          <a:ln>
            <a:noFill/>
          </a:ln>
        </p:spPr>
        <p:txBody>
          <a:bodyPr/>
          <a:lstStyle/>
          <a:p>
            <a:endParaRPr lang="zh-TW" altLang="en-US">
              <a:ea typeface="Microsoft JhengHei"/>
            </a:endParaRPr>
          </a:p>
        </p:txBody>
      </p:sp>
      <p:sp>
        <p:nvSpPr>
          <p:cNvPr id="210" name="Watermark"/>
          <p:cNvSpPr txBox="1"/>
          <p:nvPr/>
        </p:nvSpPr>
        <p:spPr>
          <a:xfrm>
            <a:off x="6604000" y="1524000"/>
            <a:ext cx="4826000" cy="431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en-US" sz="20000" b="1">
                <a:solidFill>
                  <a:srgbClr val="F0E9E0"/>
                </a:solidFill>
                <a:latin typeface="Georgia"/>
                <a:ea typeface="Microsoft JhengHei"/>
              </a:rPr>
              <a:t>01</a:t>
            </a:r>
          </a:p>
        </p:txBody>
      </p:sp>
      <p:sp>
        <p:nvSpPr>
          <p:cNvPr id="211" name="AccentBar"/>
          <p:cNvSpPr/>
          <p:nvPr/>
        </p:nvSpPr>
        <p:spPr>
          <a:xfrm>
            <a:off x="914400" y="2603500"/>
            <a:ext cx="76200" cy="1168400"/>
          </a:xfrm>
          <a:prstGeom prst="rect">
            <a:avLst/>
          </a:prstGeom>
          <a:solidFill>
            <a:srgbClr val="C96442"/>
          </a:solidFill>
          <a:ln>
            <a:noFill/>
          </a:ln>
        </p:spPr>
        <p:txBody>
          <a:bodyPr/>
          <a:lstStyle/>
          <a:p>
            <a:endParaRPr lang="zh-TW" altLang="en-US">
              <a:ea typeface="Microsoft JhengHei"/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7CE441EB-B2AD-4060-A8F3-4FDD094E103D}"/>
              </a:ext>
            </a:extLst>
          </p:cNvPr>
          <p:cNvSpPr txBox="1"/>
          <p:nvPr/>
        </p:nvSpPr>
        <p:spPr>
          <a:xfrm>
            <a:off x="11404600" y="6451600"/>
            <a:ext cx="584200" cy="3048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altLang="zh-TW" sz="1100">
                <a:solidFill>
                  <a:srgbClr val="A8A6A0"/>
                </a:solidFill>
                <a:latin typeface="Arial"/>
                <a:ea typeface="Microsoft JhengHei"/>
                <a:cs typeface="Arial"/>
              </a:rPr>
              <a:t>2</a:t>
            </a:r>
            <a:endParaRPr lang="zh-TW" altLang="en-US" sz="1100">
              <a:solidFill>
                <a:srgbClr val="A8A6A0"/>
              </a:solidFill>
              <a:latin typeface="Arial"/>
              <a:ea typeface="Microsoft JhengHei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5930954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4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41413"/>
                </a:solidFill>
                <a:latin typeface="Georgia"/>
                <a:ea typeface="Microsoft JhengHei"/>
              </a:rPr>
              <a:t>用 AI 寫程式的 5 個痛點</a:t>
            </a:r>
          </a:p>
        </p:txBody>
      </p:sp>
      <p:sp>
        <p:nvSpPr>
          <p:cNvPr id="3" name="Rectangle 2"/>
          <p:cNvSpPr/>
          <p:nvPr/>
        </p:nvSpPr>
        <p:spPr>
          <a:xfrm>
            <a:off x="736600" y="1168400"/>
            <a:ext cx="812800" cy="50800"/>
          </a:xfrm>
          <a:prstGeom prst="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ea typeface="Microsoft JhengHe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>
              <a:ea typeface="Microsoft JhengHei"/>
            </a:endParaRP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 dirty="0">
                <a:solidFill>
                  <a:srgbClr val="B53333"/>
                </a:solidFill>
                <a:latin typeface="Arial"/>
                <a:ea typeface="Microsoft JhengHei"/>
              </a:rPr>
              <a:t>1.  </a:t>
            </a:r>
            <a:r>
              <a:rPr sz="2200" b="0" i="0" dirty="0" err="1">
                <a:solidFill>
                  <a:srgbClr val="B53333"/>
                </a:solidFill>
                <a:latin typeface="Arial"/>
                <a:ea typeface="Microsoft JhengHei"/>
              </a:rPr>
              <a:t>每次對話都要重新解釋專案背景</a:t>
            </a:r>
            <a:endParaRPr sz="2200" b="0" i="0" dirty="0">
              <a:solidFill>
                <a:srgbClr val="B53333"/>
              </a:solidFill>
              <a:latin typeface="Arial"/>
              <a:ea typeface="Microsoft JhengHei"/>
            </a:endParaRP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 dirty="0">
                <a:solidFill>
                  <a:srgbClr val="B53333"/>
                </a:solidFill>
                <a:latin typeface="Arial"/>
                <a:ea typeface="Microsoft JhengHei"/>
              </a:rPr>
              <a:t>2.  AI </a:t>
            </a:r>
            <a:r>
              <a:rPr sz="2200" b="0" i="0" dirty="0" err="1">
                <a:solidFill>
                  <a:srgbClr val="B53333"/>
                </a:solidFill>
                <a:latin typeface="Arial"/>
                <a:ea typeface="Microsoft JhengHei"/>
              </a:rPr>
              <a:t>產出的程式碼品質不穩定</a:t>
            </a:r>
            <a:endParaRPr sz="2200" b="0" i="0" dirty="0">
              <a:solidFill>
                <a:srgbClr val="B53333"/>
              </a:solidFill>
              <a:latin typeface="Arial"/>
              <a:ea typeface="Microsoft JhengHei"/>
            </a:endParaRP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 dirty="0">
                <a:solidFill>
                  <a:srgbClr val="B53333"/>
                </a:solidFill>
                <a:latin typeface="Arial"/>
                <a:ea typeface="Microsoft JhengHei"/>
              </a:rPr>
              <a:t>3.  </a:t>
            </a:r>
            <a:r>
              <a:rPr sz="2200" b="0" i="0" dirty="0" err="1">
                <a:solidFill>
                  <a:srgbClr val="B53333"/>
                </a:solidFill>
                <a:latin typeface="Arial"/>
                <a:ea typeface="Microsoft JhengHei"/>
              </a:rPr>
              <a:t>沒有測試、沒有審查，直接上線</a:t>
            </a:r>
            <a:endParaRPr sz="2200" b="0" i="0" dirty="0">
              <a:solidFill>
                <a:srgbClr val="B53333"/>
              </a:solidFill>
              <a:latin typeface="Arial"/>
              <a:ea typeface="Microsoft JhengHei"/>
            </a:endParaRP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 dirty="0">
                <a:solidFill>
                  <a:srgbClr val="B53333"/>
                </a:solidFill>
                <a:latin typeface="Arial"/>
                <a:ea typeface="Microsoft JhengHei"/>
              </a:rPr>
              <a:t>4.  </a:t>
            </a:r>
            <a:r>
              <a:rPr sz="2200" b="0" i="0" dirty="0" err="1">
                <a:solidFill>
                  <a:srgbClr val="B53333"/>
                </a:solidFill>
                <a:latin typeface="Arial"/>
                <a:ea typeface="Microsoft JhengHei"/>
              </a:rPr>
              <a:t>需求</a:t>
            </a:r>
            <a:r>
              <a:rPr sz="2200" b="0" i="0" dirty="0">
                <a:solidFill>
                  <a:srgbClr val="B53333"/>
                </a:solidFill>
                <a:latin typeface="Arial"/>
                <a:ea typeface="Microsoft JhengHei"/>
              </a:rPr>
              <a:t> → </a:t>
            </a:r>
            <a:r>
              <a:rPr sz="2200" b="0" i="0" dirty="0" err="1">
                <a:solidFill>
                  <a:srgbClr val="B53333"/>
                </a:solidFill>
                <a:latin typeface="Arial"/>
                <a:ea typeface="Microsoft JhengHei"/>
              </a:rPr>
              <a:t>設計</a:t>
            </a:r>
            <a:r>
              <a:rPr sz="2200" b="0" i="0" dirty="0">
                <a:solidFill>
                  <a:srgbClr val="B53333"/>
                </a:solidFill>
                <a:latin typeface="Arial"/>
                <a:ea typeface="Microsoft JhengHei"/>
              </a:rPr>
              <a:t> → </a:t>
            </a:r>
            <a:r>
              <a:rPr sz="2200" b="0" i="0" dirty="0" err="1">
                <a:solidFill>
                  <a:srgbClr val="B53333"/>
                </a:solidFill>
                <a:latin typeface="Arial"/>
                <a:ea typeface="Microsoft JhengHei"/>
              </a:rPr>
              <a:t>實作之間斷裂</a:t>
            </a:r>
            <a:endParaRPr sz="2200" b="0" i="0" dirty="0">
              <a:solidFill>
                <a:srgbClr val="B53333"/>
              </a:solidFill>
              <a:latin typeface="Arial"/>
              <a:ea typeface="Microsoft JhengHei"/>
            </a:endParaRP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 dirty="0">
                <a:solidFill>
                  <a:srgbClr val="B53333"/>
                </a:solidFill>
                <a:latin typeface="Arial"/>
                <a:ea typeface="Microsoft JhengHei"/>
              </a:rPr>
              <a:t>5.  </a:t>
            </a:r>
            <a:r>
              <a:rPr sz="2200" b="0" i="0" dirty="0" err="1">
                <a:solidFill>
                  <a:srgbClr val="B53333"/>
                </a:solidFill>
                <a:latin typeface="Arial"/>
                <a:ea typeface="Microsoft JhengHei"/>
              </a:rPr>
              <a:t>換個專案又從零開始設定</a:t>
            </a:r>
            <a:endParaRPr sz="2200" b="0" i="0" dirty="0">
              <a:solidFill>
                <a:srgbClr val="B53333"/>
              </a:solidFill>
              <a:latin typeface="Arial"/>
              <a:ea typeface="Microsoft JhengHei"/>
            </a:endParaRPr>
          </a:p>
          <a:p>
            <a:pPr algn="l">
              <a:spcBef>
                <a:spcPts val="0"/>
              </a:spcBef>
              <a:spcAft>
                <a:spcPts val="800"/>
              </a:spcAft>
            </a:pPr>
            <a:endParaRPr sz="2200" b="0" i="0" dirty="0">
              <a:solidFill>
                <a:srgbClr val="B53333"/>
              </a:solidFill>
              <a:latin typeface="Arial"/>
              <a:ea typeface="Microsoft JhengHei"/>
            </a:endParaRP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 dirty="0">
                <a:solidFill>
                  <a:srgbClr val="5E5D59"/>
                </a:solidFill>
                <a:latin typeface="Arial"/>
                <a:ea typeface="Microsoft JhengHei"/>
              </a:rPr>
              <a:t>→  </a:t>
            </a:r>
            <a:r>
              <a:rPr sz="1800" b="0" i="0" dirty="0" err="1">
                <a:solidFill>
                  <a:srgbClr val="5E5D59"/>
                </a:solidFill>
                <a:latin typeface="Arial"/>
                <a:ea typeface="Microsoft JhengHei"/>
              </a:rPr>
              <a:t>問題不在</a:t>
            </a:r>
            <a:r>
              <a:rPr sz="1800" b="0" i="0" dirty="0">
                <a:solidFill>
                  <a:srgbClr val="5E5D59"/>
                </a:solidFill>
                <a:latin typeface="Arial"/>
                <a:ea typeface="Microsoft JhengHei"/>
              </a:rPr>
              <a:t> AI </a:t>
            </a:r>
            <a:r>
              <a:rPr sz="1800" b="0" i="0" dirty="0" err="1">
                <a:solidFill>
                  <a:srgbClr val="5E5D59"/>
                </a:solidFill>
                <a:latin typeface="Arial"/>
                <a:ea typeface="Microsoft JhengHei"/>
              </a:rPr>
              <a:t>不夠聰明，而是缺乏系統化工作流</a:t>
            </a:r>
            <a:endParaRPr sz="1800" b="0" i="0" dirty="0">
              <a:solidFill>
                <a:srgbClr val="5E5D59"/>
              </a:solidFill>
              <a:latin typeface="Arial"/>
              <a:ea typeface="Microsoft JhengHei"/>
            </a:endParaRPr>
          </a:p>
        </p:txBody>
      </p:sp>
      <p:sp>
        <p:nvSpPr>
          <p:cNvPr id="200" name="Prog0"/>
          <p:cNvSpPr/>
          <p:nvPr/>
        </p:nvSpPr>
        <p:spPr>
          <a:xfrm>
            <a:off x="736600" y="203200"/>
            <a:ext cx="889000" cy="50800"/>
          </a:xfrm>
          <a:prstGeom prst="rect">
            <a:avLst/>
          </a:prstGeom>
          <a:solidFill>
            <a:srgbClr val="C96442"/>
          </a:solidFill>
          <a:ln>
            <a:noFill/>
          </a:ln>
        </p:spPr>
        <p:txBody>
          <a:bodyPr/>
          <a:lstStyle/>
          <a:p>
            <a:endParaRPr lang="zh-TW" altLang="en-US">
              <a:ea typeface="Microsoft JhengHei"/>
            </a:endParaRPr>
          </a:p>
        </p:txBody>
      </p:sp>
      <p:sp>
        <p:nvSpPr>
          <p:cNvPr id="201" name="Prog1"/>
          <p:cNvSpPr/>
          <p:nvPr/>
        </p:nvSpPr>
        <p:spPr>
          <a:xfrm>
            <a:off x="1727200" y="203200"/>
            <a:ext cx="889000" cy="50800"/>
          </a:xfrm>
          <a:prstGeom prst="rect">
            <a:avLst/>
          </a:prstGeom>
          <a:solidFill>
            <a:srgbClr val="E5E0D8"/>
          </a:solidFill>
          <a:ln>
            <a:noFill/>
          </a:ln>
        </p:spPr>
        <p:txBody>
          <a:bodyPr/>
          <a:lstStyle/>
          <a:p>
            <a:endParaRPr lang="zh-TW" altLang="en-US">
              <a:ea typeface="Microsoft JhengHei"/>
            </a:endParaRPr>
          </a:p>
        </p:txBody>
      </p:sp>
      <p:sp>
        <p:nvSpPr>
          <p:cNvPr id="202" name="Prog2"/>
          <p:cNvSpPr/>
          <p:nvPr/>
        </p:nvSpPr>
        <p:spPr>
          <a:xfrm>
            <a:off x="2717800" y="203200"/>
            <a:ext cx="889000" cy="50800"/>
          </a:xfrm>
          <a:prstGeom prst="rect">
            <a:avLst/>
          </a:prstGeom>
          <a:solidFill>
            <a:srgbClr val="E5E0D8"/>
          </a:solidFill>
          <a:ln>
            <a:noFill/>
          </a:ln>
        </p:spPr>
        <p:txBody>
          <a:bodyPr/>
          <a:lstStyle/>
          <a:p>
            <a:endParaRPr lang="zh-TW" altLang="en-US">
              <a:ea typeface="Microsoft JhengHei"/>
            </a:endParaRPr>
          </a:p>
        </p:txBody>
      </p:sp>
      <p:sp>
        <p:nvSpPr>
          <p:cNvPr id="203" name="Prog3"/>
          <p:cNvSpPr/>
          <p:nvPr/>
        </p:nvSpPr>
        <p:spPr>
          <a:xfrm>
            <a:off x="3708400" y="203200"/>
            <a:ext cx="889000" cy="50800"/>
          </a:xfrm>
          <a:prstGeom prst="rect">
            <a:avLst/>
          </a:prstGeom>
          <a:solidFill>
            <a:srgbClr val="E5E0D8"/>
          </a:solidFill>
          <a:ln>
            <a:noFill/>
          </a:ln>
        </p:spPr>
        <p:txBody>
          <a:bodyPr/>
          <a:lstStyle/>
          <a:p>
            <a:endParaRPr lang="zh-TW" altLang="en-US">
              <a:ea typeface="Microsoft JhengHei"/>
            </a:endParaRPr>
          </a:p>
        </p:txBody>
      </p:sp>
      <p:sp>
        <p:nvSpPr>
          <p:cNvPr id="204" name="Prog4"/>
          <p:cNvSpPr/>
          <p:nvPr/>
        </p:nvSpPr>
        <p:spPr>
          <a:xfrm>
            <a:off x="4699000" y="203200"/>
            <a:ext cx="889000" cy="50800"/>
          </a:xfrm>
          <a:prstGeom prst="rect">
            <a:avLst/>
          </a:prstGeom>
          <a:solidFill>
            <a:srgbClr val="E5E0D8"/>
          </a:solidFill>
          <a:ln>
            <a:noFill/>
          </a:ln>
        </p:spPr>
        <p:txBody>
          <a:bodyPr/>
          <a:lstStyle/>
          <a:p>
            <a:endParaRPr lang="zh-TW" altLang="en-US">
              <a:ea typeface="Microsoft JhengHei"/>
            </a:endParaRPr>
          </a:p>
        </p:txBody>
      </p:sp>
      <p:sp>
        <p:nvSpPr>
          <p:cNvPr id="5" name="矩形: 圓角 4">
            <a:extLst>
              <a:ext uri="{FF2B5EF4-FFF2-40B4-BE49-F238E27FC236}">
                <a16:creationId xmlns:a16="http://schemas.microsoft.com/office/drawing/2014/main" id="{173FD338-F398-4A2E-A208-A27EFE99BBF5}"/>
              </a:ext>
            </a:extLst>
          </p:cNvPr>
          <p:cNvSpPr/>
          <p:nvPr/>
        </p:nvSpPr>
        <p:spPr>
          <a:xfrm>
            <a:off x="10642600" y="304800"/>
            <a:ext cx="787400" cy="330200"/>
          </a:xfrm>
          <a:prstGeom prst="round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altLang="zh-TW" sz="1200" b="1" dirty="0">
                <a:solidFill>
                  <a:srgbClr val="FFFFFF"/>
                </a:solidFill>
                <a:latin typeface="Arial"/>
                <a:ea typeface="Microsoft JhengHei"/>
                <a:cs typeface="Arial"/>
              </a:rPr>
              <a:t>CH 1</a:t>
            </a:r>
            <a:endParaRPr lang="zh-TW" altLang="en-US" sz="1200" b="1" dirty="0">
              <a:solidFill>
                <a:srgbClr val="FFFFFF"/>
              </a:solidFill>
              <a:latin typeface="Arial"/>
              <a:ea typeface="Microsoft JhengHei"/>
              <a:cs typeface="Arial"/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6315CE53-12A2-451C-84BE-529A4C8BE9E9}"/>
              </a:ext>
            </a:extLst>
          </p:cNvPr>
          <p:cNvSpPr txBox="1"/>
          <p:nvPr/>
        </p:nvSpPr>
        <p:spPr>
          <a:xfrm>
            <a:off x="11404600" y="6451600"/>
            <a:ext cx="584200" cy="3048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altLang="zh-TW" sz="1100">
                <a:solidFill>
                  <a:srgbClr val="A8A6A0"/>
                </a:solidFill>
                <a:latin typeface="Arial"/>
                <a:ea typeface="Microsoft JhengHei"/>
                <a:cs typeface="Arial"/>
              </a:rPr>
              <a:t>3</a:t>
            </a:r>
            <a:endParaRPr lang="zh-TW" altLang="en-US" sz="1100">
              <a:solidFill>
                <a:srgbClr val="A8A6A0"/>
              </a:solidFill>
              <a:latin typeface="Arial"/>
              <a:ea typeface="Microsoft JhengHei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13833575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4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41413"/>
                </a:solidFill>
                <a:latin typeface="Georgia"/>
                <a:ea typeface="Microsoft JhengHei"/>
              </a:rPr>
              <a:t>VibeCoding 模板 = AI 開發的標準作業程序</a:t>
            </a:r>
          </a:p>
        </p:txBody>
      </p:sp>
      <p:sp>
        <p:nvSpPr>
          <p:cNvPr id="3" name="Rectangle 2"/>
          <p:cNvSpPr/>
          <p:nvPr/>
        </p:nvSpPr>
        <p:spPr>
          <a:xfrm>
            <a:off x="736600" y="1168400"/>
            <a:ext cx="812800" cy="50800"/>
          </a:xfrm>
          <a:prstGeom prst="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ea typeface="Microsoft JhengHe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>
              <a:ea typeface="Microsoft JhengHei"/>
            </a:endParaRP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41413"/>
                </a:solidFill>
                <a:latin typeface="Arial"/>
                <a:ea typeface="Microsoft JhengHei"/>
              </a:rPr>
              <a:t>📋  16 份文件模板        規範從需求到部署的每個階段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41413"/>
                </a:solidFill>
                <a:latin typeface="Arial"/>
                <a:ea typeface="Microsoft JhengHei"/>
              </a:rPr>
              <a:t>🤖  14 個 AI Agent        各司其職、自動協作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41413"/>
                </a:solidFill>
                <a:latin typeface="Arial"/>
                <a:ea typeface="Microsoft JhengHei"/>
              </a:rPr>
              <a:t>⚡  24 個快捷指令        一行啟動完整流程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41413"/>
                </a:solidFill>
                <a:latin typeface="Arial"/>
                <a:ea typeface="Microsoft JhengHei"/>
              </a:rPr>
              <a:t>📏  15 條自動規則         品質底線自動守護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41413"/>
                </a:solidFill>
                <a:latin typeface="Arial"/>
                <a:ea typeface="Microsoft JhengHei"/>
              </a:rPr>
              <a:t>🔧   7 個領域技能         按需載入專業知識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41413"/>
                </a:solidFill>
                <a:latin typeface="Arial"/>
                <a:ea typeface="Microsoft JhengHei"/>
              </a:rPr>
              <a:t>🪝   系統 Hook              事件自動化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endParaRPr sz="2000" b="0" i="0">
              <a:solidFill>
                <a:srgbClr val="141413"/>
              </a:solidFill>
              <a:latin typeface="Arial"/>
              <a:ea typeface="Microsoft JhengHei"/>
            </a:endParaRP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1" i="0">
                <a:solidFill>
                  <a:srgbClr val="C96442"/>
                </a:solidFill>
                <a:latin typeface="Arial"/>
                <a:ea typeface="Microsoft JhengHei"/>
              </a:rPr>
              <a:t>→  複製到任何新專案，立即可用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B9E69219-2C16-4E31-9DFF-12DA5BD21103}"/>
              </a:ext>
            </a:extLst>
          </p:cNvPr>
          <p:cNvSpPr/>
          <p:nvPr/>
        </p:nvSpPr>
        <p:spPr>
          <a:xfrm>
            <a:off x="736600" y="203200"/>
            <a:ext cx="889000" cy="50800"/>
          </a:xfrm>
          <a:prstGeom prst="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DFE2C48F-6ADC-4824-B083-5F6E5E9AB745}"/>
              </a:ext>
            </a:extLst>
          </p:cNvPr>
          <p:cNvSpPr/>
          <p:nvPr/>
        </p:nvSpPr>
        <p:spPr>
          <a:xfrm>
            <a:off x="17272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7794CE9F-83BA-401D-B2BC-C6CA634E33B6}"/>
              </a:ext>
            </a:extLst>
          </p:cNvPr>
          <p:cNvSpPr/>
          <p:nvPr/>
        </p:nvSpPr>
        <p:spPr>
          <a:xfrm>
            <a:off x="27178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7730EB38-A790-4902-B62C-76035A3D4049}"/>
              </a:ext>
            </a:extLst>
          </p:cNvPr>
          <p:cNvSpPr/>
          <p:nvPr/>
        </p:nvSpPr>
        <p:spPr>
          <a:xfrm>
            <a:off x="37084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1E5AF1B1-0725-4A86-B6F5-5ABDDCBB34FF}"/>
              </a:ext>
            </a:extLst>
          </p:cNvPr>
          <p:cNvSpPr/>
          <p:nvPr/>
        </p:nvSpPr>
        <p:spPr>
          <a:xfrm>
            <a:off x="46990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A466DA2A-B018-48A3-AF69-1929FFC5328A}"/>
              </a:ext>
            </a:extLst>
          </p:cNvPr>
          <p:cNvSpPr/>
          <p:nvPr/>
        </p:nvSpPr>
        <p:spPr>
          <a:xfrm>
            <a:off x="10642600" y="304800"/>
            <a:ext cx="787400" cy="330200"/>
          </a:xfrm>
          <a:prstGeom prst="round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altLang="zh-TW" sz="1200" b="1">
                <a:solidFill>
                  <a:srgbClr val="FFFFFF"/>
                </a:solidFill>
                <a:latin typeface="Arial"/>
                <a:ea typeface="Microsoft JhengHei"/>
                <a:cs typeface="Arial"/>
              </a:rPr>
              <a:t>CH 1</a:t>
            </a:r>
            <a:endParaRPr lang="zh-TW" altLang="en-US" sz="1200" b="1">
              <a:solidFill>
                <a:srgbClr val="FFFFFF"/>
              </a:solidFill>
              <a:latin typeface="Arial"/>
              <a:ea typeface="Microsoft JhengHei"/>
              <a:cs typeface="Arial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15E54353-6A11-4654-8500-28428CD75E35}"/>
              </a:ext>
            </a:extLst>
          </p:cNvPr>
          <p:cNvSpPr txBox="1"/>
          <p:nvPr/>
        </p:nvSpPr>
        <p:spPr>
          <a:xfrm>
            <a:off x="11404600" y="6451600"/>
            <a:ext cx="584200" cy="3048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altLang="zh-TW" sz="1100">
                <a:solidFill>
                  <a:srgbClr val="A8A6A0"/>
                </a:solidFill>
                <a:latin typeface="Arial"/>
                <a:ea typeface="Microsoft JhengHei"/>
                <a:cs typeface="Arial"/>
              </a:rPr>
              <a:t>4</a:t>
            </a:r>
            <a:endParaRPr lang="zh-TW" altLang="en-US" sz="1100">
              <a:solidFill>
                <a:srgbClr val="A8A6A0"/>
              </a:solidFill>
              <a:latin typeface="Arial"/>
              <a:ea typeface="Microsoft JhengHei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905991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4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矩形: 圓角 13">
            <a:extLst>
              <a:ext uri="{FF2B5EF4-FFF2-40B4-BE49-F238E27FC236}">
                <a16:creationId xmlns:a16="http://schemas.microsoft.com/office/drawing/2014/main" id="{E04FA5A9-D27B-44E4-B441-ED2EC207AA90}"/>
              </a:ext>
            </a:extLst>
          </p:cNvPr>
          <p:cNvSpPr/>
          <p:nvPr/>
        </p:nvSpPr>
        <p:spPr>
          <a:xfrm>
            <a:off x="6273800" y="1371600"/>
            <a:ext cx="5308600" cy="4749800"/>
          </a:xfrm>
          <a:prstGeom prst="roundRect">
            <a:avLst/>
          </a:prstGeom>
          <a:solidFill>
            <a:srgbClr val="F4F5EC"/>
          </a:solidFill>
          <a:ln w="12700" cap="flat" cmpd="sng" algn="ctr">
            <a:solidFill>
              <a:srgbClr val="D2D8BD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13" name="矩形: 圓角 12">
            <a:extLst>
              <a:ext uri="{FF2B5EF4-FFF2-40B4-BE49-F238E27FC236}">
                <a16:creationId xmlns:a16="http://schemas.microsoft.com/office/drawing/2014/main" id="{AA8C2423-111F-4208-A6A6-9D9313FCAEBF}"/>
              </a:ext>
            </a:extLst>
          </p:cNvPr>
          <p:cNvSpPr/>
          <p:nvPr/>
        </p:nvSpPr>
        <p:spPr>
          <a:xfrm>
            <a:off x="609600" y="1371600"/>
            <a:ext cx="5308600" cy="4749800"/>
          </a:xfrm>
          <a:prstGeom prst="roundRect">
            <a:avLst/>
          </a:prstGeom>
          <a:solidFill>
            <a:srgbClr val="FBF1ED"/>
          </a:solidFill>
          <a:ln w="12700" cap="flat" cmpd="sng" algn="ctr">
            <a:solidFill>
              <a:srgbClr val="E8C9BD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 i="0">
                <a:solidFill>
                  <a:srgbClr val="141413"/>
                </a:solidFill>
                <a:latin typeface="Georgia"/>
                <a:ea typeface="Microsoft JhengHei"/>
              </a:rPr>
              <a:t>對比 — 沒模板 vs 有模板</a:t>
            </a:r>
          </a:p>
        </p:txBody>
      </p:sp>
      <p:sp>
        <p:nvSpPr>
          <p:cNvPr id="3" name="Rectangle 2"/>
          <p:cNvSpPr/>
          <p:nvPr/>
        </p:nvSpPr>
        <p:spPr>
          <a:xfrm>
            <a:off x="736600" y="1168400"/>
            <a:ext cx="812800" cy="50800"/>
          </a:xfrm>
          <a:prstGeom prst="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ea typeface="Microsoft JhengHe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14400" y="1651000"/>
            <a:ext cx="4826000" cy="29905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 i="0">
                <a:solidFill>
                  <a:srgbClr val="C96442"/>
                </a:solidFill>
                <a:latin typeface="Arial"/>
                <a:ea typeface="Microsoft JhengHei"/>
              </a:rPr>
              <a:t>❌  沒有模板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800" b="0" i="0">
                <a:solidFill>
                  <a:srgbClr val="141413"/>
                </a:solidFill>
                <a:latin typeface="Arial"/>
                <a:ea typeface="Microsoft JhengHei"/>
              </a:rPr>
              <a:t>"幫我寫一個聊天機器人"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800" b="0" i="0">
                <a:solidFill>
                  <a:srgbClr val="141413"/>
                </a:solidFill>
                <a:latin typeface="Arial"/>
                <a:ea typeface="Microsoft JhengHei"/>
              </a:rPr>
              <a:t>→ AI 直接寫一大段程式碼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800" b="0" i="0">
                <a:solidFill>
                  <a:srgbClr val="141413"/>
                </a:solidFill>
                <a:latin typeface="Arial"/>
                <a:ea typeface="Microsoft JhengHei"/>
              </a:rPr>
              <a:t>→ 沒測試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800" b="0" i="0">
                <a:solidFill>
                  <a:srgbClr val="141413"/>
                </a:solidFill>
                <a:latin typeface="Arial"/>
                <a:ea typeface="Microsoft JhengHei"/>
              </a:rPr>
              <a:t>→ 沒文件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800" b="0" i="0">
                <a:solidFill>
                  <a:srgbClr val="141413"/>
                </a:solidFill>
                <a:latin typeface="Arial"/>
                <a:ea typeface="Microsoft JhengHei"/>
              </a:rPr>
              <a:t>→ 沒品質把關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800" b="0" i="0">
                <a:solidFill>
                  <a:srgbClr val="141413"/>
                </a:solidFill>
                <a:latin typeface="Arial"/>
                <a:ea typeface="Microsoft JhengHei"/>
              </a:rPr>
              <a:t>→ 出問題才發現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04000" y="1651000"/>
            <a:ext cx="4826000" cy="29905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 i="0">
                <a:solidFill>
                  <a:srgbClr val="6B7A3F"/>
                </a:solidFill>
                <a:latin typeface="Arial"/>
                <a:ea typeface="Microsoft JhengHei"/>
              </a:rPr>
              <a:t>✅  有模板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800" b="0" i="0">
                <a:solidFill>
                  <a:srgbClr val="141413"/>
                </a:solidFill>
                <a:latin typeface="Arial"/>
                <a:ea typeface="Microsoft JhengHei"/>
              </a:rPr>
              <a:t>/task-init  → 互動式 Q&amp;A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800" b="0" i="0">
                <a:solidFill>
                  <a:srgbClr val="141413"/>
                </a:solidFill>
                <a:latin typeface="Arial"/>
                <a:ea typeface="Microsoft JhengHei"/>
              </a:rPr>
              <a:t>/task-next  → 拆好的任務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800" b="0" i="0">
                <a:solidFill>
                  <a:srgbClr val="141413"/>
                </a:solidFill>
                <a:latin typeface="Arial"/>
                <a:ea typeface="Microsoft JhengHei"/>
              </a:rPr>
              <a:t>/plan       → 先規劃再動手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800" b="0" i="0">
                <a:solidFill>
                  <a:srgbClr val="141413"/>
                </a:solidFill>
                <a:latin typeface="Arial"/>
                <a:ea typeface="Microsoft JhengHei"/>
              </a:rPr>
              <a:t>/tdd        → 先寫測試再實作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800" b="0" i="0">
                <a:solidFill>
                  <a:srgbClr val="141413"/>
                </a:solidFill>
                <a:latin typeface="Arial"/>
                <a:ea typeface="Microsoft JhengHei"/>
              </a:rPr>
              <a:t>/review-code → AI 審查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800" b="0" i="0">
                <a:solidFill>
                  <a:srgbClr val="141413"/>
                </a:solidFill>
                <a:latin typeface="Arial"/>
                <a:ea typeface="Microsoft JhengHei"/>
              </a:rPr>
              <a:t>/verify     → 品質門把關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F9C51C8E-718A-411C-B540-1EC41DD8B667}"/>
              </a:ext>
            </a:extLst>
          </p:cNvPr>
          <p:cNvSpPr/>
          <p:nvPr/>
        </p:nvSpPr>
        <p:spPr>
          <a:xfrm>
            <a:off x="736600" y="203200"/>
            <a:ext cx="889000" cy="50800"/>
          </a:xfrm>
          <a:prstGeom prst="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014556E1-DDA6-450B-A356-D5B3784F23FC}"/>
              </a:ext>
            </a:extLst>
          </p:cNvPr>
          <p:cNvSpPr/>
          <p:nvPr/>
        </p:nvSpPr>
        <p:spPr>
          <a:xfrm>
            <a:off x="17272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50BD6A9A-2AEE-4A9B-B790-30C8DD0A820F}"/>
              </a:ext>
            </a:extLst>
          </p:cNvPr>
          <p:cNvSpPr/>
          <p:nvPr/>
        </p:nvSpPr>
        <p:spPr>
          <a:xfrm>
            <a:off x="27178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DCB5AA28-2EA8-44AD-AB44-AD74ED3F1E59}"/>
              </a:ext>
            </a:extLst>
          </p:cNvPr>
          <p:cNvSpPr/>
          <p:nvPr/>
        </p:nvSpPr>
        <p:spPr>
          <a:xfrm>
            <a:off x="37084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F817B5D9-67E3-4A43-8015-AD4338ACA2AE}"/>
              </a:ext>
            </a:extLst>
          </p:cNvPr>
          <p:cNvSpPr/>
          <p:nvPr/>
        </p:nvSpPr>
        <p:spPr>
          <a:xfrm>
            <a:off x="46990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12" name="矩形: 圓角 11">
            <a:extLst>
              <a:ext uri="{FF2B5EF4-FFF2-40B4-BE49-F238E27FC236}">
                <a16:creationId xmlns:a16="http://schemas.microsoft.com/office/drawing/2014/main" id="{911F8B24-CCDA-41CC-9D42-E0FBEFA60D92}"/>
              </a:ext>
            </a:extLst>
          </p:cNvPr>
          <p:cNvSpPr/>
          <p:nvPr/>
        </p:nvSpPr>
        <p:spPr>
          <a:xfrm>
            <a:off x="10642600" y="304800"/>
            <a:ext cx="787400" cy="330200"/>
          </a:xfrm>
          <a:prstGeom prst="round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altLang="zh-TW" sz="1200" b="1">
                <a:solidFill>
                  <a:srgbClr val="FFFFFF"/>
                </a:solidFill>
                <a:latin typeface="Arial"/>
                <a:ea typeface="Microsoft JhengHei"/>
                <a:cs typeface="Arial"/>
              </a:rPr>
              <a:t>CH 1</a:t>
            </a:r>
            <a:endParaRPr lang="zh-TW" altLang="en-US" sz="1200" b="1">
              <a:solidFill>
                <a:srgbClr val="FFFFFF"/>
              </a:solidFill>
              <a:latin typeface="Arial"/>
              <a:ea typeface="Microsoft JhengHei"/>
              <a:cs typeface="Arial"/>
            </a:endParaRP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22B7CB9F-A67C-416C-A671-394354683387}"/>
              </a:ext>
            </a:extLst>
          </p:cNvPr>
          <p:cNvSpPr txBox="1"/>
          <p:nvPr/>
        </p:nvSpPr>
        <p:spPr>
          <a:xfrm>
            <a:off x="11404600" y="6451600"/>
            <a:ext cx="584200" cy="3048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altLang="zh-TW" sz="1100">
                <a:solidFill>
                  <a:srgbClr val="A8A6A0"/>
                </a:solidFill>
                <a:latin typeface="Arial"/>
                <a:ea typeface="Microsoft JhengHei"/>
                <a:cs typeface="Arial"/>
              </a:rPr>
              <a:t>5</a:t>
            </a:r>
            <a:endParaRPr lang="zh-TW" altLang="en-US" sz="1100">
              <a:solidFill>
                <a:srgbClr val="A8A6A0"/>
              </a:solidFill>
              <a:latin typeface="Arial"/>
              <a:ea typeface="Microsoft JhengHei"/>
              <a:cs typeface="Arial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DD7D35B5-5836-4C7D-952F-D586093E5244}"/>
              </a:ext>
            </a:extLst>
          </p:cNvPr>
          <p:cNvSpPr/>
          <p:nvPr/>
        </p:nvSpPr>
        <p:spPr>
          <a:xfrm>
            <a:off x="6070600" y="1778000"/>
            <a:ext cx="38100" cy="3937000"/>
          </a:xfrm>
          <a:prstGeom prst="rect">
            <a:avLst/>
          </a:prstGeom>
          <a:solidFill>
            <a:srgbClr val="D8D3CA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16" name="橢圓 15">
            <a:extLst>
              <a:ext uri="{FF2B5EF4-FFF2-40B4-BE49-F238E27FC236}">
                <a16:creationId xmlns:a16="http://schemas.microsoft.com/office/drawing/2014/main" id="{73B0C09E-6070-4DCB-B996-5446FE84A05D}"/>
              </a:ext>
            </a:extLst>
          </p:cNvPr>
          <p:cNvSpPr/>
          <p:nvPr/>
        </p:nvSpPr>
        <p:spPr>
          <a:xfrm>
            <a:off x="5803900" y="3556000"/>
            <a:ext cx="584200" cy="584200"/>
          </a:xfrm>
          <a:prstGeom prst="ellipse">
            <a:avLst/>
          </a:prstGeom>
          <a:solidFill>
            <a:srgbClr val="C96442"/>
          </a:solidFill>
          <a:ln w="25400" cap="flat" cmpd="sng" algn="ctr">
            <a:solidFill>
              <a:srgbClr val="FFFFFF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altLang="zh-TW" sz="1400" b="1">
                <a:solidFill>
                  <a:srgbClr val="FFFFFF"/>
                </a:solidFill>
                <a:latin typeface="Arial"/>
                <a:ea typeface="Microsoft JhengHei"/>
                <a:cs typeface="Arial"/>
              </a:rPr>
              <a:t>VS</a:t>
            </a:r>
            <a:endParaRPr lang="zh-TW" altLang="en-US" sz="1400" b="1">
              <a:solidFill>
                <a:srgbClr val="FFFFFF"/>
              </a:solidFill>
              <a:latin typeface="Arial"/>
              <a:ea typeface="Microsoft JhengHei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1263785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4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41413"/>
                </a:solidFill>
                <a:latin typeface="Georgia"/>
                <a:ea typeface="Microsoft JhengHei"/>
              </a:rPr>
              <a:t>.claude/ 是專案的「AI 大腦」 — 6 大設定觀念</a:t>
            </a:r>
          </a:p>
        </p:txBody>
      </p:sp>
      <p:sp>
        <p:nvSpPr>
          <p:cNvPr id="3" name="Rectangle 2"/>
          <p:cNvSpPr/>
          <p:nvPr/>
        </p:nvSpPr>
        <p:spPr>
          <a:xfrm>
            <a:off x="736600" y="1168400"/>
            <a:ext cx="812800" cy="50800"/>
          </a:xfrm>
          <a:prstGeom prst="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ea typeface="Microsoft JhengHe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31520" y="5207000"/>
            <a:ext cx="10698480" cy="5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800" b="0" i="0">
                <a:solidFill>
                  <a:srgbClr val="5E5D59"/>
                </a:solidFill>
                <a:latin typeface="Arial"/>
                <a:ea typeface="Microsoft JhengHei"/>
              </a:rPr>
              <a:t>→  接下來一張投影片介紹一個觀念</a:t>
            </a:r>
          </a:p>
        </p:txBody>
      </p:sp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481CA4E6-FE4A-4978-9A99-62E4EB9D8AC1}"/>
              </a:ext>
            </a:extLst>
          </p:cNvPr>
          <p:cNvGraphicFramePr>
            <a:graphicFrameLocks noGrp="1"/>
          </p:cNvGraphicFramePr>
          <p:nvPr/>
        </p:nvGraphicFramePr>
        <p:xfrm>
          <a:off x="736600" y="1524000"/>
          <a:ext cx="10693401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4467">
                  <a:extLst>
                    <a:ext uri="{9D8B030D-6E8A-4147-A177-3AD203B41FA5}">
                      <a16:colId xmlns:a16="http://schemas.microsoft.com/office/drawing/2014/main" val="3967376813"/>
                    </a:ext>
                  </a:extLst>
                </a:gridCol>
                <a:gridCol w="3564467">
                  <a:extLst>
                    <a:ext uri="{9D8B030D-6E8A-4147-A177-3AD203B41FA5}">
                      <a16:colId xmlns:a16="http://schemas.microsoft.com/office/drawing/2014/main" val="2026594820"/>
                    </a:ext>
                  </a:extLst>
                </a:gridCol>
                <a:gridCol w="3564467">
                  <a:extLst>
                    <a:ext uri="{9D8B030D-6E8A-4147-A177-3AD203B41FA5}">
                      <a16:colId xmlns:a16="http://schemas.microsoft.com/office/drawing/2014/main" val="4170676338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zh-TW" altLang="en-US" sz="1800" b="1" dirty="0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  <a:cs typeface="Arial"/>
                        </a:rPr>
                        <a:t>觀念</a:t>
                      </a:r>
                    </a:p>
                  </a:txBody>
                  <a:tcPr anchor="ctr">
                    <a:solidFill>
                      <a:srgbClr val="C9644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8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  <a:cs typeface="Arial"/>
                        </a:rPr>
                        <a:t>角色</a:t>
                      </a:r>
                    </a:p>
                  </a:txBody>
                  <a:tcPr anchor="ctr">
                    <a:solidFill>
                      <a:srgbClr val="C9644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8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  <a:cs typeface="Arial"/>
                        </a:rPr>
                        <a:t>載入時機</a:t>
                      </a:r>
                    </a:p>
                  </a:txBody>
                  <a:tcPr anchor="ctr">
                    <a:solidFill>
                      <a:srgbClr val="C9644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7585449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zh-TW" altLang="en-US" sz="1600">
                          <a:solidFill>
                            <a:srgbClr val="141413"/>
                          </a:solidFill>
                          <a:latin typeface="Arial"/>
                          <a:ea typeface="Microsoft JhengHei"/>
                          <a:cs typeface="Arial"/>
                        </a:rPr>
                        <a:t>CLAUDE.md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600">
                          <a:solidFill>
                            <a:srgbClr val="141413"/>
                          </a:solidFill>
                          <a:latin typeface="Arial"/>
                          <a:ea typeface="Microsoft JhengHei"/>
                          <a:cs typeface="Arial"/>
                        </a:rPr>
                        <a:t>專案說明書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600">
                          <a:solidFill>
                            <a:srgbClr val="141413"/>
                          </a:solidFill>
                          <a:latin typeface="Arial"/>
                          <a:ea typeface="Microsoft JhengHei"/>
                          <a:cs typeface="Arial"/>
                        </a:rPr>
                        <a:t>每次對話自動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31883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zh-TW" altLang="en-US" sz="1600">
                          <a:solidFill>
                            <a:srgbClr val="141413"/>
                          </a:solidFill>
                          <a:latin typeface="Arial"/>
                          <a:ea typeface="Microsoft JhengHei"/>
                          <a:cs typeface="Arial"/>
                        </a:rPr>
                        <a:t>rules/</a:t>
                      </a:r>
                    </a:p>
                  </a:txBody>
                  <a:tcPr anchor="ctr">
                    <a:solidFill>
                      <a:srgbClr val="F5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600">
                          <a:solidFill>
                            <a:srgbClr val="141413"/>
                          </a:solidFill>
                          <a:latin typeface="Arial"/>
                          <a:ea typeface="Microsoft JhengHei"/>
                          <a:cs typeface="Arial"/>
                        </a:rPr>
                        <a:t>行為準則</a:t>
                      </a:r>
                    </a:p>
                  </a:txBody>
                  <a:tcPr anchor="ctr">
                    <a:solidFill>
                      <a:srgbClr val="F5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600">
                          <a:solidFill>
                            <a:srgbClr val="141413"/>
                          </a:solidFill>
                          <a:latin typeface="Arial"/>
                          <a:ea typeface="Microsoft JhengHei"/>
                          <a:cs typeface="Arial"/>
                        </a:rPr>
                        <a:t>每次對話自動</a:t>
                      </a:r>
                    </a:p>
                  </a:txBody>
                  <a:tcPr anchor="ctr">
                    <a:solidFill>
                      <a:srgbClr val="F5F0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29504527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zh-TW" altLang="en-US" sz="1600" dirty="0">
                          <a:solidFill>
                            <a:srgbClr val="141413"/>
                          </a:solidFill>
                          <a:latin typeface="Arial"/>
                          <a:ea typeface="Microsoft JhengHei"/>
                          <a:cs typeface="Arial"/>
                        </a:rPr>
                        <a:t>commands/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600">
                          <a:solidFill>
                            <a:srgbClr val="141413"/>
                          </a:solidFill>
                          <a:latin typeface="Arial"/>
                          <a:ea typeface="Microsoft JhengHei"/>
                          <a:cs typeface="Arial"/>
                        </a:rPr>
                        <a:t>快捷指令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600">
                          <a:solidFill>
                            <a:srgbClr val="141413"/>
                          </a:solidFill>
                          <a:latin typeface="Arial"/>
                          <a:ea typeface="Microsoft JhengHei"/>
                          <a:cs typeface="Arial"/>
                        </a:rPr>
                        <a:t>使用者 /xxx 觸發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70316227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zh-TW" altLang="en-US" sz="1600">
                          <a:solidFill>
                            <a:srgbClr val="141413"/>
                          </a:solidFill>
                          <a:latin typeface="Arial"/>
                          <a:ea typeface="Microsoft JhengHei"/>
                          <a:cs typeface="Arial"/>
                        </a:rPr>
                        <a:t>agents/</a:t>
                      </a:r>
                    </a:p>
                  </a:txBody>
                  <a:tcPr anchor="ctr">
                    <a:solidFill>
                      <a:srgbClr val="F5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600">
                          <a:solidFill>
                            <a:srgbClr val="141413"/>
                          </a:solidFill>
                          <a:latin typeface="Arial"/>
                          <a:ea typeface="Microsoft JhengHei"/>
                          <a:cs typeface="Arial"/>
                        </a:rPr>
                        <a:t>專業 AI 同事</a:t>
                      </a:r>
                    </a:p>
                  </a:txBody>
                  <a:tcPr anchor="ctr">
                    <a:solidFill>
                      <a:srgbClr val="F5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600">
                          <a:solidFill>
                            <a:srgbClr val="141413"/>
                          </a:solidFill>
                          <a:latin typeface="Arial"/>
                          <a:ea typeface="Microsoft JhengHei"/>
                          <a:cs typeface="Arial"/>
                        </a:rPr>
                        <a:t>主 AI 委派時</a:t>
                      </a:r>
                    </a:p>
                  </a:txBody>
                  <a:tcPr anchor="ctr">
                    <a:solidFill>
                      <a:srgbClr val="F5F0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15174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zh-TW" altLang="en-US" sz="1600">
                          <a:solidFill>
                            <a:srgbClr val="141413"/>
                          </a:solidFill>
                          <a:latin typeface="Arial"/>
                          <a:ea typeface="Microsoft JhengHei"/>
                          <a:cs typeface="Arial"/>
                        </a:rPr>
                        <a:t>skills/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600">
                          <a:solidFill>
                            <a:srgbClr val="141413"/>
                          </a:solidFill>
                          <a:latin typeface="Arial"/>
                          <a:ea typeface="Microsoft JhengHei"/>
                          <a:cs typeface="Arial"/>
                        </a:rPr>
                        <a:t>領域知識包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600">
                          <a:solidFill>
                            <a:srgbClr val="141413"/>
                          </a:solidFill>
                          <a:latin typeface="Arial"/>
                          <a:ea typeface="Microsoft JhengHei"/>
                          <a:cs typeface="Arial"/>
                        </a:rPr>
                        <a:t>語意偵測自動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676561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zh-TW" altLang="en-US" sz="1600">
                          <a:solidFill>
                            <a:srgbClr val="141413"/>
                          </a:solidFill>
                          <a:latin typeface="Arial"/>
                          <a:ea typeface="Microsoft JhengHei"/>
                          <a:cs typeface="Arial"/>
                        </a:rPr>
                        <a:t>hooks/</a:t>
                      </a:r>
                    </a:p>
                  </a:txBody>
                  <a:tcPr anchor="ctr">
                    <a:solidFill>
                      <a:srgbClr val="F5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600">
                          <a:solidFill>
                            <a:srgbClr val="141413"/>
                          </a:solidFill>
                          <a:latin typeface="Arial"/>
                          <a:ea typeface="Microsoft JhengHei"/>
                          <a:cs typeface="Arial"/>
                        </a:rPr>
                        <a:t>事件觸發器</a:t>
                      </a:r>
                    </a:p>
                  </a:txBody>
                  <a:tcPr anchor="ctr">
                    <a:solidFill>
                      <a:srgbClr val="F5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600" dirty="0">
                          <a:solidFill>
                            <a:srgbClr val="141413"/>
                          </a:solidFill>
                          <a:latin typeface="Arial"/>
                          <a:ea typeface="Microsoft JhengHei"/>
                          <a:cs typeface="Arial"/>
                        </a:rPr>
                        <a:t>系統事件發生</a:t>
                      </a:r>
                    </a:p>
                  </a:txBody>
                  <a:tcPr anchor="ctr">
                    <a:solidFill>
                      <a:srgbClr val="F5F0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72474276"/>
                  </a:ext>
                </a:extLst>
              </a:tr>
            </a:tbl>
          </a:graphicData>
        </a:graphic>
      </p:graphicFrame>
      <p:sp>
        <p:nvSpPr>
          <p:cNvPr id="5" name="矩形 4">
            <a:extLst>
              <a:ext uri="{FF2B5EF4-FFF2-40B4-BE49-F238E27FC236}">
                <a16:creationId xmlns:a16="http://schemas.microsoft.com/office/drawing/2014/main" id="{193359D1-97CB-49FE-B02F-D2011C1ADED9}"/>
              </a:ext>
            </a:extLst>
          </p:cNvPr>
          <p:cNvSpPr/>
          <p:nvPr/>
        </p:nvSpPr>
        <p:spPr>
          <a:xfrm>
            <a:off x="736600" y="203200"/>
            <a:ext cx="889000" cy="50800"/>
          </a:xfrm>
          <a:prstGeom prst="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9B1AE264-0C94-409A-8B79-A975EACF28BC}"/>
              </a:ext>
            </a:extLst>
          </p:cNvPr>
          <p:cNvSpPr/>
          <p:nvPr/>
        </p:nvSpPr>
        <p:spPr>
          <a:xfrm>
            <a:off x="17272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21C91F12-734B-4D4A-9116-8F322A2B75C9}"/>
              </a:ext>
            </a:extLst>
          </p:cNvPr>
          <p:cNvSpPr/>
          <p:nvPr/>
        </p:nvSpPr>
        <p:spPr>
          <a:xfrm>
            <a:off x="27178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DA1C880D-3DCE-4832-8F44-FC140B597613}"/>
              </a:ext>
            </a:extLst>
          </p:cNvPr>
          <p:cNvSpPr/>
          <p:nvPr/>
        </p:nvSpPr>
        <p:spPr>
          <a:xfrm>
            <a:off x="37084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64F93917-96FF-4CCB-A366-CA3B663BA023}"/>
              </a:ext>
            </a:extLst>
          </p:cNvPr>
          <p:cNvSpPr/>
          <p:nvPr/>
        </p:nvSpPr>
        <p:spPr>
          <a:xfrm>
            <a:off x="46990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12" name="矩形: 圓角 11">
            <a:extLst>
              <a:ext uri="{FF2B5EF4-FFF2-40B4-BE49-F238E27FC236}">
                <a16:creationId xmlns:a16="http://schemas.microsoft.com/office/drawing/2014/main" id="{61D46C33-166C-4B73-A5BF-EAE4FC26D8DB}"/>
              </a:ext>
            </a:extLst>
          </p:cNvPr>
          <p:cNvSpPr/>
          <p:nvPr/>
        </p:nvSpPr>
        <p:spPr>
          <a:xfrm>
            <a:off x="10642600" y="304800"/>
            <a:ext cx="787400" cy="330200"/>
          </a:xfrm>
          <a:prstGeom prst="round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altLang="zh-TW" sz="1200" b="1">
                <a:solidFill>
                  <a:srgbClr val="FFFFFF"/>
                </a:solidFill>
                <a:latin typeface="Arial"/>
                <a:ea typeface="Microsoft JhengHei"/>
                <a:cs typeface="Arial"/>
              </a:rPr>
              <a:t>CH 1</a:t>
            </a:r>
            <a:endParaRPr lang="zh-TW" altLang="en-US" sz="1200" b="1">
              <a:solidFill>
                <a:srgbClr val="FFFFFF"/>
              </a:solidFill>
              <a:latin typeface="Arial"/>
              <a:ea typeface="Microsoft JhengHei"/>
              <a:cs typeface="Arial"/>
            </a:endParaRP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A4ACC08B-8D17-4B4F-9634-D0322AB3D3DA}"/>
              </a:ext>
            </a:extLst>
          </p:cNvPr>
          <p:cNvSpPr txBox="1"/>
          <p:nvPr/>
        </p:nvSpPr>
        <p:spPr>
          <a:xfrm>
            <a:off x="11404600" y="6451600"/>
            <a:ext cx="584200" cy="3048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altLang="zh-TW" sz="1100">
                <a:solidFill>
                  <a:srgbClr val="A8A6A0"/>
                </a:solidFill>
                <a:latin typeface="Arial"/>
                <a:ea typeface="Microsoft JhengHei"/>
                <a:cs typeface="Arial"/>
              </a:rPr>
              <a:t>6</a:t>
            </a:r>
            <a:endParaRPr lang="zh-TW" altLang="en-US" sz="1100">
              <a:solidFill>
                <a:srgbClr val="A8A6A0"/>
              </a:solidFill>
              <a:latin typeface="Arial"/>
              <a:ea typeface="Microsoft JhengHei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99732725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4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41413"/>
                </a:solidFill>
                <a:latin typeface="Georgia"/>
                <a:ea typeface="Microsoft JhengHei"/>
              </a:rPr>
              <a:t>CLAUDE.md — 專案說明書</a:t>
            </a:r>
          </a:p>
        </p:txBody>
      </p:sp>
      <p:sp>
        <p:nvSpPr>
          <p:cNvPr id="3" name="Rectangle 2"/>
          <p:cNvSpPr/>
          <p:nvPr/>
        </p:nvSpPr>
        <p:spPr>
          <a:xfrm>
            <a:off x="736600" y="1168400"/>
            <a:ext cx="812800" cy="50800"/>
          </a:xfrm>
          <a:prstGeom prst="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ea typeface="Microsoft JhengHe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36600" y="1422400"/>
            <a:ext cx="5080000" cy="317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lang="en-US" sz="1800" b="1">
                <a:solidFill>
                  <a:srgbClr val="C96442"/>
                </a:solidFill>
                <a:latin typeface="Arial"/>
                <a:ea typeface="Microsoft JhengHei"/>
              </a:rPr>
              <a:t>專案的「身分證 + 說明書」</a:t>
            </a:r>
          </a:p>
          <a:p>
            <a:pPr algn="l">
              <a:spcAft>
                <a:spcPts val="1000"/>
              </a:spcAft>
            </a:pPr>
            <a:r>
              <a:rPr lang="en-US" sz="1600">
                <a:solidFill>
                  <a:srgbClr val="141413"/>
                </a:solidFill>
                <a:latin typeface="Arial"/>
                <a:ea typeface="Microsoft JhengHei"/>
              </a:rPr>
              <a:t>每次對話一開始就自動載入，讓 AI 立刻知道「這是什麼專案、怎麼動工」。</a:t>
            </a:r>
          </a:p>
          <a:p>
            <a:pPr algn="l">
              <a:spcAft>
                <a:spcPts val="400"/>
              </a:spcAft>
              <a:buFont typeface="Arial"/>
              <a:buChar char="•"/>
            </a:pPr>
            <a:r>
              <a:rPr lang="en-US" sz="1600">
                <a:solidFill>
                  <a:srgbClr val="141413"/>
                </a:solidFill>
                <a:latin typeface="Arial"/>
                <a:ea typeface="Microsoft JhengHei"/>
              </a:rPr>
              <a:t>專案在做什麼、技術棧</a:t>
            </a:r>
          </a:p>
          <a:p>
            <a:pPr algn="l">
              <a:spcAft>
                <a:spcPts val="400"/>
              </a:spcAft>
              <a:buFont typeface="Arial"/>
              <a:buChar char="•"/>
            </a:pPr>
            <a:r>
              <a:rPr lang="en-US" sz="1600">
                <a:solidFill>
                  <a:srgbClr val="141413"/>
                </a:solidFill>
                <a:latin typeface="Arial"/>
                <a:ea typeface="Microsoft JhengHei"/>
              </a:rPr>
              <a:t>目錄結構、開發流程</a:t>
            </a:r>
          </a:p>
          <a:p>
            <a:pPr algn="l">
              <a:spcAft>
                <a:spcPts val="400"/>
              </a:spcAft>
              <a:buFont typeface="Arial"/>
              <a:buChar char="•"/>
            </a:pPr>
            <a:r>
              <a:rPr lang="en-US" sz="1600">
                <a:solidFill>
                  <a:srgbClr val="141413"/>
                </a:solidFill>
                <a:latin typeface="Arial"/>
                <a:ea typeface="Microsoft JhengHei"/>
              </a:rPr>
              <a:t>嚴禁事項（不准碰的東西）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1BDF7B81-DB18-48CA-8CB4-028CA7EFDE68}"/>
              </a:ext>
            </a:extLst>
          </p:cNvPr>
          <p:cNvSpPr/>
          <p:nvPr/>
        </p:nvSpPr>
        <p:spPr>
          <a:xfrm>
            <a:off x="736600" y="203200"/>
            <a:ext cx="889000" cy="50800"/>
          </a:xfrm>
          <a:prstGeom prst="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2C599484-6270-4BE8-B879-76C8EB1B46AF}"/>
              </a:ext>
            </a:extLst>
          </p:cNvPr>
          <p:cNvSpPr/>
          <p:nvPr/>
        </p:nvSpPr>
        <p:spPr>
          <a:xfrm>
            <a:off x="17272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8BBC8812-2DB1-46FF-85BB-241E539E3A2F}"/>
              </a:ext>
            </a:extLst>
          </p:cNvPr>
          <p:cNvSpPr/>
          <p:nvPr/>
        </p:nvSpPr>
        <p:spPr>
          <a:xfrm>
            <a:off x="27178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AE163D54-6322-4D01-A8ED-F3386DC33748}"/>
              </a:ext>
            </a:extLst>
          </p:cNvPr>
          <p:cNvSpPr/>
          <p:nvPr/>
        </p:nvSpPr>
        <p:spPr>
          <a:xfrm>
            <a:off x="37084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653A53E4-4504-44AF-80E6-22693F0B8A74}"/>
              </a:ext>
            </a:extLst>
          </p:cNvPr>
          <p:cNvSpPr/>
          <p:nvPr/>
        </p:nvSpPr>
        <p:spPr>
          <a:xfrm>
            <a:off x="46990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91063855-6FF0-4772-8D5C-BD797494D148}"/>
              </a:ext>
            </a:extLst>
          </p:cNvPr>
          <p:cNvSpPr/>
          <p:nvPr/>
        </p:nvSpPr>
        <p:spPr>
          <a:xfrm>
            <a:off x="10642600" y="304800"/>
            <a:ext cx="787400" cy="330200"/>
          </a:xfrm>
          <a:prstGeom prst="round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altLang="zh-TW" sz="1200" b="1">
                <a:solidFill>
                  <a:srgbClr val="FFFFFF"/>
                </a:solidFill>
                <a:latin typeface="Arial"/>
                <a:ea typeface="Microsoft JhengHei"/>
                <a:cs typeface="Arial"/>
              </a:rPr>
              <a:t>CH 1</a:t>
            </a:r>
            <a:endParaRPr lang="zh-TW" altLang="en-US" sz="1200" b="1">
              <a:solidFill>
                <a:srgbClr val="FFFFFF"/>
              </a:solidFill>
              <a:latin typeface="Arial"/>
              <a:ea typeface="Microsoft JhengHei"/>
              <a:cs typeface="Arial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03A0936A-4DA3-4254-B211-7847953EF32C}"/>
              </a:ext>
            </a:extLst>
          </p:cNvPr>
          <p:cNvSpPr txBox="1"/>
          <p:nvPr/>
        </p:nvSpPr>
        <p:spPr>
          <a:xfrm>
            <a:off x="11404600" y="6451600"/>
            <a:ext cx="584200" cy="3048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altLang="zh-TW" sz="1100">
                <a:solidFill>
                  <a:srgbClr val="A8A6A0"/>
                </a:solidFill>
                <a:latin typeface="Arial"/>
                <a:ea typeface="Microsoft JhengHei"/>
                <a:cs typeface="Arial"/>
              </a:rPr>
              <a:t>7</a:t>
            </a:r>
            <a:endParaRPr lang="zh-TW" altLang="en-US" sz="1100">
              <a:solidFill>
                <a:srgbClr val="A8A6A0"/>
              </a:solidFill>
              <a:latin typeface="Arial"/>
              <a:ea typeface="Microsoft JhengHei"/>
              <a:cs typeface="Arial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A3F09155-B90C-4F65-BE3E-9644D66C2790}"/>
              </a:ext>
            </a:extLst>
          </p:cNvPr>
          <p:cNvSpPr/>
          <p:nvPr/>
        </p:nvSpPr>
        <p:spPr>
          <a:xfrm>
            <a:off x="736600" y="4800600"/>
            <a:ext cx="5080000" cy="1320800"/>
          </a:xfrm>
          <a:prstGeom prst="rect">
            <a:avLst/>
          </a:prstGeom>
          <a:solidFill>
            <a:srgbClr val="F0EDE4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lIns="228600" tIns="152400" rIns="177800" bIns="152400" rtlCol="0" anchor="ctr" anchorCtr="0"/>
          <a:lstStyle/>
          <a:p>
            <a:pPr algn="l">
              <a:spcAft>
                <a:spcPts val="300"/>
              </a:spcAft>
            </a:pPr>
            <a:r>
              <a:rPr lang="en-US" sz="1400" b="1" dirty="0">
                <a:solidFill>
                  <a:srgbClr val="6B7A3F"/>
                </a:solidFill>
                <a:latin typeface="Arial"/>
                <a:ea typeface="Microsoft JhengHei"/>
              </a:rPr>
              <a:t>🏢 </a:t>
            </a:r>
            <a:r>
              <a:rPr lang="en-US" sz="1400" b="1" dirty="0" err="1">
                <a:solidFill>
                  <a:srgbClr val="6B7A3F"/>
                </a:solidFill>
                <a:latin typeface="Arial"/>
                <a:ea typeface="Microsoft JhengHei"/>
              </a:rPr>
              <a:t>生活比喻</a:t>
            </a:r>
            <a:endParaRPr lang="en-US" sz="1400" b="1" dirty="0">
              <a:solidFill>
                <a:srgbClr val="6B7A3F"/>
              </a:solidFill>
              <a:latin typeface="Arial"/>
              <a:ea typeface="Microsoft JhengHei"/>
            </a:endParaRPr>
          </a:p>
          <a:p>
            <a:pPr algn="l"/>
            <a:r>
              <a:rPr lang="en-US" sz="1500" dirty="0" err="1">
                <a:solidFill>
                  <a:srgbClr val="3D3D3A"/>
                </a:solidFill>
                <a:latin typeface="Arial"/>
                <a:ea typeface="Microsoft JhengHei"/>
              </a:rPr>
              <a:t>就像新員工的「報到手冊</a:t>
            </a:r>
            <a:r>
              <a:rPr lang="en-US" sz="1500" dirty="0">
                <a:solidFill>
                  <a:srgbClr val="3D3D3A"/>
                </a:solidFill>
                <a:latin typeface="Arial"/>
                <a:ea typeface="Microsoft JhengHei"/>
              </a:rPr>
              <a:t>」——</a:t>
            </a:r>
            <a:r>
              <a:rPr lang="en-US" sz="1500" dirty="0" err="1">
                <a:solidFill>
                  <a:srgbClr val="3D3D3A"/>
                </a:solidFill>
                <a:latin typeface="Arial"/>
                <a:ea typeface="Microsoft JhengHei"/>
              </a:rPr>
              <a:t>進公司第一天先看它，就知道公司在做什麼、規矩是什麼</a:t>
            </a:r>
            <a:r>
              <a:rPr lang="en-US" sz="1500" dirty="0">
                <a:solidFill>
                  <a:srgbClr val="3D3D3A"/>
                </a:solidFill>
                <a:latin typeface="Arial"/>
                <a:ea typeface="Microsoft JhengHei"/>
              </a:rPr>
              <a:t>。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FC7E5AFF-2EDC-4F8D-9109-D22773E4E304}"/>
              </a:ext>
            </a:extLst>
          </p:cNvPr>
          <p:cNvSpPr/>
          <p:nvPr/>
        </p:nvSpPr>
        <p:spPr>
          <a:xfrm>
            <a:off x="736600" y="4800600"/>
            <a:ext cx="76200" cy="1320800"/>
          </a:xfrm>
          <a:prstGeom prst="rect">
            <a:avLst/>
          </a:prstGeom>
          <a:solidFill>
            <a:srgbClr val="6B7A3F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14" name="矩形: 圓角 13">
            <a:extLst>
              <a:ext uri="{FF2B5EF4-FFF2-40B4-BE49-F238E27FC236}">
                <a16:creationId xmlns:a16="http://schemas.microsoft.com/office/drawing/2014/main" id="{49CF7333-8444-4BCA-A098-45520941E483}"/>
              </a:ext>
            </a:extLst>
          </p:cNvPr>
          <p:cNvSpPr/>
          <p:nvPr/>
        </p:nvSpPr>
        <p:spPr>
          <a:xfrm>
            <a:off x="6324600" y="1422400"/>
            <a:ext cx="5105400" cy="4699000"/>
          </a:xfrm>
          <a:prstGeom prst="roundRect">
            <a:avLst/>
          </a:prstGeom>
          <a:solidFill>
            <a:srgbClr val="FBFAF7"/>
          </a:solidFill>
          <a:ln w="12700" cap="flat" cmpd="sng" algn="ctr">
            <a:solidFill>
              <a:srgbClr val="E5E0D8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1400" b="1">
                <a:solidFill>
                  <a:srgbClr val="5E5D59"/>
                </a:solidFill>
                <a:latin typeface="Consolas"/>
                <a:ea typeface="Microsoft JhengHei"/>
              </a:rPr>
              <a:t>📄 CLAUDE.md 範例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lang="en-US" sz="1400" b="1">
                <a:solidFill>
                  <a:srgbClr val="C96442"/>
                </a:solidFill>
                <a:latin typeface="Consolas"/>
                <a:ea typeface="Microsoft JhengHei"/>
              </a:rPr>
              <a:t># 專案：線上書店 API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lang="en-US" sz="1400">
                <a:solidFill>
                  <a:srgbClr val="141413"/>
                </a:solidFill>
                <a:latin typeface="Consolas"/>
                <a:ea typeface="Microsoft JhengHei"/>
              </a:rPr>
              <a:t>技術棧：FastAPI + PostgreSQL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lang="en-US" sz="1400">
                <a:solidFill>
                  <a:srgbClr val="141413"/>
                </a:solidFill>
                <a:latin typeface="Consolas"/>
                <a:ea typeface="Microsoft JhengHei"/>
              </a:rPr>
              <a:t>啟動：uvicorn app.main:app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lang="en-US" sz="1400">
                <a:solidFill>
                  <a:srgbClr val="141413"/>
                </a:solidFill>
                <a:latin typeface="Consolas"/>
                <a:ea typeface="Microsoft JhengHei"/>
              </a:rPr>
              <a:t>測試：pytest（覆蓋率 ≥ 80%）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lang="en-US" sz="1400" b="1">
                <a:solidFill>
                  <a:srgbClr val="B0392A"/>
                </a:solidFill>
                <a:latin typeface="Consolas"/>
                <a:ea typeface="Microsoft JhengHei"/>
              </a:rPr>
              <a:t>⛔ 嚴禁：直接改 production DB</a:t>
            </a:r>
          </a:p>
          <a:p>
            <a:pPr marL="0" indent="0" algn="l">
              <a:spcBef>
                <a:spcPts val="600"/>
              </a:spcBef>
              <a:buNone/>
            </a:pPr>
            <a:r>
              <a:rPr lang="en-US" sz="1400" b="1">
                <a:solidFill>
                  <a:srgbClr val="6B7A3F"/>
                </a:solidFill>
                <a:latin typeface="Arial"/>
                <a:ea typeface="Microsoft JhengHei"/>
              </a:rPr>
              <a:t>→ AI 一進來就懂規矩，不亂猜</a:t>
            </a:r>
          </a:p>
        </p:txBody>
      </p:sp>
    </p:spTree>
    <p:extLst>
      <p:ext uri="{BB962C8B-B14F-4D97-AF65-F5344CB8AC3E}">
        <p14:creationId xmlns:p14="http://schemas.microsoft.com/office/powerpoint/2010/main" val="4975540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4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41413"/>
                </a:solidFill>
                <a:latin typeface="Georgia"/>
                <a:ea typeface="Microsoft JhengHei"/>
              </a:rPr>
              <a:t>rules/ — 永遠載入的規則（15 條）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736600" y="1168400"/>
            <a:ext cx="812800" cy="50800"/>
          </a:xfrm>
          <a:prstGeom prst="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ea typeface="Microsoft JhengHe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36600" y="1422400"/>
            <a:ext cx="5080000" cy="279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lang="en-US" sz="1800" b="1">
                <a:solidFill>
                  <a:srgbClr val="C96442"/>
                </a:solidFill>
                <a:latin typeface="Arial"/>
                <a:ea typeface="Microsoft JhengHei"/>
              </a:rPr>
              <a:t>每次對話都遵守的「行為準則」</a:t>
            </a:r>
          </a:p>
          <a:p>
            <a:pPr algn="l">
              <a:spcAft>
                <a:spcPts val="1000"/>
              </a:spcAft>
            </a:pPr>
            <a:r>
              <a:rPr lang="en-US" sz="1600">
                <a:solidFill>
                  <a:srgbClr val="141413"/>
                </a:solidFill>
                <a:latin typeface="Arial"/>
                <a:ea typeface="Microsoft JhengHei"/>
              </a:rPr>
              <a:t>把「橫切關注點」拆成一條條小規則，每次都自動載入。</a:t>
            </a:r>
          </a:p>
          <a:p>
            <a:pPr algn="l">
              <a:spcAft>
                <a:spcPts val="400"/>
              </a:spcAft>
              <a:buFont typeface="Arial"/>
              <a:buChar char="•"/>
            </a:pPr>
            <a:r>
              <a:rPr lang="en-US" sz="1600">
                <a:solidFill>
                  <a:srgbClr val="141413"/>
                </a:solidFill>
                <a:latin typeface="Arial"/>
                <a:ea typeface="Microsoft JhengHei"/>
              </a:rPr>
              <a:t>粒度小、好維護</a:t>
            </a:r>
          </a:p>
          <a:p>
            <a:pPr algn="l">
              <a:spcAft>
                <a:spcPts val="400"/>
              </a:spcAft>
              <a:buFont typeface="Arial"/>
              <a:buChar char="•"/>
            </a:pPr>
            <a:r>
              <a:rPr lang="en-US" sz="1600">
                <a:solidFill>
                  <a:srgbClr val="141413"/>
                </a:solidFill>
                <a:latin typeface="Arial"/>
                <a:ea typeface="Microsoft JhengHei"/>
              </a:rPr>
              <a:t>可組合、跨專案複用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33CA1650-FA7B-4B84-BF39-8ED1D2F29EE0}"/>
              </a:ext>
            </a:extLst>
          </p:cNvPr>
          <p:cNvSpPr/>
          <p:nvPr/>
        </p:nvSpPr>
        <p:spPr>
          <a:xfrm>
            <a:off x="736600" y="203200"/>
            <a:ext cx="889000" cy="50800"/>
          </a:xfrm>
          <a:prstGeom prst="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14FF7DF2-F599-436D-85B9-B4083ACB948F}"/>
              </a:ext>
            </a:extLst>
          </p:cNvPr>
          <p:cNvSpPr/>
          <p:nvPr/>
        </p:nvSpPr>
        <p:spPr>
          <a:xfrm>
            <a:off x="17272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244561A0-D994-4479-876D-7BC4D43EE0BF}"/>
              </a:ext>
            </a:extLst>
          </p:cNvPr>
          <p:cNvSpPr/>
          <p:nvPr/>
        </p:nvSpPr>
        <p:spPr>
          <a:xfrm>
            <a:off x="27178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06B04BFB-C75D-49DB-8560-23B56D8FDC85}"/>
              </a:ext>
            </a:extLst>
          </p:cNvPr>
          <p:cNvSpPr/>
          <p:nvPr/>
        </p:nvSpPr>
        <p:spPr>
          <a:xfrm>
            <a:off x="37084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AEE8D4E-9F94-4D5F-B4FD-00654EDF3885}"/>
              </a:ext>
            </a:extLst>
          </p:cNvPr>
          <p:cNvSpPr/>
          <p:nvPr/>
        </p:nvSpPr>
        <p:spPr>
          <a:xfrm>
            <a:off x="46990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32C6ED10-100F-45C8-A138-595A741D3D02}"/>
              </a:ext>
            </a:extLst>
          </p:cNvPr>
          <p:cNvSpPr/>
          <p:nvPr/>
        </p:nvSpPr>
        <p:spPr>
          <a:xfrm>
            <a:off x="10642600" y="304800"/>
            <a:ext cx="787400" cy="330200"/>
          </a:xfrm>
          <a:prstGeom prst="round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altLang="zh-TW" sz="1200" b="1">
                <a:solidFill>
                  <a:srgbClr val="FFFFFF"/>
                </a:solidFill>
                <a:latin typeface="Arial"/>
                <a:ea typeface="Microsoft JhengHei"/>
                <a:cs typeface="Arial"/>
              </a:rPr>
              <a:t>CH 1</a:t>
            </a:r>
            <a:endParaRPr lang="zh-TW" altLang="en-US" sz="1200" b="1">
              <a:solidFill>
                <a:srgbClr val="FFFFFF"/>
              </a:solidFill>
              <a:latin typeface="Arial"/>
              <a:ea typeface="Microsoft JhengHei"/>
              <a:cs typeface="Arial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001F9D16-9E76-4C6B-A01F-7E8C9331334A}"/>
              </a:ext>
            </a:extLst>
          </p:cNvPr>
          <p:cNvSpPr txBox="1"/>
          <p:nvPr/>
        </p:nvSpPr>
        <p:spPr>
          <a:xfrm>
            <a:off x="11404600" y="6451600"/>
            <a:ext cx="584200" cy="3048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altLang="zh-TW" sz="1100">
                <a:solidFill>
                  <a:srgbClr val="A8A6A0"/>
                </a:solidFill>
                <a:latin typeface="Arial"/>
                <a:ea typeface="Microsoft JhengHei"/>
                <a:cs typeface="Arial"/>
              </a:rPr>
              <a:t>8</a:t>
            </a:r>
            <a:endParaRPr lang="zh-TW" altLang="en-US" sz="1100">
              <a:solidFill>
                <a:srgbClr val="A8A6A0"/>
              </a:solidFill>
              <a:latin typeface="Arial"/>
              <a:ea typeface="Microsoft JhengHei"/>
              <a:cs typeface="Arial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D80B19EA-1FF5-4ADB-8787-D689D3E2FD35}"/>
              </a:ext>
            </a:extLst>
          </p:cNvPr>
          <p:cNvSpPr/>
          <p:nvPr/>
        </p:nvSpPr>
        <p:spPr>
          <a:xfrm>
            <a:off x="736600" y="4419600"/>
            <a:ext cx="5080000" cy="1701800"/>
          </a:xfrm>
          <a:prstGeom prst="rect">
            <a:avLst/>
          </a:prstGeom>
          <a:solidFill>
            <a:srgbClr val="F0EDE4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lIns="228600" tIns="152400" rIns="177800" bIns="152400" rtlCol="0" anchor="ctr" anchorCtr="0"/>
          <a:lstStyle/>
          <a:p>
            <a:pPr algn="l">
              <a:spcAft>
                <a:spcPts val="500"/>
              </a:spcAft>
            </a:pPr>
            <a:r>
              <a:rPr lang="en-US" sz="1400" b="1">
                <a:solidFill>
                  <a:srgbClr val="6B7A3F"/>
                </a:solidFill>
                <a:latin typeface="Arial"/>
                <a:ea typeface="Microsoft JhengHei"/>
              </a:rPr>
              <a:t>🏢 生活比喻 ｜ 公司員工守則</a:t>
            </a:r>
          </a:p>
          <a:p>
            <a:pPr algn="l"/>
            <a:r>
              <a:rPr lang="en-US" sz="1500">
                <a:solidFill>
                  <a:srgbClr val="3D3D3A"/>
                </a:solidFill>
                <a:latin typeface="Arial"/>
                <a:ea typeface="Microsoft JhengHei"/>
              </a:rPr>
              <a:t>不管你做哪個專案，「上班不遲到、程式要寫測試」這些守則永遠生效——不必每次重講。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33530B86-E709-4CC9-9B27-64E4638B1062}"/>
              </a:ext>
            </a:extLst>
          </p:cNvPr>
          <p:cNvSpPr/>
          <p:nvPr/>
        </p:nvSpPr>
        <p:spPr>
          <a:xfrm>
            <a:off x="736600" y="4419600"/>
            <a:ext cx="76200" cy="1701800"/>
          </a:xfrm>
          <a:prstGeom prst="rect">
            <a:avLst/>
          </a:prstGeom>
          <a:solidFill>
            <a:srgbClr val="6B7A3F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graphicFrame>
        <p:nvGraphicFramePr>
          <p:cNvPr id="15" name="表格 14">
            <a:extLst>
              <a:ext uri="{FF2B5EF4-FFF2-40B4-BE49-F238E27FC236}">
                <a16:creationId xmlns:a16="http://schemas.microsoft.com/office/drawing/2014/main" id="{E9E7FF85-A181-40C4-B036-1CA33CBC8F62}"/>
              </a:ext>
            </a:extLst>
          </p:cNvPr>
          <p:cNvGraphicFramePr>
            <a:graphicFrameLocks noGrp="1"/>
          </p:cNvGraphicFramePr>
          <p:nvPr/>
        </p:nvGraphicFramePr>
        <p:xfrm>
          <a:off x="6324600" y="1422400"/>
          <a:ext cx="5105400" cy="2590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>
                  <a:extLst>
                    <a:ext uri="{9D8B030D-6E8A-4147-A177-3AD203B41FA5}">
                      <a16:colId xmlns:a16="http://schemas.microsoft.com/office/drawing/2014/main" val="156017443"/>
                    </a:ext>
                  </a:extLst>
                </a:gridCol>
                <a:gridCol w="2552700">
                  <a:extLst>
                    <a:ext uri="{9D8B030D-6E8A-4147-A177-3AD203B41FA5}">
                      <a16:colId xmlns:a16="http://schemas.microsoft.com/office/drawing/2014/main" val="853796147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pPr algn="l"/>
                      <a:r>
                        <a:rPr lang="zh-TW" altLang="en-US" sz="15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  <a:cs typeface="Arial"/>
                        </a:rPr>
                        <a:t>檔案</a:t>
                      </a:r>
                    </a:p>
                  </a:txBody>
                  <a:tcPr anchor="ctr">
                    <a:solidFill>
                      <a:srgbClr val="C9644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5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  <a:cs typeface="Arial"/>
                        </a:rPr>
                        <a:t>作用</a:t>
                      </a:r>
                    </a:p>
                  </a:txBody>
                  <a:tcPr anchor="ctr">
                    <a:solidFill>
                      <a:srgbClr val="C9644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6163196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141413"/>
                          </a:solidFill>
                          <a:latin typeface="Consolas"/>
                          <a:ea typeface="Microsoft JhengHei"/>
                        </a:rPr>
                        <a:t>coding-style.md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141413"/>
                          </a:solidFill>
                          <a:latin typeface="Arial"/>
                          <a:ea typeface="Microsoft JhengHei"/>
                          <a:cs typeface="Arial"/>
                        </a:rPr>
                        <a:t>編碼風格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79138586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141413"/>
                          </a:solidFill>
                          <a:latin typeface="Consolas"/>
                          <a:ea typeface="Microsoft JhengHei"/>
                        </a:rPr>
                        <a:t>testing.md</a:t>
                      </a:r>
                    </a:p>
                  </a:txBody>
                  <a:tcPr anchor="ctr">
                    <a:solidFill>
                      <a:srgbClr val="F5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141413"/>
                          </a:solidFill>
                          <a:latin typeface="Arial"/>
                          <a:ea typeface="Microsoft JhengHei"/>
                          <a:cs typeface="Arial"/>
                        </a:rPr>
                        <a:t>測試覆蓋率</a:t>
                      </a:r>
                    </a:p>
                  </a:txBody>
                  <a:tcPr anchor="ctr">
                    <a:solidFill>
                      <a:srgbClr val="F5F0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8751650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141413"/>
                          </a:solidFill>
                          <a:latin typeface="Consolas"/>
                          <a:ea typeface="Microsoft JhengHei"/>
                        </a:rPr>
                        <a:t>security.md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141413"/>
                          </a:solidFill>
                          <a:latin typeface="Arial"/>
                          <a:ea typeface="Microsoft JhengHei"/>
                          <a:cs typeface="Arial"/>
                        </a:rPr>
                        <a:t>安全規範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9977412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141413"/>
                          </a:solidFill>
                          <a:latin typeface="Consolas"/>
                          <a:ea typeface="Microsoft JhengHei"/>
                        </a:rPr>
                        <a:t>git-workflow.md</a:t>
                      </a:r>
                    </a:p>
                  </a:txBody>
                  <a:tcPr anchor="ctr">
                    <a:solidFill>
                      <a:srgbClr val="F5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141413"/>
                          </a:solidFill>
                          <a:latin typeface="Arial"/>
                          <a:ea typeface="Microsoft JhengHei"/>
                          <a:cs typeface="Arial"/>
                        </a:rPr>
                        <a:t>提交規範</a:t>
                      </a:r>
                    </a:p>
                  </a:txBody>
                  <a:tcPr anchor="ctr">
                    <a:solidFill>
                      <a:srgbClr val="F5F0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9717380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141413"/>
                          </a:solidFill>
                          <a:latin typeface="Consolas"/>
                          <a:ea typeface="Microsoft JhengHei"/>
                        </a:rPr>
                        <a:t>task-mode.md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141413"/>
                          </a:solidFill>
                          <a:latin typeface="Arial"/>
                          <a:ea typeface="Microsoft JhengHei"/>
                          <a:cs typeface="Arial"/>
                        </a:rPr>
                        <a:t>任務分級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674820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688409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4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41413"/>
                </a:solidFill>
                <a:latin typeface="Georgia"/>
                <a:ea typeface="Microsoft JhengHei"/>
              </a:rPr>
              <a:t>commands/ — 你的快捷指令（24 個）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736600" y="1168400"/>
            <a:ext cx="812800" cy="50800"/>
          </a:xfrm>
          <a:prstGeom prst="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ea typeface="Microsoft JhengHe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36600" y="1422400"/>
            <a:ext cx="5080000" cy="279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lang="en-US" sz="1800" b="1">
                <a:solidFill>
                  <a:srgbClr val="C96442"/>
                </a:solidFill>
                <a:latin typeface="Arial"/>
                <a:ea typeface="Microsoft JhengHei"/>
              </a:rPr>
              <a:t>把常用流程封裝成「一句指令」</a:t>
            </a:r>
          </a:p>
          <a:p>
            <a:pPr algn="l">
              <a:spcAft>
                <a:spcPts val="1000"/>
              </a:spcAft>
            </a:pPr>
            <a:r>
              <a:rPr lang="en-US" sz="1600">
                <a:solidFill>
                  <a:srgbClr val="141413"/>
                </a:solidFill>
                <a:latin typeface="Arial"/>
                <a:ea typeface="Microsoft JhengHei"/>
              </a:rPr>
              <a:t>輸入 /xxx 就能觸發一段事先寫好的工作流程。</a:t>
            </a:r>
          </a:p>
          <a:p>
            <a:pPr algn="l">
              <a:spcAft>
                <a:spcPts val="400"/>
              </a:spcAft>
              <a:buFont typeface="Arial"/>
              <a:buChar char="•"/>
            </a:pPr>
            <a:r>
              <a:rPr lang="en-US" sz="1600">
                <a:solidFill>
                  <a:srgbClr val="141413"/>
                </a:solidFill>
                <a:latin typeface="Arial"/>
                <a:ea typeface="Microsoft JhengHei"/>
              </a:rPr>
              <a:t>不用每次重打長提示</a:t>
            </a:r>
          </a:p>
          <a:p>
            <a:pPr algn="l">
              <a:spcAft>
                <a:spcPts val="400"/>
              </a:spcAft>
              <a:buFont typeface="Arial"/>
              <a:buChar char="•"/>
            </a:pPr>
            <a:r>
              <a:rPr lang="en-US" sz="1600">
                <a:solidFill>
                  <a:srgbClr val="141413"/>
                </a:solidFill>
                <a:latin typeface="Arial"/>
                <a:ea typeface="Microsoft JhengHei"/>
              </a:rPr>
              <a:t>團隊用同一套標準動作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20C985B3-DF89-422F-BC45-2995EB9AAD1C}"/>
              </a:ext>
            </a:extLst>
          </p:cNvPr>
          <p:cNvSpPr/>
          <p:nvPr/>
        </p:nvSpPr>
        <p:spPr>
          <a:xfrm>
            <a:off x="736600" y="203200"/>
            <a:ext cx="889000" cy="50800"/>
          </a:xfrm>
          <a:prstGeom prst="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D7255689-C7AE-4728-8C5B-F9FA62D89296}"/>
              </a:ext>
            </a:extLst>
          </p:cNvPr>
          <p:cNvSpPr/>
          <p:nvPr/>
        </p:nvSpPr>
        <p:spPr>
          <a:xfrm>
            <a:off x="17272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A2DC0AB-1AF2-4E5F-A83E-20CFF6C066BE}"/>
              </a:ext>
            </a:extLst>
          </p:cNvPr>
          <p:cNvSpPr/>
          <p:nvPr/>
        </p:nvSpPr>
        <p:spPr>
          <a:xfrm>
            <a:off x="27178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3A4A0538-575A-4F7A-B8C2-F2489D69A4C7}"/>
              </a:ext>
            </a:extLst>
          </p:cNvPr>
          <p:cNvSpPr/>
          <p:nvPr/>
        </p:nvSpPr>
        <p:spPr>
          <a:xfrm>
            <a:off x="37084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DC614BBA-6880-46BE-B15C-81A4D3F6BD7D}"/>
              </a:ext>
            </a:extLst>
          </p:cNvPr>
          <p:cNvSpPr/>
          <p:nvPr/>
        </p:nvSpPr>
        <p:spPr>
          <a:xfrm>
            <a:off x="46990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0E5FB685-C10C-4580-81D4-6C7150075F5F}"/>
              </a:ext>
            </a:extLst>
          </p:cNvPr>
          <p:cNvSpPr/>
          <p:nvPr/>
        </p:nvSpPr>
        <p:spPr>
          <a:xfrm>
            <a:off x="10642600" y="304800"/>
            <a:ext cx="787400" cy="330200"/>
          </a:xfrm>
          <a:prstGeom prst="round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altLang="zh-TW" sz="1200" b="1">
                <a:solidFill>
                  <a:srgbClr val="FFFFFF"/>
                </a:solidFill>
                <a:latin typeface="Arial"/>
                <a:ea typeface="Microsoft JhengHei"/>
                <a:cs typeface="Arial"/>
              </a:rPr>
              <a:t>CH 1</a:t>
            </a:r>
            <a:endParaRPr lang="zh-TW" altLang="en-US" sz="1200" b="1">
              <a:solidFill>
                <a:srgbClr val="FFFFFF"/>
              </a:solidFill>
              <a:latin typeface="Arial"/>
              <a:ea typeface="Microsoft JhengHei"/>
              <a:cs typeface="Arial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315E51EE-246D-4CF1-896E-51CB03FB00B9}"/>
              </a:ext>
            </a:extLst>
          </p:cNvPr>
          <p:cNvSpPr txBox="1"/>
          <p:nvPr/>
        </p:nvSpPr>
        <p:spPr>
          <a:xfrm>
            <a:off x="11404600" y="6451600"/>
            <a:ext cx="584200" cy="3048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altLang="zh-TW" sz="1100">
                <a:solidFill>
                  <a:srgbClr val="A8A6A0"/>
                </a:solidFill>
                <a:latin typeface="Arial"/>
                <a:ea typeface="Microsoft JhengHei"/>
                <a:cs typeface="Arial"/>
              </a:rPr>
              <a:t>9</a:t>
            </a:r>
            <a:endParaRPr lang="zh-TW" altLang="en-US" sz="1100">
              <a:solidFill>
                <a:srgbClr val="A8A6A0"/>
              </a:solidFill>
              <a:latin typeface="Arial"/>
              <a:ea typeface="Microsoft JhengHei"/>
              <a:cs typeface="Arial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8029AA15-A9C4-425A-B120-704E694A5A9C}"/>
              </a:ext>
            </a:extLst>
          </p:cNvPr>
          <p:cNvSpPr/>
          <p:nvPr/>
        </p:nvSpPr>
        <p:spPr>
          <a:xfrm>
            <a:off x="736600" y="4419600"/>
            <a:ext cx="5080000" cy="1701800"/>
          </a:xfrm>
          <a:prstGeom prst="rect">
            <a:avLst/>
          </a:prstGeom>
          <a:solidFill>
            <a:srgbClr val="F0EDE4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lIns="228600" tIns="152400" rIns="177800" bIns="152400" rtlCol="0" anchor="ctr" anchorCtr="0"/>
          <a:lstStyle/>
          <a:p>
            <a:pPr algn="l">
              <a:spcAft>
                <a:spcPts val="500"/>
              </a:spcAft>
            </a:pPr>
            <a:r>
              <a:rPr lang="en-US" sz="1400" b="1">
                <a:solidFill>
                  <a:srgbClr val="6B7A3F"/>
                </a:solidFill>
                <a:latin typeface="Arial"/>
                <a:ea typeface="Microsoft JhengHei"/>
              </a:rPr>
              <a:t>📱 生活比喻 ｜ 手機捷徑／巨集</a:t>
            </a:r>
          </a:p>
          <a:p>
            <a:pPr algn="l"/>
            <a:r>
              <a:rPr lang="en-US" sz="1500">
                <a:solidFill>
                  <a:srgbClr val="3D3D3A"/>
                </a:solidFill>
                <a:latin typeface="Arial"/>
                <a:ea typeface="Microsoft JhengHei"/>
              </a:rPr>
              <a:t>就像手機「捷徑」按一下就自動：開導航、傳訊息、播音樂——一個指令完成整串動作。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85A52DCC-831A-4147-8BF6-61FBF931F405}"/>
              </a:ext>
            </a:extLst>
          </p:cNvPr>
          <p:cNvSpPr/>
          <p:nvPr/>
        </p:nvSpPr>
        <p:spPr>
          <a:xfrm>
            <a:off x="736600" y="4419600"/>
            <a:ext cx="76200" cy="1701800"/>
          </a:xfrm>
          <a:prstGeom prst="rect">
            <a:avLst/>
          </a:prstGeom>
          <a:solidFill>
            <a:srgbClr val="6B7A3F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graphicFrame>
        <p:nvGraphicFramePr>
          <p:cNvPr id="15" name="表格 14">
            <a:extLst>
              <a:ext uri="{FF2B5EF4-FFF2-40B4-BE49-F238E27FC236}">
                <a16:creationId xmlns:a16="http://schemas.microsoft.com/office/drawing/2014/main" id="{8F0FA768-BDD3-4A33-9F0E-5A89336867AE}"/>
              </a:ext>
            </a:extLst>
          </p:cNvPr>
          <p:cNvGraphicFramePr>
            <a:graphicFrameLocks noGrp="1"/>
          </p:cNvGraphicFramePr>
          <p:nvPr/>
        </p:nvGraphicFramePr>
        <p:xfrm>
          <a:off x="6324600" y="1422400"/>
          <a:ext cx="5105400" cy="2590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>
                  <a:extLst>
                    <a:ext uri="{9D8B030D-6E8A-4147-A177-3AD203B41FA5}">
                      <a16:colId xmlns:a16="http://schemas.microsoft.com/office/drawing/2014/main" val="871606048"/>
                    </a:ext>
                  </a:extLst>
                </a:gridCol>
                <a:gridCol w="2552700">
                  <a:extLst>
                    <a:ext uri="{9D8B030D-6E8A-4147-A177-3AD203B41FA5}">
                      <a16:colId xmlns:a16="http://schemas.microsoft.com/office/drawing/2014/main" val="4087134246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pPr algn="l"/>
                      <a:r>
                        <a:rPr lang="zh-TW" altLang="en-US" sz="15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  <a:cs typeface="Arial"/>
                        </a:rPr>
                        <a:t>指令</a:t>
                      </a:r>
                    </a:p>
                  </a:txBody>
                  <a:tcPr anchor="ctr">
                    <a:solidFill>
                      <a:srgbClr val="C9644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5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  <a:cs typeface="Arial"/>
                        </a:rPr>
                        <a:t>做什麼</a:t>
                      </a:r>
                    </a:p>
                  </a:txBody>
                  <a:tcPr anchor="ctr">
                    <a:solidFill>
                      <a:srgbClr val="C9644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41369914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141413"/>
                          </a:solidFill>
                          <a:latin typeface="Consolas"/>
                          <a:ea typeface="Microsoft JhengHei"/>
                        </a:rPr>
                        <a:t>/task-init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141413"/>
                          </a:solidFill>
                          <a:latin typeface="Arial"/>
                          <a:ea typeface="Microsoft JhengHei"/>
                          <a:cs typeface="Arial"/>
                        </a:rPr>
                        <a:t>初始化專案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1673876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141413"/>
                          </a:solidFill>
                          <a:latin typeface="Consolas"/>
                          <a:ea typeface="Microsoft JhengHei"/>
                        </a:rPr>
                        <a:t>/plan</a:t>
                      </a:r>
                    </a:p>
                  </a:txBody>
                  <a:tcPr anchor="ctr">
                    <a:solidFill>
                      <a:srgbClr val="F5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141413"/>
                          </a:solidFill>
                          <a:latin typeface="Arial"/>
                          <a:ea typeface="Microsoft JhengHei"/>
                          <a:cs typeface="Arial"/>
                        </a:rPr>
                        <a:t>先規劃再動手</a:t>
                      </a:r>
                    </a:p>
                  </a:txBody>
                  <a:tcPr anchor="ctr">
                    <a:solidFill>
                      <a:srgbClr val="F5F0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14259421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141413"/>
                          </a:solidFill>
                          <a:latin typeface="Consolas"/>
                          <a:ea typeface="Microsoft JhengHei"/>
                        </a:rPr>
                        <a:t>/tdd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141413"/>
                          </a:solidFill>
                          <a:latin typeface="Arial"/>
                          <a:ea typeface="Microsoft JhengHei"/>
                          <a:cs typeface="Arial"/>
                        </a:rPr>
                        <a:t>測試先行開發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6979095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141413"/>
                          </a:solidFill>
                          <a:latin typeface="Consolas"/>
                          <a:ea typeface="Microsoft JhengHei"/>
                        </a:rPr>
                        <a:t>/review-code</a:t>
                      </a:r>
                    </a:p>
                  </a:txBody>
                  <a:tcPr anchor="ctr">
                    <a:solidFill>
                      <a:srgbClr val="F5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141413"/>
                          </a:solidFill>
                          <a:latin typeface="Arial"/>
                          <a:ea typeface="Microsoft JhengHei"/>
                          <a:cs typeface="Arial"/>
                        </a:rPr>
                        <a:t>AI 審查程式</a:t>
                      </a:r>
                    </a:p>
                  </a:txBody>
                  <a:tcPr anchor="ctr">
                    <a:solidFill>
                      <a:srgbClr val="F5F0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66532279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141413"/>
                          </a:solidFill>
                          <a:latin typeface="Consolas"/>
                          <a:ea typeface="Microsoft JhengHei"/>
                        </a:rPr>
                        <a:t>/build-fix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141413"/>
                          </a:solidFill>
                          <a:latin typeface="Arial"/>
                          <a:ea typeface="Microsoft JhengHei"/>
                          <a:cs typeface="Arial"/>
                        </a:rPr>
                        <a:t>自動修錯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54117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331579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4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41413"/>
                </a:solidFill>
                <a:latin typeface="Georgia"/>
                <a:ea typeface="Microsoft JhengHei"/>
              </a:rPr>
              <a:t>agents/ — 專業 AI 同事（14 個）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736600" y="1168400"/>
            <a:ext cx="812800" cy="50800"/>
          </a:xfrm>
          <a:prstGeom prst="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ea typeface="Microsoft JhengHe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36600" y="1422400"/>
            <a:ext cx="5080000" cy="279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lang="en-US" sz="1800" b="1">
                <a:solidFill>
                  <a:srgbClr val="C96442"/>
                </a:solidFill>
                <a:latin typeface="Arial"/>
                <a:ea typeface="Microsoft JhengHei"/>
              </a:rPr>
              <a:t>專業分工的 AI 同事</a:t>
            </a:r>
          </a:p>
          <a:p>
            <a:pPr algn="l">
              <a:spcAft>
                <a:spcPts val="1000"/>
              </a:spcAft>
            </a:pPr>
            <a:r>
              <a:rPr lang="en-US" sz="1600">
                <a:solidFill>
                  <a:srgbClr val="141413"/>
                </a:solidFill>
                <a:latin typeface="Arial"/>
                <a:ea typeface="Microsoft JhengHei"/>
              </a:rPr>
              <a:t>主 AI 遇到專業任務時，委派給對應領域的 agent 處理。</a:t>
            </a:r>
          </a:p>
          <a:p>
            <a:pPr algn="l">
              <a:spcAft>
                <a:spcPts val="400"/>
              </a:spcAft>
              <a:buFont typeface="Arial"/>
              <a:buChar char="•"/>
            </a:pPr>
            <a:r>
              <a:rPr lang="en-US" sz="1600">
                <a:solidFill>
                  <a:srgbClr val="141413"/>
                </a:solidFill>
                <a:latin typeface="Arial"/>
                <a:ea typeface="Microsoft JhengHei"/>
              </a:rPr>
              <a:t>各司其職、品質更高</a:t>
            </a:r>
          </a:p>
          <a:p>
            <a:pPr algn="l">
              <a:spcAft>
                <a:spcPts val="400"/>
              </a:spcAft>
              <a:buFont typeface="Arial"/>
              <a:buChar char="•"/>
            </a:pPr>
            <a:r>
              <a:rPr lang="en-US" sz="1600">
                <a:solidFill>
                  <a:srgbClr val="141413"/>
                </a:solidFill>
                <a:latin typeface="Arial"/>
                <a:ea typeface="Microsoft JhengHei"/>
              </a:rPr>
              <a:t>按模型分級、控制成本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FE112750-FD9F-4E8C-BA90-D85BE784470A}"/>
              </a:ext>
            </a:extLst>
          </p:cNvPr>
          <p:cNvSpPr/>
          <p:nvPr/>
        </p:nvSpPr>
        <p:spPr>
          <a:xfrm>
            <a:off x="736600" y="203200"/>
            <a:ext cx="889000" cy="50800"/>
          </a:xfrm>
          <a:prstGeom prst="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06FFD019-2D0E-475D-9BB1-CA0AF906F83D}"/>
              </a:ext>
            </a:extLst>
          </p:cNvPr>
          <p:cNvSpPr/>
          <p:nvPr/>
        </p:nvSpPr>
        <p:spPr>
          <a:xfrm>
            <a:off x="17272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C7B9CDF-2E05-4FF2-AA93-516AFEAA7D81}"/>
              </a:ext>
            </a:extLst>
          </p:cNvPr>
          <p:cNvSpPr/>
          <p:nvPr/>
        </p:nvSpPr>
        <p:spPr>
          <a:xfrm>
            <a:off x="27178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2580917A-D6A4-4E8E-89DF-AA13C67EFB00}"/>
              </a:ext>
            </a:extLst>
          </p:cNvPr>
          <p:cNvSpPr/>
          <p:nvPr/>
        </p:nvSpPr>
        <p:spPr>
          <a:xfrm>
            <a:off x="37084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41E0627C-A0BC-48A0-B114-E76A17BCDC8E}"/>
              </a:ext>
            </a:extLst>
          </p:cNvPr>
          <p:cNvSpPr/>
          <p:nvPr/>
        </p:nvSpPr>
        <p:spPr>
          <a:xfrm>
            <a:off x="46990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EA019B9F-FC7D-46E2-8A1A-21582AB5582A}"/>
              </a:ext>
            </a:extLst>
          </p:cNvPr>
          <p:cNvSpPr/>
          <p:nvPr/>
        </p:nvSpPr>
        <p:spPr>
          <a:xfrm>
            <a:off x="10642600" y="304800"/>
            <a:ext cx="787400" cy="330200"/>
          </a:xfrm>
          <a:prstGeom prst="round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altLang="zh-TW" sz="1200" b="1">
                <a:solidFill>
                  <a:srgbClr val="FFFFFF"/>
                </a:solidFill>
                <a:latin typeface="Arial"/>
                <a:ea typeface="Microsoft JhengHei"/>
                <a:cs typeface="Arial"/>
              </a:rPr>
              <a:t>CH 1</a:t>
            </a:r>
            <a:endParaRPr lang="zh-TW" altLang="en-US" sz="1200" b="1">
              <a:solidFill>
                <a:srgbClr val="FFFFFF"/>
              </a:solidFill>
              <a:latin typeface="Arial"/>
              <a:ea typeface="Microsoft JhengHei"/>
              <a:cs typeface="Arial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B5422B4B-69F9-4166-96F7-B3117D6803D7}"/>
              </a:ext>
            </a:extLst>
          </p:cNvPr>
          <p:cNvSpPr txBox="1"/>
          <p:nvPr/>
        </p:nvSpPr>
        <p:spPr>
          <a:xfrm>
            <a:off x="11404600" y="6451600"/>
            <a:ext cx="584200" cy="3048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altLang="zh-TW" sz="1100">
                <a:solidFill>
                  <a:srgbClr val="A8A6A0"/>
                </a:solidFill>
                <a:latin typeface="Arial"/>
                <a:ea typeface="Microsoft JhengHei"/>
                <a:cs typeface="Arial"/>
              </a:rPr>
              <a:t>10</a:t>
            </a:r>
            <a:endParaRPr lang="zh-TW" altLang="en-US" sz="1100">
              <a:solidFill>
                <a:srgbClr val="A8A6A0"/>
              </a:solidFill>
              <a:latin typeface="Arial"/>
              <a:ea typeface="Microsoft JhengHei"/>
              <a:cs typeface="Arial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72C9B5AC-CB35-4D6E-87E3-B9645DB1F3C0}"/>
              </a:ext>
            </a:extLst>
          </p:cNvPr>
          <p:cNvSpPr/>
          <p:nvPr/>
        </p:nvSpPr>
        <p:spPr>
          <a:xfrm>
            <a:off x="736600" y="4419600"/>
            <a:ext cx="5080000" cy="1701800"/>
          </a:xfrm>
          <a:prstGeom prst="rect">
            <a:avLst/>
          </a:prstGeom>
          <a:solidFill>
            <a:srgbClr val="F0EDE4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lIns="228600" tIns="152400" rIns="177800" bIns="152400" rtlCol="0" anchor="ctr" anchorCtr="0"/>
          <a:lstStyle/>
          <a:p>
            <a:pPr algn="l">
              <a:spcAft>
                <a:spcPts val="500"/>
              </a:spcAft>
            </a:pPr>
            <a:r>
              <a:rPr lang="en-US" sz="1400" b="1">
                <a:solidFill>
                  <a:srgbClr val="6B7A3F"/>
                </a:solidFill>
                <a:latin typeface="Arial"/>
                <a:ea typeface="Microsoft JhengHei"/>
              </a:rPr>
              <a:t>🏥 生活比喻 ｜ 醫院專科團隊</a:t>
            </a:r>
          </a:p>
          <a:p>
            <a:pPr algn="l"/>
            <a:r>
              <a:rPr lang="en-US" sz="1500">
                <a:solidFill>
                  <a:srgbClr val="3D3D3A"/>
                </a:solidFill>
                <a:latin typeface="Arial"/>
                <a:ea typeface="Microsoft JhengHei"/>
              </a:rPr>
              <a:t>家醫科先看診，需要時轉介給心臟科、骨科。主 AI 就是家醫科，agent 就是各專科醫師。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D9767D46-A92D-4D96-86DE-9B02284CCD6E}"/>
              </a:ext>
            </a:extLst>
          </p:cNvPr>
          <p:cNvSpPr/>
          <p:nvPr/>
        </p:nvSpPr>
        <p:spPr>
          <a:xfrm>
            <a:off x="736600" y="4419600"/>
            <a:ext cx="76200" cy="1701800"/>
          </a:xfrm>
          <a:prstGeom prst="rect">
            <a:avLst/>
          </a:prstGeom>
          <a:solidFill>
            <a:srgbClr val="6B7A3F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graphicFrame>
        <p:nvGraphicFramePr>
          <p:cNvPr id="15" name="表格 14">
            <a:extLst>
              <a:ext uri="{FF2B5EF4-FFF2-40B4-BE49-F238E27FC236}">
                <a16:creationId xmlns:a16="http://schemas.microsoft.com/office/drawing/2014/main" id="{3FA8A7DE-07E0-4D4C-B7E2-79B733F44F30}"/>
              </a:ext>
            </a:extLst>
          </p:cNvPr>
          <p:cNvGraphicFramePr>
            <a:graphicFrameLocks noGrp="1"/>
          </p:cNvGraphicFramePr>
          <p:nvPr/>
        </p:nvGraphicFramePr>
        <p:xfrm>
          <a:off x="6324600" y="1422400"/>
          <a:ext cx="5105400" cy="2590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>
                  <a:extLst>
                    <a:ext uri="{9D8B030D-6E8A-4147-A177-3AD203B41FA5}">
                      <a16:colId xmlns:a16="http://schemas.microsoft.com/office/drawing/2014/main" val="3609479813"/>
                    </a:ext>
                  </a:extLst>
                </a:gridCol>
                <a:gridCol w="2552700">
                  <a:extLst>
                    <a:ext uri="{9D8B030D-6E8A-4147-A177-3AD203B41FA5}">
                      <a16:colId xmlns:a16="http://schemas.microsoft.com/office/drawing/2014/main" val="3885240208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pPr algn="l"/>
                      <a:r>
                        <a:rPr lang="zh-TW" altLang="en-US" sz="15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  <a:cs typeface="Arial"/>
                        </a:rPr>
                        <a:t>Agent</a:t>
                      </a:r>
                    </a:p>
                  </a:txBody>
                  <a:tcPr anchor="ctr">
                    <a:solidFill>
                      <a:srgbClr val="C9644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5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  <a:cs typeface="Arial"/>
                        </a:rPr>
                        <a:t>專長</a:t>
                      </a:r>
                    </a:p>
                  </a:txBody>
                  <a:tcPr anchor="ctr">
                    <a:solidFill>
                      <a:srgbClr val="C9644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2007047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141413"/>
                          </a:solidFill>
                          <a:latin typeface="Consolas"/>
                          <a:ea typeface="Microsoft JhengHei"/>
                        </a:rPr>
                        <a:t>planner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141413"/>
                          </a:solidFill>
                          <a:latin typeface="Arial"/>
                          <a:ea typeface="Microsoft JhengHei"/>
                          <a:cs typeface="Arial"/>
                        </a:rPr>
                        <a:t>任務規劃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7962207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141413"/>
                          </a:solidFill>
                          <a:latin typeface="Consolas"/>
                          <a:ea typeface="Microsoft JhengHei"/>
                        </a:rPr>
                        <a:t>coder</a:t>
                      </a:r>
                    </a:p>
                  </a:txBody>
                  <a:tcPr anchor="ctr">
                    <a:solidFill>
                      <a:srgbClr val="F5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141413"/>
                          </a:solidFill>
                          <a:latin typeface="Arial"/>
                          <a:ea typeface="Microsoft JhengHei"/>
                          <a:cs typeface="Arial"/>
                        </a:rPr>
                        <a:t>實作開發</a:t>
                      </a:r>
                    </a:p>
                  </a:txBody>
                  <a:tcPr anchor="ctr">
                    <a:solidFill>
                      <a:srgbClr val="F5F0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1376390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141413"/>
                          </a:solidFill>
                          <a:latin typeface="Consolas"/>
                          <a:ea typeface="Microsoft JhengHei"/>
                        </a:rPr>
                        <a:t>reviewer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141413"/>
                          </a:solidFill>
                          <a:latin typeface="Arial"/>
                          <a:ea typeface="Microsoft JhengHei"/>
                          <a:cs typeface="Arial"/>
                        </a:rPr>
                        <a:t>程式審查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1118459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141413"/>
                          </a:solidFill>
                          <a:latin typeface="Consolas"/>
                          <a:ea typeface="Microsoft JhengHei"/>
                        </a:rPr>
                        <a:t>tester</a:t>
                      </a:r>
                    </a:p>
                  </a:txBody>
                  <a:tcPr anchor="ctr">
                    <a:solidFill>
                      <a:srgbClr val="F5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141413"/>
                          </a:solidFill>
                          <a:latin typeface="Arial"/>
                          <a:ea typeface="Microsoft JhengHei"/>
                          <a:cs typeface="Arial"/>
                        </a:rPr>
                        <a:t>測試撰寫</a:t>
                      </a:r>
                    </a:p>
                  </a:txBody>
                  <a:tcPr anchor="ctr">
                    <a:solidFill>
                      <a:srgbClr val="F5F0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9288775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141413"/>
                          </a:solidFill>
                          <a:latin typeface="Consolas"/>
                          <a:ea typeface="Microsoft JhengHei"/>
                        </a:rPr>
                        <a:t>debugger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141413"/>
                          </a:solidFill>
                          <a:latin typeface="Arial"/>
                          <a:ea typeface="Microsoft JhengHei"/>
                          <a:cs typeface="Arial"/>
                        </a:rPr>
                        <a:t>除錯修復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938583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117071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4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41413"/>
                </a:solidFill>
                <a:latin typeface="Georgia"/>
                <a:ea typeface="Microsoft JhengHei"/>
              </a:rPr>
              <a:t>skills/ — 領域知識按需載入（7 個）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736600" y="1168400"/>
            <a:ext cx="812800" cy="50800"/>
          </a:xfrm>
          <a:prstGeom prst="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ea typeface="Microsoft JhengHe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36600" y="1422400"/>
            <a:ext cx="5080000" cy="279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lang="en-US" sz="1800" b="1">
                <a:solidFill>
                  <a:srgbClr val="C96442"/>
                </a:solidFill>
                <a:latin typeface="Arial"/>
                <a:ea typeface="Microsoft JhengHei"/>
              </a:rPr>
              <a:t>需要時才載入的領域知識</a:t>
            </a:r>
          </a:p>
          <a:p>
            <a:pPr algn="l">
              <a:spcAft>
                <a:spcPts val="1000"/>
              </a:spcAft>
            </a:pPr>
            <a:r>
              <a:rPr lang="en-US" sz="1600">
                <a:solidFill>
                  <a:srgbClr val="141413"/>
                </a:solidFill>
                <a:latin typeface="Arial"/>
                <a:ea typeface="Microsoft JhengHei"/>
              </a:rPr>
              <a:t>AI 偵測到語意相關，才自動把對應知識包讀進來。</a:t>
            </a:r>
          </a:p>
          <a:p>
            <a:pPr algn="l">
              <a:spcAft>
                <a:spcPts val="400"/>
              </a:spcAft>
              <a:buFont typeface="Arial"/>
              <a:buChar char="•"/>
            </a:pPr>
            <a:r>
              <a:rPr lang="en-US" sz="1600">
                <a:solidFill>
                  <a:srgbClr val="141413"/>
                </a:solidFill>
                <a:latin typeface="Arial"/>
                <a:ea typeface="Microsoft JhengHei"/>
              </a:rPr>
              <a:t>不佔平時的記憶空間</a:t>
            </a:r>
          </a:p>
          <a:p>
            <a:pPr algn="l">
              <a:spcAft>
                <a:spcPts val="400"/>
              </a:spcAft>
              <a:buFont typeface="Arial"/>
              <a:buChar char="•"/>
            </a:pPr>
            <a:r>
              <a:rPr lang="en-US" sz="1600">
                <a:solidFill>
                  <a:srgbClr val="141413"/>
                </a:solidFill>
                <a:latin typeface="Arial"/>
                <a:ea typeface="Microsoft JhengHei"/>
              </a:rPr>
              <a:t>用到才取，按需擴充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44AA2D8A-13E6-4C17-8AA4-FD599A775CF2}"/>
              </a:ext>
            </a:extLst>
          </p:cNvPr>
          <p:cNvSpPr/>
          <p:nvPr/>
        </p:nvSpPr>
        <p:spPr>
          <a:xfrm>
            <a:off x="736600" y="203200"/>
            <a:ext cx="889000" cy="50800"/>
          </a:xfrm>
          <a:prstGeom prst="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3BDCAE88-ED3A-4338-97A9-B3B4A8FE0DA2}"/>
              </a:ext>
            </a:extLst>
          </p:cNvPr>
          <p:cNvSpPr/>
          <p:nvPr/>
        </p:nvSpPr>
        <p:spPr>
          <a:xfrm>
            <a:off x="17272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9F99AC12-D6FE-4A53-802B-65C7726DDFAB}"/>
              </a:ext>
            </a:extLst>
          </p:cNvPr>
          <p:cNvSpPr/>
          <p:nvPr/>
        </p:nvSpPr>
        <p:spPr>
          <a:xfrm>
            <a:off x="27178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4C9FB5CD-6D87-4D70-B5EE-A44F8970BD41}"/>
              </a:ext>
            </a:extLst>
          </p:cNvPr>
          <p:cNvSpPr/>
          <p:nvPr/>
        </p:nvSpPr>
        <p:spPr>
          <a:xfrm>
            <a:off x="37084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374B15DD-E176-492C-90A6-4180F1DB3024}"/>
              </a:ext>
            </a:extLst>
          </p:cNvPr>
          <p:cNvSpPr/>
          <p:nvPr/>
        </p:nvSpPr>
        <p:spPr>
          <a:xfrm>
            <a:off x="46990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06657B6D-7449-4050-ABF3-D314DCC73D4C}"/>
              </a:ext>
            </a:extLst>
          </p:cNvPr>
          <p:cNvSpPr/>
          <p:nvPr/>
        </p:nvSpPr>
        <p:spPr>
          <a:xfrm>
            <a:off x="10642600" y="304800"/>
            <a:ext cx="787400" cy="330200"/>
          </a:xfrm>
          <a:prstGeom prst="round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altLang="zh-TW" sz="1200" b="1">
                <a:solidFill>
                  <a:srgbClr val="FFFFFF"/>
                </a:solidFill>
                <a:latin typeface="Arial"/>
                <a:ea typeface="Microsoft JhengHei"/>
                <a:cs typeface="Arial"/>
              </a:rPr>
              <a:t>CH 1</a:t>
            </a:r>
            <a:endParaRPr lang="zh-TW" altLang="en-US" sz="1200" b="1">
              <a:solidFill>
                <a:srgbClr val="FFFFFF"/>
              </a:solidFill>
              <a:latin typeface="Arial"/>
              <a:ea typeface="Microsoft JhengHei"/>
              <a:cs typeface="Arial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0EA6304A-F68D-4CAA-B3DD-8CB280CE5EBB}"/>
              </a:ext>
            </a:extLst>
          </p:cNvPr>
          <p:cNvSpPr txBox="1"/>
          <p:nvPr/>
        </p:nvSpPr>
        <p:spPr>
          <a:xfrm>
            <a:off x="11404600" y="6451600"/>
            <a:ext cx="584200" cy="3048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altLang="zh-TW" sz="1100">
                <a:solidFill>
                  <a:srgbClr val="A8A6A0"/>
                </a:solidFill>
                <a:latin typeface="Arial"/>
                <a:ea typeface="Microsoft JhengHei"/>
                <a:cs typeface="Arial"/>
              </a:rPr>
              <a:t>11</a:t>
            </a:r>
            <a:endParaRPr lang="zh-TW" altLang="en-US" sz="1100">
              <a:solidFill>
                <a:srgbClr val="A8A6A0"/>
              </a:solidFill>
              <a:latin typeface="Arial"/>
              <a:ea typeface="Microsoft JhengHei"/>
              <a:cs typeface="Arial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0D373B11-3B7D-452A-BF5A-FE4962DDF06B}"/>
              </a:ext>
            </a:extLst>
          </p:cNvPr>
          <p:cNvSpPr/>
          <p:nvPr/>
        </p:nvSpPr>
        <p:spPr>
          <a:xfrm>
            <a:off x="736600" y="4419600"/>
            <a:ext cx="5080000" cy="1701800"/>
          </a:xfrm>
          <a:prstGeom prst="rect">
            <a:avLst/>
          </a:prstGeom>
          <a:solidFill>
            <a:srgbClr val="F0EDE4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>
              <a:spcAft>
                <a:spcPts val="500"/>
              </a:spcAft>
            </a:pPr>
            <a:r>
              <a:rPr lang="en-US" sz="1400" b="1">
                <a:solidFill>
                  <a:srgbClr val="6B7A3F"/>
                </a:solidFill>
                <a:latin typeface="Arial"/>
                <a:ea typeface="Microsoft JhengHei"/>
              </a:rPr>
              <a:t>📚 生活比喻 ── 工具書櫃</a:t>
            </a:r>
          </a:p>
          <a:p>
            <a:pPr algn="l"/>
            <a:r>
              <a:rPr lang="en-US" sz="1500">
                <a:solidFill>
                  <a:srgbClr val="3D3D3A"/>
                </a:solidFill>
                <a:latin typeface="Arial"/>
                <a:ea typeface="Microsoft JhengHei"/>
              </a:rPr>
              <a:t>書櫃上擺滿專業工具書，平常不用翻；遇到特定問題，才抽出對應那本來查。skills 就是這樣按需取用。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411840CC-5CC3-4EE9-8152-EFEB44B4D887}"/>
              </a:ext>
            </a:extLst>
          </p:cNvPr>
          <p:cNvSpPr/>
          <p:nvPr/>
        </p:nvSpPr>
        <p:spPr>
          <a:xfrm>
            <a:off x="736600" y="4419600"/>
            <a:ext cx="76200" cy="1701800"/>
          </a:xfrm>
          <a:prstGeom prst="rect">
            <a:avLst/>
          </a:prstGeom>
          <a:solidFill>
            <a:srgbClr val="6B7A3F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graphicFrame>
        <p:nvGraphicFramePr>
          <p:cNvPr id="15" name="表格 14">
            <a:extLst>
              <a:ext uri="{FF2B5EF4-FFF2-40B4-BE49-F238E27FC236}">
                <a16:creationId xmlns:a16="http://schemas.microsoft.com/office/drawing/2014/main" id="{E62DD777-DDFA-4151-91C5-420D377DAB5F}"/>
              </a:ext>
            </a:extLst>
          </p:cNvPr>
          <p:cNvGraphicFramePr>
            <a:graphicFrameLocks noGrp="1"/>
          </p:cNvGraphicFramePr>
          <p:nvPr/>
        </p:nvGraphicFramePr>
        <p:xfrm>
          <a:off x="6324600" y="1422400"/>
          <a:ext cx="5105400" cy="2590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>
                  <a:extLst>
                    <a:ext uri="{9D8B030D-6E8A-4147-A177-3AD203B41FA5}">
                      <a16:colId xmlns:a16="http://schemas.microsoft.com/office/drawing/2014/main" val="1121759860"/>
                    </a:ext>
                  </a:extLst>
                </a:gridCol>
                <a:gridCol w="2552700">
                  <a:extLst>
                    <a:ext uri="{9D8B030D-6E8A-4147-A177-3AD203B41FA5}">
                      <a16:colId xmlns:a16="http://schemas.microsoft.com/office/drawing/2014/main" val="116205020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pPr algn="l"/>
                      <a:r>
                        <a:rPr lang="zh-TW" altLang="en-US" sz="15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  <a:cs typeface="Arial"/>
                        </a:rPr>
                        <a:t>技能包</a:t>
                      </a:r>
                    </a:p>
                  </a:txBody>
                  <a:tcPr anchor="ctr">
                    <a:solidFill>
                      <a:srgbClr val="C9644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5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  <a:cs typeface="Arial"/>
                        </a:rPr>
                        <a:t>什麼時候自動載入</a:t>
                      </a:r>
                    </a:p>
                  </a:txBody>
                  <a:tcPr anchor="ctr">
                    <a:solidFill>
                      <a:srgbClr val="C9644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52742600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141413"/>
                          </a:solidFill>
                          <a:latin typeface="Consolas"/>
                          <a:ea typeface="Microsoft JhengHei"/>
                        </a:rPr>
                        <a:t>competitive-analysis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141413"/>
                          </a:solidFill>
                          <a:latin typeface="Arial"/>
                          <a:ea typeface="Microsoft JhengHei"/>
                          <a:cs typeface="Arial"/>
                        </a:rPr>
                        <a:t>要做競品/市場分析時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7604436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141413"/>
                          </a:solidFill>
                          <a:latin typeface="Consolas"/>
                          <a:ea typeface="Microsoft JhengHei"/>
                        </a:rPr>
                        <a:t>pdf-processing</a:t>
                      </a:r>
                    </a:p>
                  </a:txBody>
                  <a:tcPr anchor="ctr">
                    <a:solidFill>
                      <a:srgbClr val="F5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141413"/>
                          </a:solidFill>
                          <a:latin typeface="Arial"/>
                          <a:ea typeface="Microsoft JhengHei"/>
                          <a:cs typeface="Arial"/>
                        </a:rPr>
                        <a:t>需要解析 PDF 文件時</a:t>
                      </a:r>
                    </a:p>
                  </a:txBody>
                  <a:tcPr anchor="ctr">
                    <a:solidFill>
                      <a:srgbClr val="F5F0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9997242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141413"/>
                          </a:solidFill>
                          <a:latin typeface="Consolas"/>
                          <a:ea typeface="Microsoft JhengHei"/>
                        </a:rPr>
                        <a:t>excel-reporting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141413"/>
                          </a:solidFill>
                          <a:latin typeface="Arial"/>
                          <a:ea typeface="Microsoft JhengHei"/>
                          <a:cs typeface="Arial"/>
                        </a:rPr>
                        <a:t>產生 Excel 報表時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927314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141413"/>
                          </a:solidFill>
                          <a:latin typeface="Consolas"/>
                          <a:ea typeface="Microsoft JhengHei"/>
                        </a:rPr>
                        <a:t>ib-check-deck</a:t>
                      </a:r>
                    </a:p>
                  </a:txBody>
                  <a:tcPr anchor="ctr">
                    <a:solidFill>
                      <a:srgbClr val="F5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141413"/>
                          </a:solidFill>
                          <a:latin typeface="Arial"/>
                          <a:ea typeface="Microsoft JhengHei"/>
                          <a:cs typeface="Arial"/>
                        </a:rPr>
                        <a:t>做投資簡報品質檢查時</a:t>
                      </a:r>
                    </a:p>
                  </a:txBody>
                  <a:tcPr anchor="ctr">
                    <a:solidFill>
                      <a:srgbClr val="F5F0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26630240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141413"/>
                          </a:solidFill>
                          <a:latin typeface="Consolas"/>
                          <a:ea typeface="Microsoft JhengHei"/>
                        </a:rPr>
                        <a:t>deck-refresh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141413"/>
                          </a:solidFill>
                          <a:latin typeface="Arial"/>
                          <a:ea typeface="Microsoft JhengHei"/>
                          <a:cs typeface="Arial"/>
                        </a:rPr>
                        <a:t>批次更新簡報數字時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4185307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499269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4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 dirty="0">
                <a:solidFill>
                  <a:srgbClr val="141413"/>
                </a:solidFill>
                <a:latin typeface="Georgia"/>
                <a:ea typeface="Microsoft JhengHei"/>
              </a:rPr>
              <a:t>hooks/ — 事件自動化（6 個）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736600" y="1168400"/>
            <a:ext cx="812800" cy="50800"/>
          </a:xfrm>
          <a:prstGeom prst="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ea typeface="Microsoft JhengHe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36600" y="1422400"/>
            <a:ext cx="5080000" cy="279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lang="en-US" sz="1800" b="1">
                <a:solidFill>
                  <a:srgbClr val="C96442"/>
                </a:solidFill>
                <a:latin typeface="Arial"/>
                <a:ea typeface="Microsoft JhengHei"/>
              </a:rPr>
              <a:t>事件發生就自動執行</a:t>
            </a:r>
          </a:p>
          <a:p>
            <a:pPr algn="l">
              <a:spcAft>
                <a:spcPts val="1000"/>
              </a:spcAft>
            </a:pPr>
            <a:r>
              <a:rPr lang="en-US" sz="1600">
                <a:solidFill>
                  <a:srgbClr val="141413"/>
                </a:solidFill>
                <a:latin typeface="Arial"/>
                <a:ea typeface="Microsoft JhengHei"/>
              </a:rPr>
              <a:t>不用你開口，特定事件一觸發，hook 就自動做事。</a:t>
            </a:r>
          </a:p>
          <a:p>
            <a:pPr algn="l">
              <a:spcAft>
                <a:spcPts val="400"/>
              </a:spcAft>
              <a:buFont typeface="Arial"/>
              <a:buChar char="•"/>
            </a:pPr>
            <a:r>
              <a:rPr lang="en-US" sz="1600">
                <a:solidFill>
                  <a:srgbClr val="141413"/>
                </a:solidFill>
                <a:latin typeface="Arial"/>
                <a:ea typeface="Microsoft JhengHei"/>
              </a:rPr>
              <a:t>把重複動作交給系統自動跑</a:t>
            </a:r>
          </a:p>
          <a:p>
            <a:pPr algn="l">
              <a:spcAft>
                <a:spcPts val="400"/>
              </a:spcAft>
              <a:buFont typeface="Arial"/>
              <a:buChar char="•"/>
            </a:pPr>
            <a:r>
              <a:rPr lang="en-US" sz="1600">
                <a:solidFill>
                  <a:srgbClr val="141413"/>
                </a:solidFill>
                <a:latin typeface="Arial"/>
                <a:ea typeface="Microsoft JhengHei"/>
              </a:rPr>
              <a:t>確保每次流程一致、不漏步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D804A754-6FBE-48A0-A752-EB0218C79893}"/>
              </a:ext>
            </a:extLst>
          </p:cNvPr>
          <p:cNvSpPr/>
          <p:nvPr/>
        </p:nvSpPr>
        <p:spPr>
          <a:xfrm>
            <a:off x="736600" y="203200"/>
            <a:ext cx="889000" cy="50800"/>
          </a:xfrm>
          <a:prstGeom prst="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28CB15EA-2A97-480A-B207-D129C0B34E33}"/>
              </a:ext>
            </a:extLst>
          </p:cNvPr>
          <p:cNvSpPr/>
          <p:nvPr/>
        </p:nvSpPr>
        <p:spPr>
          <a:xfrm>
            <a:off x="17272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B2A63EE1-C610-41D5-9212-F7C128FABF05}"/>
              </a:ext>
            </a:extLst>
          </p:cNvPr>
          <p:cNvSpPr/>
          <p:nvPr/>
        </p:nvSpPr>
        <p:spPr>
          <a:xfrm>
            <a:off x="27178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EDA9C230-0EAC-410E-82F3-9A43B3A635DB}"/>
              </a:ext>
            </a:extLst>
          </p:cNvPr>
          <p:cNvSpPr/>
          <p:nvPr/>
        </p:nvSpPr>
        <p:spPr>
          <a:xfrm>
            <a:off x="37084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B4913A7B-4E25-4EDF-9B65-9018D5965BAB}"/>
              </a:ext>
            </a:extLst>
          </p:cNvPr>
          <p:cNvSpPr/>
          <p:nvPr/>
        </p:nvSpPr>
        <p:spPr>
          <a:xfrm>
            <a:off x="46990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17F84CB7-0F88-4634-8935-FCCF8B921EA8}"/>
              </a:ext>
            </a:extLst>
          </p:cNvPr>
          <p:cNvSpPr/>
          <p:nvPr/>
        </p:nvSpPr>
        <p:spPr>
          <a:xfrm>
            <a:off x="10642600" y="304800"/>
            <a:ext cx="787400" cy="330200"/>
          </a:xfrm>
          <a:prstGeom prst="round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altLang="zh-TW" sz="1200" b="1">
                <a:solidFill>
                  <a:srgbClr val="FFFFFF"/>
                </a:solidFill>
                <a:latin typeface="Arial"/>
                <a:ea typeface="Microsoft JhengHei"/>
                <a:cs typeface="Arial"/>
              </a:rPr>
              <a:t>CH 1</a:t>
            </a:r>
            <a:endParaRPr lang="zh-TW" altLang="en-US" sz="1200" b="1">
              <a:solidFill>
                <a:srgbClr val="FFFFFF"/>
              </a:solidFill>
              <a:latin typeface="Arial"/>
              <a:ea typeface="Microsoft JhengHei"/>
              <a:cs typeface="Arial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92DB7D38-AF75-4A98-809B-36CE746D0913}"/>
              </a:ext>
            </a:extLst>
          </p:cNvPr>
          <p:cNvSpPr txBox="1"/>
          <p:nvPr/>
        </p:nvSpPr>
        <p:spPr>
          <a:xfrm>
            <a:off x="11404600" y="6451600"/>
            <a:ext cx="584200" cy="3048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altLang="zh-TW" sz="1100">
                <a:solidFill>
                  <a:srgbClr val="A8A6A0"/>
                </a:solidFill>
                <a:latin typeface="Arial"/>
                <a:ea typeface="Microsoft JhengHei"/>
                <a:cs typeface="Arial"/>
              </a:rPr>
              <a:t>12</a:t>
            </a:r>
            <a:endParaRPr lang="zh-TW" altLang="en-US" sz="1100">
              <a:solidFill>
                <a:srgbClr val="A8A6A0"/>
              </a:solidFill>
              <a:latin typeface="Arial"/>
              <a:ea typeface="Microsoft JhengHei"/>
              <a:cs typeface="Arial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259D3626-A800-44AE-BB2D-36C138D01AC1}"/>
              </a:ext>
            </a:extLst>
          </p:cNvPr>
          <p:cNvSpPr/>
          <p:nvPr/>
        </p:nvSpPr>
        <p:spPr>
          <a:xfrm>
            <a:off x="736600" y="4419600"/>
            <a:ext cx="5080000" cy="1701800"/>
          </a:xfrm>
          <a:prstGeom prst="rect">
            <a:avLst/>
          </a:prstGeom>
          <a:solidFill>
            <a:srgbClr val="F0EDE4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>
              <a:spcAft>
                <a:spcPts val="500"/>
              </a:spcAft>
            </a:pPr>
            <a:r>
              <a:rPr lang="en-US" sz="1400" b="1">
                <a:solidFill>
                  <a:srgbClr val="6B7A3F"/>
                </a:solidFill>
                <a:latin typeface="Arial"/>
                <a:ea typeface="Microsoft JhengHei"/>
              </a:rPr>
              <a:t>💡 生活比喻 ── 自動感應燈</a:t>
            </a:r>
          </a:p>
          <a:p>
            <a:pPr algn="l"/>
            <a:r>
              <a:rPr lang="en-US" sz="1500">
                <a:solidFill>
                  <a:srgbClr val="3D3D3A"/>
                </a:solidFill>
                <a:latin typeface="Arial"/>
                <a:ea typeface="Microsoft JhengHei"/>
              </a:rPr>
              <a:t>走進房間，燈自己亮；離開就自己關。你不必去按開關 ── hooks 就是這種「事件一到、自動反應」的機制。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4760C362-7C54-481C-AD10-FF268FDC6514}"/>
              </a:ext>
            </a:extLst>
          </p:cNvPr>
          <p:cNvSpPr/>
          <p:nvPr/>
        </p:nvSpPr>
        <p:spPr>
          <a:xfrm>
            <a:off x="736600" y="4419600"/>
            <a:ext cx="76200" cy="1701800"/>
          </a:xfrm>
          <a:prstGeom prst="rect">
            <a:avLst/>
          </a:prstGeom>
          <a:solidFill>
            <a:srgbClr val="6B7A3F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graphicFrame>
        <p:nvGraphicFramePr>
          <p:cNvPr id="15" name="表格 14">
            <a:extLst>
              <a:ext uri="{FF2B5EF4-FFF2-40B4-BE49-F238E27FC236}">
                <a16:creationId xmlns:a16="http://schemas.microsoft.com/office/drawing/2014/main" id="{D43AB7F2-21D5-4838-8FA1-2E86F0D1CD71}"/>
              </a:ext>
            </a:extLst>
          </p:cNvPr>
          <p:cNvGraphicFramePr>
            <a:graphicFrameLocks noGrp="1"/>
          </p:cNvGraphicFramePr>
          <p:nvPr/>
        </p:nvGraphicFramePr>
        <p:xfrm>
          <a:off x="6324600" y="1422400"/>
          <a:ext cx="5105400" cy="284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>
                  <a:extLst>
                    <a:ext uri="{9D8B030D-6E8A-4147-A177-3AD203B41FA5}">
                      <a16:colId xmlns:a16="http://schemas.microsoft.com/office/drawing/2014/main" val="2399834253"/>
                    </a:ext>
                  </a:extLst>
                </a:gridCol>
                <a:gridCol w="2552700">
                  <a:extLst>
                    <a:ext uri="{9D8B030D-6E8A-4147-A177-3AD203B41FA5}">
                      <a16:colId xmlns:a16="http://schemas.microsoft.com/office/drawing/2014/main" val="1231892092"/>
                    </a:ext>
                  </a:extLst>
                </a:gridCol>
              </a:tblGrid>
              <a:tr h="406400">
                <a:tc>
                  <a:txBody>
                    <a:bodyPr/>
                    <a:lstStyle/>
                    <a:p>
                      <a:pPr algn="l"/>
                      <a:r>
                        <a:rPr lang="zh-TW" altLang="en-US" sz="15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  <a:cs typeface="Arial"/>
                        </a:rPr>
                        <a:t>觸發事件</a:t>
                      </a:r>
                    </a:p>
                  </a:txBody>
                  <a:tcPr anchor="ctr">
                    <a:solidFill>
                      <a:srgbClr val="C9644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5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  <a:cs typeface="Arial"/>
                        </a:rPr>
                        <a:t>自動做的事</a:t>
                      </a:r>
                    </a:p>
                  </a:txBody>
                  <a:tcPr anchor="ctr">
                    <a:solidFill>
                      <a:srgbClr val="C9644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93882509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141413"/>
                          </a:solidFill>
                          <a:latin typeface="Arial"/>
                          <a:ea typeface="Microsoft JhengHei"/>
                          <a:cs typeface="Arial"/>
                        </a:rPr>
                        <a:t>檔案儲存後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141413"/>
                          </a:solidFill>
                          <a:latin typeface="Arial"/>
                          <a:ea typeface="Microsoft JhengHei"/>
                          <a:cs typeface="Arial"/>
                        </a:rPr>
                        <a:t>自動跑格式化 / lint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14905583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141413"/>
                          </a:solidFill>
                          <a:latin typeface="Arial"/>
                          <a:ea typeface="Microsoft JhengHei"/>
                          <a:cs typeface="Arial"/>
                        </a:rPr>
                        <a:t>送出提交前</a:t>
                      </a:r>
                    </a:p>
                  </a:txBody>
                  <a:tcPr anchor="ctr">
                    <a:solidFill>
                      <a:srgbClr val="F5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141413"/>
                          </a:solidFill>
                          <a:latin typeface="Arial"/>
                          <a:ea typeface="Microsoft JhengHei"/>
                          <a:cs typeface="Arial"/>
                        </a:rPr>
                        <a:t>自動執行測試</a:t>
                      </a:r>
                    </a:p>
                  </a:txBody>
                  <a:tcPr anchor="ctr">
                    <a:solidFill>
                      <a:srgbClr val="F5F0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4227974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141413"/>
                          </a:solidFill>
                          <a:latin typeface="Arial"/>
                          <a:ea typeface="Microsoft JhengHei"/>
                          <a:cs typeface="Arial"/>
                        </a:rPr>
                        <a:t>對話開始時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141413"/>
                          </a:solidFill>
                          <a:latin typeface="Arial"/>
                          <a:ea typeface="Microsoft JhengHei"/>
                          <a:cs typeface="Arial"/>
                        </a:rPr>
                        <a:t>自動載入專案狀態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1558482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141413"/>
                          </a:solidFill>
                          <a:latin typeface="Arial"/>
                          <a:ea typeface="Microsoft JhengHei"/>
                          <a:cs typeface="Arial"/>
                        </a:rPr>
                        <a:t>指令執行後</a:t>
                      </a:r>
                    </a:p>
                  </a:txBody>
                  <a:tcPr anchor="ctr">
                    <a:solidFill>
                      <a:srgbClr val="F5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141413"/>
                          </a:solidFill>
                          <a:latin typeface="Arial"/>
                          <a:ea typeface="Microsoft JhengHei"/>
                          <a:cs typeface="Arial"/>
                        </a:rPr>
                        <a:t>自動記錄時間</a:t>
                      </a:r>
                    </a:p>
                  </a:txBody>
                  <a:tcPr anchor="ctr">
                    <a:solidFill>
                      <a:srgbClr val="F5F0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0550542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141413"/>
                          </a:solidFill>
                          <a:latin typeface="Arial"/>
                          <a:ea typeface="Microsoft JhengHei"/>
                          <a:cs typeface="Arial"/>
                        </a:rPr>
                        <a:t>任務完成時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141413"/>
                          </a:solidFill>
                          <a:latin typeface="Arial"/>
                          <a:ea typeface="Microsoft JhengHei"/>
                          <a:cs typeface="Arial"/>
                        </a:rPr>
                        <a:t>自動更新進度清單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61881440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41413"/>
                          </a:solidFill>
                          <a:latin typeface="Arial"/>
                          <a:ea typeface="Microsoft JhengHei"/>
                        </a:rPr>
                        <a:t>工具呼叫前</a:t>
                      </a:r>
                    </a:p>
                  </a:txBody>
                  <a:tcPr anchor="ctr">
                    <a:solidFill>
                      <a:srgbClr val="F5F0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41413"/>
                          </a:solidFill>
                          <a:latin typeface="Arial"/>
                          <a:ea typeface="Microsoft JhengHei"/>
                        </a:rPr>
                        <a:t>自動檢查權限 / 攔截危險操作</a:t>
                      </a:r>
                    </a:p>
                  </a:txBody>
                  <a:tcPr anchor="ctr">
                    <a:solidFill>
                      <a:srgbClr val="F5F0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67715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9596904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4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41413"/>
                </a:solidFill>
                <a:latin typeface="Georgia"/>
                <a:ea typeface="Microsoft JhengHei"/>
              </a:rPr>
              <a:t>6 大觀念對照表 — 一張記住差異</a:t>
            </a:r>
          </a:p>
        </p:txBody>
      </p:sp>
      <p:sp>
        <p:nvSpPr>
          <p:cNvPr id="3" name="Rectangle 2"/>
          <p:cNvSpPr/>
          <p:nvPr/>
        </p:nvSpPr>
        <p:spPr>
          <a:xfrm>
            <a:off x="736600" y="1168400"/>
            <a:ext cx="812800" cy="50800"/>
          </a:xfrm>
          <a:prstGeom prst="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ea typeface="Microsoft JhengHei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2823C8BF-DCBF-4800-9B1D-CA1F35057D95}"/>
              </a:ext>
            </a:extLst>
          </p:cNvPr>
          <p:cNvSpPr/>
          <p:nvPr/>
        </p:nvSpPr>
        <p:spPr>
          <a:xfrm>
            <a:off x="736600" y="203200"/>
            <a:ext cx="889000" cy="50800"/>
          </a:xfrm>
          <a:prstGeom prst="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42CE96AD-657F-4A15-AB46-B450AE1DA8A6}"/>
              </a:ext>
            </a:extLst>
          </p:cNvPr>
          <p:cNvSpPr/>
          <p:nvPr/>
        </p:nvSpPr>
        <p:spPr>
          <a:xfrm>
            <a:off x="17272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982161D6-0F23-4738-AC9E-AC7F1C0576F4}"/>
              </a:ext>
            </a:extLst>
          </p:cNvPr>
          <p:cNvSpPr/>
          <p:nvPr/>
        </p:nvSpPr>
        <p:spPr>
          <a:xfrm>
            <a:off x="27178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CD096539-1380-448C-ADC5-A7231626CD2F}"/>
              </a:ext>
            </a:extLst>
          </p:cNvPr>
          <p:cNvSpPr/>
          <p:nvPr/>
        </p:nvSpPr>
        <p:spPr>
          <a:xfrm>
            <a:off x="37084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CA38324E-6044-4B99-B109-387945AFC232}"/>
              </a:ext>
            </a:extLst>
          </p:cNvPr>
          <p:cNvSpPr/>
          <p:nvPr/>
        </p:nvSpPr>
        <p:spPr>
          <a:xfrm>
            <a:off x="46990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30D6C2BE-E84B-4005-AEE0-920FF466E025}"/>
              </a:ext>
            </a:extLst>
          </p:cNvPr>
          <p:cNvSpPr/>
          <p:nvPr/>
        </p:nvSpPr>
        <p:spPr>
          <a:xfrm>
            <a:off x="10642600" y="304800"/>
            <a:ext cx="787400" cy="330200"/>
          </a:xfrm>
          <a:prstGeom prst="round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altLang="zh-TW" sz="1200" b="1">
                <a:solidFill>
                  <a:srgbClr val="FFFFFF"/>
                </a:solidFill>
                <a:latin typeface="Arial"/>
                <a:ea typeface="Microsoft JhengHei"/>
                <a:cs typeface="Arial"/>
              </a:rPr>
              <a:t>CH 1</a:t>
            </a:r>
            <a:endParaRPr lang="zh-TW" altLang="en-US" sz="1200" b="1">
              <a:solidFill>
                <a:srgbClr val="FFFFFF"/>
              </a:solidFill>
              <a:latin typeface="Arial"/>
              <a:ea typeface="Microsoft JhengHei"/>
              <a:cs typeface="Arial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23044789-CE99-4011-964F-8F356888780F}"/>
              </a:ext>
            </a:extLst>
          </p:cNvPr>
          <p:cNvSpPr txBox="1"/>
          <p:nvPr/>
        </p:nvSpPr>
        <p:spPr>
          <a:xfrm>
            <a:off x="11404600" y="6451600"/>
            <a:ext cx="584200" cy="3048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altLang="zh-TW" sz="1100">
                <a:solidFill>
                  <a:srgbClr val="A8A6A0"/>
                </a:solidFill>
                <a:latin typeface="Arial"/>
                <a:ea typeface="Microsoft JhengHei"/>
                <a:cs typeface="Arial"/>
              </a:rPr>
              <a:t>13</a:t>
            </a:r>
            <a:endParaRPr lang="zh-TW" altLang="en-US" sz="1100">
              <a:solidFill>
                <a:srgbClr val="A8A6A0"/>
              </a:solidFill>
              <a:latin typeface="Arial"/>
              <a:ea typeface="Microsoft JhengHei"/>
              <a:cs typeface="Arial"/>
            </a:endParaRPr>
          </a:p>
        </p:txBody>
      </p:sp>
      <p:graphicFrame>
        <p:nvGraphicFramePr>
          <p:cNvPr id="13" name="表格 12">
            <a:extLst>
              <a:ext uri="{FF2B5EF4-FFF2-40B4-BE49-F238E27FC236}">
                <a16:creationId xmlns:a16="http://schemas.microsoft.com/office/drawing/2014/main" id="{8FD44B1D-B1AD-4593-B4B4-16B366E6755C}"/>
              </a:ext>
            </a:extLst>
          </p:cNvPr>
          <p:cNvGraphicFramePr>
            <a:graphicFrameLocks noGrp="1"/>
          </p:cNvGraphicFramePr>
          <p:nvPr/>
        </p:nvGraphicFramePr>
        <p:xfrm>
          <a:off x="736600" y="1524000"/>
          <a:ext cx="106934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3350">
                  <a:extLst>
                    <a:ext uri="{9D8B030D-6E8A-4147-A177-3AD203B41FA5}">
                      <a16:colId xmlns:a16="http://schemas.microsoft.com/office/drawing/2014/main" val="2169677054"/>
                    </a:ext>
                  </a:extLst>
                </a:gridCol>
                <a:gridCol w="2673350">
                  <a:extLst>
                    <a:ext uri="{9D8B030D-6E8A-4147-A177-3AD203B41FA5}">
                      <a16:colId xmlns:a16="http://schemas.microsoft.com/office/drawing/2014/main" val="998833643"/>
                    </a:ext>
                  </a:extLst>
                </a:gridCol>
                <a:gridCol w="2673350">
                  <a:extLst>
                    <a:ext uri="{9D8B030D-6E8A-4147-A177-3AD203B41FA5}">
                      <a16:colId xmlns:a16="http://schemas.microsoft.com/office/drawing/2014/main" val="4200646789"/>
                    </a:ext>
                  </a:extLst>
                </a:gridCol>
                <a:gridCol w="2673350">
                  <a:extLst>
                    <a:ext uri="{9D8B030D-6E8A-4147-A177-3AD203B41FA5}">
                      <a16:colId xmlns:a16="http://schemas.microsoft.com/office/drawing/2014/main" val="219484298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zh-TW" altLang="en-US" sz="15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  <a:cs typeface="Arial"/>
                        </a:rPr>
                        <a:t>觀念</a:t>
                      </a:r>
                    </a:p>
                  </a:txBody>
                  <a:tcPr anchor="ctr">
                    <a:solidFill>
                      <a:srgbClr val="C9644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5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  <a:cs typeface="Arial"/>
                        </a:rPr>
                        <a:t>觸發方式</a:t>
                      </a:r>
                    </a:p>
                  </a:txBody>
                  <a:tcPr anchor="ctr">
                    <a:solidFill>
                      <a:srgbClr val="C9644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5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  <a:cs typeface="Arial"/>
                        </a:rPr>
                        <a:t>生命週期</a:t>
                      </a:r>
                    </a:p>
                  </a:txBody>
                  <a:tcPr anchor="ctr">
                    <a:solidFill>
                      <a:srgbClr val="C9644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5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  <a:cs typeface="Arial"/>
                        </a:rPr>
                        <a:t>主要用途</a:t>
                      </a:r>
                    </a:p>
                  </a:txBody>
                  <a:tcPr anchor="ctr">
                    <a:solidFill>
                      <a:srgbClr val="C9644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444497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 b="1">
                          <a:solidFill>
                            <a:srgbClr val="141413"/>
                          </a:solidFill>
                          <a:latin typeface="Consolas"/>
                          <a:ea typeface="Microsoft JhengHei"/>
                        </a:rPr>
                        <a:t>CLAUDE.md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141413"/>
                          </a:solidFill>
                          <a:latin typeface="Arial"/>
                          <a:ea typeface="Microsoft JhengHei"/>
                          <a:cs typeface="Arial"/>
                        </a:rPr>
                        <a:t>自動載入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141413"/>
                          </a:solidFill>
                          <a:latin typeface="Arial"/>
                          <a:ea typeface="Microsoft JhengHei"/>
                          <a:cs typeface="Arial"/>
                        </a:rPr>
                        <a:t>長駐 ctx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141413"/>
                          </a:solidFill>
                          <a:latin typeface="Arial"/>
                          <a:ea typeface="Microsoft JhengHei"/>
                          <a:cs typeface="Arial"/>
                        </a:rPr>
                        <a:t>專案說明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95437929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 b="1">
                          <a:solidFill>
                            <a:srgbClr val="141413"/>
                          </a:solidFill>
                          <a:latin typeface="Consolas"/>
                          <a:ea typeface="Microsoft JhengHei"/>
                        </a:rPr>
                        <a:t>rules</a:t>
                      </a:r>
                    </a:p>
                  </a:txBody>
                  <a:tcPr anchor="ctr">
                    <a:solidFill>
                      <a:srgbClr val="F5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141413"/>
                          </a:solidFill>
                          <a:latin typeface="Arial"/>
                          <a:ea typeface="Microsoft JhengHei"/>
                          <a:cs typeface="Arial"/>
                        </a:rPr>
                        <a:t>自動載入</a:t>
                      </a:r>
                    </a:p>
                  </a:txBody>
                  <a:tcPr anchor="ctr">
                    <a:solidFill>
                      <a:srgbClr val="F5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141413"/>
                          </a:solidFill>
                          <a:latin typeface="Arial"/>
                          <a:ea typeface="Microsoft JhengHei"/>
                          <a:cs typeface="Arial"/>
                        </a:rPr>
                        <a:t>長駐 ctx</a:t>
                      </a:r>
                    </a:p>
                  </a:txBody>
                  <a:tcPr anchor="ctr">
                    <a:solidFill>
                      <a:srgbClr val="F5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141413"/>
                          </a:solidFill>
                          <a:latin typeface="Arial"/>
                          <a:ea typeface="Microsoft JhengHei"/>
                          <a:cs typeface="Arial"/>
                        </a:rPr>
                        <a:t>跨專案通則</a:t>
                      </a:r>
                    </a:p>
                  </a:txBody>
                  <a:tcPr anchor="ctr">
                    <a:solidFill>
                      <a:srgbClr val="F5F0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999641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 b="1">
                          <a:solidFill>
                            <a:srgbClr val="141413"/>
                          </a:solidFill>
                          <a:latin typeface="Consolas"/>
                          <a:ea typeface="Microsoft JhengHei"/>
                        </a:rPr>
                        <a:t>commands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141413"/>
                          </a:solidFill>
                          <a:latin typeface="Arial"/>
                          <a:ea typeface="Microsoft JhengHei"/>
                          <a:cs typeface="Arial"/>
                        </a:rPr>
                        <a:t>使用者 /xxx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141413"/>
                          </a:solidFill>
                          <a:latin typeface="Arial"/>
                          <a:ea typeface="Microsoft JhengHei"/>
                          <a:cs typeface="Arial"/>
                        </a:rPr>
                        <a:t>單次調用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141413"/>
                          </a:solidFill>
                          <a:latin typeface="Arial"/>
                          <a:ea typeface="Microsoft JhengHei"/>
                          <a:cs typeface="Arial"/>
                        </a:rPr>
                        <a:t>封裝常用 prompt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3364107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 b="1">
                          <a:solidFill>
                            <a:srgbClr val="141413"/>
                          </a:solidFill>
                          <a:latin typeface="Consolas"/>
                          <a:ea typeface="Microsoft JhengHei"/>
                        </a:rPr>
                        <a:t>agents</a:t>
                      </a:r>
                    </a:p>
                  </a:txBody>
                  <a:tcPr anchor="ctr">
                    <a:solidFill>
                      <a:srgbClr val="F5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141413"/>
                          </a:solidFill>
                          <a:latin typeface="Arial"/>
                          <a:ea typeface="Microsoft JhengHei"/>
                          <a:cs typeface="Arial"/>
                        </a:rPr>
                        <a:t>AI 委派</a:t>
                      </a:r>
                    </a:p>
                  </a:txBody>
                  <a:tcPr anchor="ctr">
                    <a:solidFill>
                      <a:srgbClr val="F5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141413"/>
                          </a:solidFill>
                          <a:latin typeface="Arial"/>
                          <a:ea typeface="Microsoft JhengHei"/>
                          <a:cs typeface="Arial"/>
                        </a:rPr>
                        <a:t>隔離 ctx</a:t>
                      </a:r>
                    </a:p>
                  </a:txBody>
                  <a:tcPr anchor="ctr">
                    <a:solidFill>
                      <a:srgbClr val="F5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141413"/>
                          </a:solidFill>
                          <a:latin typeface="Arial"/>
                          <a:ea typeface="Microsoft JhengHei"/>
                          <a:cs typeface="Arial"/>
                        </a:rPr>
                        <a:t>專業分工</a:t>
                      </a:r>
                    </a:p>
                  </a:txBody>
                  <a:tcPr anchor="ctr">
                    <a:solidFill>
                      <a:srgbClr val="F5F0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028314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 b="1">
                          <a:solidFill>
                            <a:srgbClr val="141413"/>
                          </a:solidFill>
                          <a:latin typeface="Consolas"/>
                          <a:ea typeface="Microsoft JhengHei"/>
                        </a:rPr>
                        <a:t>skills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141413"/>
                          </a:solidFill>
                          <a:latin typeface="Arial"/>
                          <a:ea typeface="Microsoft JhengHei"/>
                          <a:cs typeface="Arial"/>
                        </a:rPr>
                        <a:t>語意偵測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141413"/>
                          </a:solidFill>
                          <a:latin typeface="Arial"/>
                          <a:ea typeface="Microsoft JhengHei"/>
                          <a:cs typeface="Arial"/>
                        </a:rPr>
                        <a:t>按需載入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141413"/>
                          </a:solidFill>
                          <a:latin typeface="Arial"/>
                          <a:ea typeface="Microsoft JhengHei"/>
                          <a:cs typeface="Arial"/>
                        </a:rPr>
                        <a:t>領域知識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5266119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 b="1">
                          <a:solidFill>
                            <a:srgbClr val="141413"/>
                          </a:solidFill>
                          <a:latin typeface="Consolas"/>
                          <a:ea typeface="Microsoft JhengHei"/>
                        </a:rPr>
                        <a:t>hooks</a:t>
                      </a:r>
                    </a:p>
                  </a:txBody>
                  <a:tcPr anchor="ctr">
                    <a:solidFill>
                      <a:srgbClr val="F5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141413"/>
                          </a:solidFill>
                          <a:latin typeface="Arial"/>
                          <a:ea typeface="Microsoft JhengHei"/>
                          <a:cs typeface="Arial"/>
                        </a:rPr>
                        <a:t>系統事件</a:t>
                      </a:r>
                    </a:p>
                  </a:txBody>
                  <a:tcPr anchor="ctr">
                    <a:solidFill>
                      <a:srgbClr val="F5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141413"/>
                          </a:solidFill>
                          <a:latin typeface="Arial"/>
                          <a:ea typeface="Microsoft JhengHei"/>
                          <a:cs typeface="Arial"/>
                        </a:rPr>
                        <a:t>無 AI 介入</a:t>
                      </a:r>
                    </a:p>
                  </a:txBody>
                  <a:tcPr anchor="ctr">
                    <a:solidFill>
                      <a:srgbClr val="F5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141413"/>
                          </a:solidFill>
                          <a:latin typeface="Arial"/>
                          <a:ea typeface="Microsoft JhengHei"/>
                          <a:cs typeface="Arial"/>
                        </a:rPr>
                        <a:t>副作用 / 自動化</a:t>
                      </a:r>
                    </a:p>
                  </a:txBody>
                  <a:tcPr anchor="ctr">
                    <a:solidFill>
                      <a:srgbClr val="F5F0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19384073"/>
                  </a:ext>
                </a:extLst>
              </a:tr>
            </a:tbl>
          </a:graphicData>
        </a:graphic>
      </p:graphicFrame>
      <p:sp>
        <p:nvSpPr>
          <p:cNvPr id="14" name="文字方塊 13">
            <a:extLst>
              <a:ext uri="{FF2B5EF4-FFF2-40B4-BE49-F238E27FC236}">
                <a16:creationId xmlns:a16="http://schemas.microsoft.com/office/drawing/2014/main" id="{5ECBDD66-BBCB-4E4B-816E-015F583F5CF1}"/>
              </a:ext>
            </a:extLst>
          </p:cNvPr>
          <p:cNvSpPr txBox="1"/>
          <p:nvPr/>
        </p:nvSpPr>
        <p:spPr>
          <a:xfrm>
            <a:off x="736600" y="5562600"/>
            <a:ext cx="10693400" cy="406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zh-TW" altLang="en-US" sz="1600">
                <a:solidFill>
                  <a:srgbClr val="5E5D59"/>
                </a:solidFill>
                <a:latin typeface="Arial"/>
                <a:ea typeface="Microsoft JhengHei"/>
                <a:cs typeface="Arial"/>
              </a:rPr>
              <a:t>三條軸：自動 </a:t>
            </a:r>
            <a:r>
              <a:rPr lang="en-US" altLang="zh-TW" sz="1600">
                <a:solidFill>
                  <a:srgbClr val="5E5D59"/>
                </a:solidFill>
                <a:latin typeface="Arial"/>
                <a:ea typeface="Microsoft JhengHei"/>
                <a:cs typeface="Arial"/>
              </a:rPr>
              <a:t>vs </a:t>
            </a:r>
            <a:r>
              <a:rPr lang="zh-TW" altLang="en-US" sz="1600">
                <a:solidFill>
                  <a:srgbClr val="5E5D59"/>
                </a:solidFill>
                <a:latin typeface="Arial"/>
                <a:ea typeface="Microsoft JhengHei"/>
                <a:cs typeface="Arial"/>
              </a:rPr>
              <a:t>觸發、長駐 </a:t>
            </a:r>
            <a:r>
              <a:rPr lang="en-US" altLang="zh-TW" sz="1600">
                <a:solidFill>
                  <a:srgbClr val="5E5D59"/>
                </a:solidFill>
                <a:latin typeface="Arial"/>
                <a:ea typeface="Microsoft JhengHei"/>
                <a:cs typeface="Arial"/>
              </a:rPr>
              <a:t>vs </a:t>
            </a:r>
            <a:r>
              <a:rPr lang="zh-TW" altLang="en-US" sz="1600">
                <a:solidFill>
                  <a:srgbClr val="5E5D59"/>
                </a:solidFill>
                <a:latin typeface="Arial"/>
                <a:ea typeface="Microsoft JhengHei"/>
                <a:cs typeface="Arial"/>
              </a:rPr>
              <a:t>按需、</a:t>
            </a:r>
            <a:r>
              <a:rPr lang="en-US" altLang="zh-TW" sz="1600">
                <a:solidFill>
                  <a:srgbClr val="5E5D59"/>
                </a:solidFill>
                <a:latin typeface="Arial"/>
                <a:ea typeface="Microsoft JhengHei"/>
                <a:cs typeface="Arial"/>
              </a:rPr>
              <a:t>AI </a:t>
            </a:r>
            <a:r>
              <a:rPr lang="zh-TW" altLang="en-US" sz="1600">
                <a:solidFill>
                  <a:srgbClr val="5E5D59"/>
                </a:solidFill>
                <a:latin typeface="Arial"/>
                <a:ea typeface="Microsoft JhengHei"/>
                <a:cs typeface="Arial"/>
              </a:rPr>
              <a:t>內 </a:t>
            </a:r>
            <a:r>
              <a:rPr lang="en-US" altLang="zh-TW" sz="1600">
                <a:solidFill>
                  <a:srgbClr val="5E5D59"/>
                </a:solidFill>
                <a:latin typeface="Arial"/>
                <a:ea typeface="Microsoft JhengHei"/>
                <a:cs typeface="Arial"/>
              </a:rPr>
              <a:t>vs AI </a:t>
            </a:r>
            <a:r>
              <a:rPr lang="zh-TW" altLang="en-US" sz="1600">
                <a:solidFill>
                  <a:srgbClr val="5E5D59"/>
                </a:solidFill>
                <a:latin typeface="Arial"/>
                <a:ea typeface="Microsoft JhengHei"/>
                <a:cs typeface="Arial"/>
              </a:rPr>
              <a:t>外</a:t>
            </a:r>
          </a:p>
        </p:txBody>
      </p:sp>
    </p:spTree>
    <p:extLst>
      <p:ext uri="{BB962C8B-B14F-4D97-AF65-F5344CB8AC3E}">
        <p14:creationId xmlns:p14="http://schemas.microsoft.com/office/powerpoint/2010/main" val="30750542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4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41413"/>
                </a:solidFill>
                <a:latin typeface="Georgia"/>
                <a:ea typeface="Microsoft JhengHei"/>
              </a:rPr>
              <a:t>14 個 Agent — 按模型分級</a:t>
            </a:r>
          </a:p>
        </p:txBody>
      </p:sp>
      <p:sp>
        <p:nvSpPr>
          <p:cNvPr id="3" name="Rectangle 2"/>
          <p:cNvSpPr/>
          <p:nvPr/>
        </p:nvSpPr>
        <p:spPr>
          <a:xfrm>
            <a:off x="736600" y="1168400"/>
            <a:ext cx="812800" cy="50800"/>
          </a:xfrm>
          <a:prstGeom prst="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ea typeface="Microsoft JhengHe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>
              <a:ea typeface="Microsoft JhengHei"/>
            </a:endParaRP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1" i="0">
                <a:solidFill>
                  <a:srgbClr val="C96442"/>
                </a:solidFill>
                <a:latin typeface="Arial"/>
                <a:ea typeface="Microsoft JhengHei"/>
              </a:rPr>
              <a:t>Opus  (重量級推理)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141413"/>
                </a:solidFill>
                <a:latin typeface="Arial"/>
                <a:ea typeface="Microsoft JhengHei"/>
              </a:rPr>
              <a:t>    planner • architect • security-auditor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endParaRPr sz="1800" b="0" i="0">
              <a:solidFill>
                <a:srgbClr val="141413"/>
              </a:solidFill>
              <a:latin typeface="Arial"/>
              <a:ea typeface="Microsoft JhengHei"/>
            </a:endParaRP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1" i="0">
                <a:solidFill>
                  <a:srgbClr val="6B7A3F"/>
                </a:solidFill>
                <a:latin typeface="Arial"/>
                <a:ea typeface="Microsoft JhengHei"/>
              </a:rPr>
              <a:t>Sonnet  (一般開發)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141413"/>
                </a:solidFill>
                <a:latin typeface="Arial"/>
                <a:ea typeface="Microsoft JhengHei"/>
              </a:rPr>
              <a:t>    code-quality • tdd-guide • e2e-specialist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141413"/>
                </a:solidFill>
                <a:latin typeface="Arial"/>
                <a:ea typeface="Microsoft JhengHei"/>
              </a:rPr>
              <a:t>    test-engineer • refactor-cleaner • deployment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141413"/>
                </a:solidFill>
                <a:latin typeface="Arial"/>
                <a:ea typeface="Microsoft JhengHei"/>
              </a:rPr>
              <a:t>    ui-builder • general-purpose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endParaRPr sz="1800" b="0" i="0">
              <a:solidFill>
                <a:srgbClr val="141413"/>
              </a:solidFill>
              <a:latin typeface="Arial"/>
              <a:ea typeface="Microsoft JhengHei"/>
            </a:endParaRP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1" i="0">
                <a:solidFill>
                  <a:srgbClr val="D97757"/>
                </a:solidFill>
                <a:latin typeface="Arial"/>
                <a:ea typeface="Microsoft JhengHei"/>
              </a:rPr>
              <a:t>Haiku  (輕量快速)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141413"/>
                </a:solidFill>
                <a:latin typeface="Arial"/>
                <a:ea typeface="Microsoft JhengHei"/>
              </a:rPr>
              <a:t>    build-resolver • doc-specialist • template-mgr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endParaRPr sz="1800" b="0" i="0">
              <a:solidFill>
                <a:srgbClr val="141413"/>
              </a:solidFill>
              <a:latin typeface="Arial"/>
              <a:ea typeface="Microsoft JhengHei"/>
            </a:endParaRP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5E5D59"/>
                </a:solidFill>
                <a:latin typeface="Arial"/>
                <a:ea typeface="Microsoft JhengHei"/>
              </a:rPr>
              <a:t>→  模板自動分配，不需要手動選擇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67042E5E-19E9-4EA2-8295-34F89BAFEF95}"/>
              </a:ext>
            </a:extLst>
          </p:cNvPr>
          <p:cNvSpPr/>
          <p:nvPr/>
        </p:nvSpPr>
        <p:spPr>
          <a:xfrm>
            <a:off x="736600" y="203200"/>
            <a:ext cx="889000" cy="50800"/>
          </a:xfrm>
          <a:prstGeom prst="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46D9B0E8-CCBE-4471-9278-2FC979D1D4BD}"/>
              </a:ext>
            </a:extLst>
          </p:cNvPr>
          <p:cNvSpPr/>
          <p:nvPr/>
        </p:nvSpPr>
        <p:spPr>
          <a:xfrm>
            <a:off x="17272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79F3F49-DA1E-4A53-A429-690B47EABFFC}"/>
              </a:ext>
            </a:extLst>
          </p:cNvPr>
          <p:cNvSpPr/>
          <p:nvPr/>
        </p:nvSpPr>
        <p:spPr>
          <a:xfrm>
            <a:off x="27178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1D4AC2FF-0BD7-4297-90D3-2BABFD88BC11}"/>
              </a:ext>
            </a:extLst>
          </p:cNvPr>
          <p:cNvSpPr/>
          <p:nvPr/>
        </p:nvSpPr>
        <p:spPr>
          <a:xfrm>
            <a:off x="37084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B396B73D-5B48-456C-8388-6358B374AEA0}"/>
              </a:ext>
            </a:extLst>
          </p:cNvPr>
          <p:cNvSpPr/>
          <p:nvPr/>
        </p:nvSpPr>
        <p:spPr>
          <a:xfrm>
            <a:off x="46990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BB6507DC-D681-41F9-B55A-FDA4866AF98A}"/>
              </a:ext>
            </a:extLst>
          </p:cNvPr>
          <p:cNvSpPr/>
          <p:nvPr/>
        </p:nvSpPr>
        <p:spPr>
          <a:xfrm>
            <a:off x="10642600" y="304800"/>
            <a:ext cx="787400" cy="330200"/>
          </a:xfrm>
          <a:prstGeom prst="round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altLang="zh-TW" sz="1200" b="1">
                <a:solidFill>
                  <a:srgbClr val="FFFFFF"/>
                </a:solidFill>
                <a:latin typeface="Arial"/>
                <a:ea typeface="Microsoft JhengHei"/>
                <a:cs typeface="Arial"/>
              </a:rPr>
              <a:t>CH 1</a:t>
            </a:r>
            <a:endParaRPr lang="zh-TW" altLang="en-US" sz="1200" b="1">
              <a:solidFill>
                <a:srgbClr val="FFFFFF"/>
              </a:solidFill>
              <a:latin typeface="Arial"/>
              <a:ea typeface="Microsoft JhengHei"/>
              <a:cs typeface="Arial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376B6A42-CB3B-4AC7-BB5D-FFADDFA0CED4}"/>
              </a:ext>
            </a:extLst>
          </p:cNvPr>
          <p:cNvSpPr txBox="1"/>
          <p:nvPr/>
        </p:nvSpPr>
        <p:spPr>
          <a:xfrm>
            <a:off x="11404600" y="6451600"/>
            <a:ext cx="584200" cy="3048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altLang="zh-TW" sz="1100">
                <a:solidFill>
                  <a:srgbClr val="A8A6A0"/>
                </a:solidFill>
                <a:latin typeface="Arial"/>
                <a:ea typeface="Microsoft JhengHei"/>
                <a:cs typeface="Arial"/>
              </a:rPr>
              <a:t>14</a:t>
            </a:r>
            <a:endParaRPr lang="zh-TW" altLang="en-US" sz="1100">
              <a:solidFill>
                <a:srgbClr val="A8A6A0"/>
              </a:solidFill>
              <a:latin typeface="Arial"/>
              <a:ea typeface="Microsoft JhengHei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920896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4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41413"/>
                </a:solidFill>
                <a:latin typeface="Georgia"/>
                <a:ea typeface="Microsoft JhengHei"/>
              </a:rPr>
              <a:t>Agent 編排劇本 — 主動委派 + 接力</a:t>
            </a:r>
          </a:p>
        </p:txBody>
      </p:sp>
      <p:sp>
        <p:nvSpPr>
          <p:cNvPr id="3" name="Rectangle 2"/>
          <p:cNvSpPr/>
          <p:nvPr/>
        </p:nvSpPr>
        <p:spPr>
          <a:xfrm>
            <a:off x="736600" y="1168400"/>
            <a:ext cx="812800" cy="50800"/>
          </a:xfrm>
          <a:prstGeom prst="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ea typeface="Microsoft JhengHe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>
              <a:ea typeface="Microsoft JhengHei"/>
            </a:endParaRP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1" i="0">
                <a:solidFill>
                  <a:srgbClr val="C96442"/>
                </a:solidFill>
                <a:latin typeface="Arial"/>
                <a:ea typeface="Microsoft JhengHei"/>
              </a:rPr>
              <a:t>原則：有專家就委派，交棒靠 handoff 不靠記憶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endParaRPr sz="2000" b="1" i="0">
              <a:solidFill>
                <a:srgbClr val="C96442"/>
              </a:solidFill>
              <a:latin typeface="Arial"/>
              <a:ea typeface="Microsoft JhengHei"/>
            </a:endParaRP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1" i="0">
                <a:solidFill>
                  <a:srgbClr val="141413"/>
                </a:solidFill>
                <a:latin typeface="Arial"/>
                <a:ea typeface="Microsoft JhengHei"/>
              </a:rPr>
              <a:t>新功能的標準鏈：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41413"/>
                </a:solidFill>
                <a:latin typeface="Arial"/>
                <a:ea typeface="Microsoft JhengHei"/>
              </a:rPr>
              <a:t>  planner → tdd-guide → code-quality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141413"/>
                </a:solidFill>
                <a:latin typeface="Arial"/>
                <a:ea typeface="Microsoft JhengHei"/>
              </a:rPr>
              <a:t>       → test-automation →（critical）security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endParaRPr sz="1800" b="0" i="0">
              <a:solidFill>
                <a:srgbClr val="141413"/>
              </a:solidFill>
              <a:latin typeface="Arial"/>
              <a:ea typeface="Microsoft JhengHei"/>
            </a:endParaRP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1" i="0">
                <a:solidFill>
                  <a:srgbClr val="141413"/>
                </a:solidFill>
                <a:latin typeface="Arial"/>
                <a:ea typeface="Microsoft JhengHei"/>
              </a:rPr>
              <a:t>每棒做完會：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141413"/>
                </a:solidFill>
                <a:latin typeface="Arial"/>
                <a:ea typeface="Microsoft JhengHei"/>
              </a:rPr>
              <a:t>  1. 寫報告到 .claude/context/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141413"/>
                </a:solidFill>
                <a:latin typeface="Arial"/>
                <a:ea typeface="Microsoft JhengHei"/>
              </a:rPr>
              <a:t>  2. 對下一棒建 handoff（coordination/handoffs）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141413"/>
                </a:solidFill>
                <a:latin typeface="Arial"/>
                <a:ea typeface="Microsoft JhengHei"/>
              </a:rPr>
              <a:t>  3. hook 注入提示 → 主 AI 接手下一棒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endParaRPr sz="1800" b="0" i="0">
              <a:solidFill>
                <a:srgbClr val="141413"/>
              </a:solidFill>
              <a:latin typeface="Arial"/>
              <a:ea typeface="Microsoft JhengHei"/>
            </a:endParaRP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1" i="0">
                <a:solidFill>
                  <a:srgbClr val="6B7A3F"/>
                </a:solidFill>
                <a:latin typeface="Arial"/>
                <a:ea typeface="Microsoft JhengHei"/>
              </a:rPr>
              <a:t>→  用 /agent-log 看：誰跑過、留了什麼、交給誰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31D23456-113F-44DB-8BE4-20C5F119AB1D}"/>
              </a:ext>
            </a:extLst>
          </p:cNvPr>
          <p:cNvSpPr/>
          <p:nvPr/>
        </p:nvSpPr>
        <p:spPr>
          <a:xfrm>
            <a:off x="736600" y="203200"/>
            <a:ext cx="889000" cy="50800"/>
          </a:xfrm>
          <a:prstGeom prst="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8769D51C-4C87-4883-95DE-C4292D0BF710}"/>
              </a:ext>
            </a:extLst>
          </p:cNvPr>
          <p:cNvSpPr/>
          <p:nvPr/>
        </p:nvSpPr>
        <p:spPr>
          <a:xfrm>
            <a:off x="17272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676072C0-BB95-45E2-B2BB-D13ADF32490F}"/>
              </a:ext>
            </a:extLst>
          </p:cNvPr>
          <p:cNvSpPr/>
          <p:nvPr/>
        </p:nvSpPr>
        <p:spPr>
          <a:xfrm>
            <a:off x="27178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F6993057-B451-450B-BA92-50345AFED54F}"/>
              </a:ext>
            </a:extLst>
          </p:cNvPr>
          <p:cNvSpPr/>
          <p:nvPr/>
        </p:nvSpPr>
        <p:spPr>
          <a:xfrm>
            <a:off x="37084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9EC185AC-9B11-4758-B9D8-92D179A07367}"/>
              </a:ext>
            </a:extLst>
          </p:cNvPr>
          <p:cNvSpPr/>
          <p:nvPr/>
        </p:nvSpPr>
        <p:spPr>
          <a:xfrm>
            <a:off x="46990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A5E6D6F7-C1BB-485D-8091-42A77B2D71CC}"/>
              </a:ext>
            </a:extLst>
          </p:cNvPr>
          <p:cNvSpPr/>
          <p:nvPr/>
        </p:nvSpPr>
        <p:spPr>
          <a:xfrm>
            <a:off x="10642600" y="304800"/>
            <a:ext cx="787400" cy="330200"/>
          </a:xfrm>
          <a:prstGeom prst="round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altLang="zh-TW" sz="1200" b="1">
                <a:solidFill>
                  <a:srgbClr val="FFFFFF"/>
                </a:solidFill>
                <a:latin typeface="Arial"/>
                <a:ea typeface="Microsoft JhengHei"/>
                <a:cs typeface="Arial"/>
              </a:rPr>
              <a:t>CH 1</a:t>
            </a:r>
            <a:endParaRPr lang="zh-TW" altLang="en-US" sz="1200" b="1">
              <a:solidFill>
                <a:srgbClr val="FFFFFF"/>
              </a:solidFill>
              <a:latin typeface="Arial"/>
              <a:ea typeface="Microsoft JhengHei"/>
              <a:cs typeface="Arial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D3C82CF9-5FC4-41B9-B9C6-264E72185AA6}"/>
              </a:ext>
            </a:extLst>
          </p:cNvPr>
          <p:cNvSpPr txBox="1"/>
          <p:nvPr/>
        </p:nvSpPr>
        <p:spPr>
          <a:xfrm>
            <a:off x="11404600" y="6451600"/>
            <a:ext cx="584200" cy="3048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altLang="zh-TW" sz="1100">
                <a:solidFill>
                  <a:srgbClr val="A8A6A0"/>
                </a:solidFill>
                <a:latin typeface="Arial"/>
                <a:ea typeface="Microsoft JhengHei"/>
                <a:cs typeface="Arial"/>
              </a:rPr>
              <a:t>15</a:t>
            </a:r>
            <a:endParaRPr lang="zh-TW" altLang="en-US" sz="1100">
              <a:solidFill>
                <a:srgbClr val="A8A6A0"/>
              </a:solidFill>
              <a:latin typeface="Arial"/>
              <a:ea typeface="Microsoft JhengHei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11389571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4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41413"/>
                </a:solidFill>
                <a:latin typeface="Georgia"/>
                <a:ea typeface="Microsoft JhengHei"/>
              </a:rPr>
              <a:t>目錄結構 — .claude/ 下的關鍵目錄</a:t>
            </a:r>
          </a:p>
        </p:txBody>
      </p:sp>
      <p:sp>
        <p:nvSpPr>
          <p:cNvPr id="3" name="Rectangle 2"/>
          <p:cNvSpPr/>
          <p:nvPr/>
        </p:nvSpPr>
        <p:spPr>
          <a:xfrm>
            <a:off x="736600" y="1168400"/>
            <a:ext cx="812800" cy="50800"/>
          </a:xfrm>
          <a:prstGeom prst="rect">
            <a:avLst/>
          </a:prstGeom>
          <a:solidFill>
            <a:srgbClr val="C96442"/>
          </a:solidFill>
          <a:ln w="12700" cap="flat" cmpd="sng" algn="ctr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ea typeface="Microsoft JhengHe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C96442"/>
                </a:solidFill>
                <a:latin typeface="Consolas"/>
                <a:ea typeface="Microsoft JhengHei"/>
              </a:rPr>
              <a:t>CLAUDE.md           ← 專案說明書（根目錄）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C96442"/>
                </a:solidFill>
                <a:latin typeface="Consolas"/>
                <a:ea typeface="Microsoft JhengHei"/>
              </a:rPr>
              <a:t>.claude/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3D3D3A"/>
                </a:solidFill>
                <a:latin typeface="Consolas"/>
                <a:ea typeface="Microsoft JhengHei"/>
              </a:rPr>
              <a:t>├── agents/          ← 14 個 Agent 定義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3D3D3A"/>
                </a:solidFill>
                <a:latin typeface="Consolas"/>
                <a:ea typeface="Microsoft JhengHei"/>
              </a:rPr>
              <a:t>├── commands/        ← 24 個快捷指令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6B7A3F"/>
                </a:solidFill>
                <a:latin typeface="Consolas"/>
                <a:ea typeface="Microsoft JhengHei"/>
              </a:rPr>
              <a:t>├── rules/           ← 15 條自動規則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3D3D3A"/>
                </a:solidFill>
                <a:latin typeface="Consolas"/>
                <a:ea typeface="Microsoft JhengHei"/>
              </a:rPr>
              <a:t>├── skills/          ← 7 個領域技能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3D3D3A"/>
                </a:solidFill>
                <a:latin typeface="Consolas"/>
                <a:ea typeface="Microsoft JhengHei"/>
              </a:rPr>
              <a:t>├── hooks/           ← 系統事件腳本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3D3D3A"/>
                </a:solidFill>
                <a:latin typeface="Consolas"/>
                <a:ea typeface="Microsoft JhengHei"/>
              </a:rPr>
              <a:t>├── ui/              ← UI 風格目錄（lovable / nvidia / ...）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3D3D3A"/>
                </a:solidFill>
                <a:latin typeface="Consolas"/>
                <a:ea typeface="Microsoft JhengHei"/>
              </a:rPr>
              <a:t>├── context/         ← Agent 報告共享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6B7A3F"/>
                </a:solidFill>
                <a:latin typeface="Consolas"/>
                <a:ea typeface="Microsoft JhengHei"/>
              </a:rPr>
              <a:t>├── coordination/    ← Agent 間的 handoff 交接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3D3D3A"/>
                </a:solidFill>
                <a:latin typeface="Consolas"/>
                <a:ea typeface="Microsoft JhengHei"/>
              </a:rPr>
              <a:t>├── logs/            ← subagent 軌跡（/agent-log）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87867F"/>
                </a:solidFill>
                <a:latin typeface="Consolas"/>
                <a:ea typeface="Microsoft JhengHei"/>
              </a:rPr>
              <a:t>├── guides/          ← 參考文件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C96442"/>
                </a:solidFill>
                <a:latin typeface="Consolas"/>
                <a:ea typeface="Microsoft JhengHei"/>
              </a:rPr>
              <a:t>└── taskmaster-data/ ← WBS 任務 + 時間追蹤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B54C3AC2-3EF7-4B1D-8139-9CE898489DF0}"/>
              </a:ext>
            </a:extLst>
          </p:cNvPr>
          <p:cNvSpPr/>
          <p:nvPr/>
        </p:nvSpPr>
        <p:spPr>
          <a:xfrm>
            <a:off x="736600" y="203200"/>
            <a:ext cx="889000" cy="50800"/>
          </a:xfrm>
          <a:prstGeom prst="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9CA1F015-54C5-491C-9256-45B1DE815ED9}"/>
              </a:ext>
            </a:extLst>
          </p:cNvPr>
          <p:cNvSpPr/>
          <p:nvPr/>
        </p:nvSpPr>
        <p:spPr>
          <a:xfrm>
            <a:off x="17272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841C99D5-37D8-42D8-BA6F-83E4563E995C}"/>
              </a:ext>
            </a:extLst>
          </p:cNvPr>
          <p:cNvSpPr/>
          <p:nvPr/>
        </p:nvSpPr>
        <p:spPr>
          <a:xfrm>
            <a:off x="27178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A42C38B4-4212-4672-A963-459695CC1DEF}"/>
              </a:ext>
            </a:extLst>
          </p:cNvPr>
          <p:cNvSpPr/>
          <p:nvPr/>
        </p:nvSpPr>
        <p:spPr>
          <a:xfrm>
            <a:off x="37084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5BFE647C-D485-43E7-B3CD-AA4A6FAF69FA}"/>
              </a:ext>
            </a:extLst>
          </p:cNvPr>
          <p:cNvSpPr/>
          <p:nvPr/>
        </p:nvSpPr>
        <p:spPr>
          <a:xfrm>
            <a:off x="46990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991DA2F1-FECE-4B9D-B4E6-545763A2F567}"/>
              </a:ext>
            </a:extLst>
          </p:cNvPr>
          <p:cNvSpPr/>
          <p:nvPr/>
        </p:nvSpPr>
        <p:spPr>
          <a:xfrm>
            <a:off x="10642600" y="304800"/>
            <a:ext cx="787400" cy="330200"/>
          </a:xfrm>
          <a:prstGeom prst="round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altLang="zh-TW" sz="1200" b="1">
                <a:solidFill>
                  <a:srgbClr val="FFFFFF"/>
                </a:solidFill>
                <a:latin typeface="Arial"/>
                <a:ea typeface="Microsoft JhengHei"/>
                <a:cs typeface="Arial"/>
              </a:rPr>
              <a:t>CH 1</a:t>
            </a:r>
            <a:endParaRPr lang="zh-TW" altLang="en-US" sz="1200" b="1">
              <a:solidFill>
                <a:srgbClr val="FFFFFF"/>
              </a:solidFill>
              <a:latin typeface="Arial"/>
              <a:ea typeface="Microsoft JhengHei"/>
              <a:cs typeface="Arial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E3B65F60-AB51-465A-8A51-7B21D511D1B6}"/>
              </a:ext>
            </a:extLst>
          </p:cNvPr>
          <p:cNvSpPr txBox="1"/>
          <p:nvPr/>
        </p:nvSpPr>
        <p:spPr>
          <a:xfrm>
            <a:off x="11404600" y="6451600"/>
            <a:ext cx="584200" cy="3048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altLang="zh-TW" sz="1100">
                <a:solidFill>
                  <a:srgbClr val="A8A6A0"/>
                </a:solidFill>
                <a:latin typeface="Arial"/>
                <a:ea typeface="Microsoft JhengHei"/>
                <a:cs typeface="Arial"/>
              </a:rPr>
              <a:t>16</a:t>
            </a:r>
            <a:endParaRPr lang="zh-TW" altLang="en-US" sz="1100">
              <a:solidFill>
                <a:srgbClr val="A8A6A0"/>
              </a:solidFill>
              <a:latin typeface="Arial"/>
              <a:ea typeface="Microsoft JhengHei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13520295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4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 i="0">
                <a:solidFill>
                  <a:srgbClr val="141413"/>
                </a:solidFill>
                <a:latin typeface="Georgia"/>
                <a:ea typeface="Microsoft JhengHei"/>
              </a:rPr>
              <a:t>環境準備檢查</a:t>
            </a:r>
          </a:p>
        </p:txBody>
      </p:sp>
      <p:sp>
        <p:nvSpPr>
          <p:cNvPr id="3" name="Rectangle 2"/>
          <p:cNvSpPr/>
          <p:nvPr/>
        </p:nvSpPr>
        <p:spPr>
          <a:xfrm>
            <a:off x="736600" y="1168400"/>
            <a:ext cx="812800" cy="50800"/>
          </a:xfrm>
          <a:prstGeom prst="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ea typeface="Microsoft JhengHe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097280" y="1463040"/>
            <a:ext cx="10058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>
              <a:ea typeface="Microsoft JhengHei"/>
            </a:endParaRP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200" b="0" i="0">
                <a:solidFill>
                  <a:srgbClr val="3D3D3A"/>
                </a:solidFill>
                <a:latin typeface="Arial"/>
                <a:ea typeface="Microsoft JhengHei"/>
              </a:rPr>
              <a:t>  ☐  Claude Code CLI 已安裝    → claude --version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200" b="0" i="0">
                <a:solidFill>
                  <a:srgbClr val="3D3D3A"/>
                </a:solidFill>
                <a:latin typeface="Arial"/>
                <a:ea typeface="Microsoft JhengHei"/>
              </a:rPr>
              <a:t>  ☐  Python 3.11+ 與 uv 已安裝  → uv --version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200" b="0" i="0">
                <a:solidFill>
                  <a:srgbClr val="3D3D3A"/>
                </a:solidFill>
                <a:latin typeface="Arial"/>
                <a:ea typeface="Microsoft JhengHei"/>
              </a:rPr>
              <a:t>  ☐  Python 直譯器→ python --version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200" b="0" i="0">
                <a:solidFill>
                  <a:srgbClr val="3D3D3A"/>
                </a:solidFill>
                <a:latin typeface="Arial"/>
                <a:ea typeface="Microsoft JhengHei"/>
              </a:rPr>
              <a:t>  ☐  Node.js 18+（僅 /e2e 需要）→ node --version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200" b="0" i="0">
                <a:solidFill>
                  <a:srgbClr val="3D3D3A"/>
                </a:solidFill>
                <a:latin typeface="Arial"/>
                <a:ea typeface="Microsoft JhengHei"/>
              </a:rPr>
              <a:t>  ☐  Git 已設定                          → git config user.name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200" b="0" i="0">
                <a:solidFill>
                  <a:srgbClr val="3D3D3A"/>
                </a:solidFill>
                <a:latin typeface="Arial"/>
                <a:ea typeface="Microsoft JhengHei"/>
              </a:rPr>
              <a:t>  ☐  模板已複製到工作目錄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200" b="0" i="0">
                <a:solidFill>
                  <a:srgbClr val="3D3D3A"/>
                </a:solidFill>
                <a:latin typeface="Arial"/>
                <a:ea typeface="Microsoft JhengHei"/>
              </a:rPr>
              <a:t>  ☐  Gemini API Key 已放入 .env  → GEMINI_API_KEY=...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AE949DA-53DF-42D5-ACE1-98D627FC38C0}"/>
              </a:ext>
            </a:extLst>
          </p:cNvPr>
          <p:cNvSpPr/>
          <p:nvPr/>
        </p:nvSpPr>
        <p:spPr>
          <a:xfrm>
            <a:off x="736600" y="203200"/>
            <a:ext cx="889000" cy="50800"/>
          </a:xfrm>
          <a:prstGeom prst="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6E555179-B234-46FD-8B92-8C8DC5A0EB5B}"/>
              </a:ext>
            </a:extLst>
          </p:cNvPr>
          <p:cNvSpPr/>
          <p:nvPr/>
        </p:nvSpPr>
        <p:spPr>
          <a:xfrm>
            <a:off x="17272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32919CB9-BAF5-4D37-9C08-DEB1E125D3B0}"/>
              </a:ext>
            </a:extLst>
          </p:cNvPr>
          <p:cNvSpPr/>
          <p:nvPr/>
        </p:nvSpPr>
        <p:spPr>
          <a:xfrm>
            <a:off x="27178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49FCAA2E-0E83-46BD-86E7-88FF71657472}"/>
              </a:ext>
            </a:extLst>
          </p:cNvPr>
          <p:cNvSpPr/>
          <p:nvPr/>
        </p:nvSpPr>
        <p:spPr>
          <a:xfrm>
            <a:off x="37084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B730FE84-B53A-48F6-9E33-6C314235D2D3}"/>
              </a:ext>
            </a:extLst>
          </p:cNvPr>
          <p:cNvSpPr/>
          <p:nvPr/>
        </p:nvSpPr>
        <p:spPr>
          <a:xfrm>
            <a:off x="46990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17431ED9-558E-4653-A57A-C82F307C1A4B}"/>
              </a:ext>
            </a:extLst>
          </p:cNvPr>
          <p:cNvSpPr/>
          <p:nvPr/>
        </p:nvSpPr>
        <p:spPr>
          <a:xfrm>
            <a:off x="10642600" y="304800"/>
            <a:ext cx="787400" cy="330200"/>
          </a:xfrm>
          <a:prstGeom prst="round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altLang="zh-TW" sz="1200" b="1">
                <a:solidFill>
                  <a:srgbClr val="FFFFFF"/>
                </a:solidFill>
                <a:latin typeface="Arial"/>
                <a:ea typeface="Microsoft JhengHei"/>
                <a:cs typeface="Arial"/>
              </a:rPr>
              <a:t>CH 1</a:t>
            </a:r>
            <a:endParaRPr lang="zh-TW" altLang="en-US" sz="1200" b="1">
              <a:solidFill>
                <a:srgbClr val="FFFFFF"/>
              </a:solidFill>
              <a:latin typeface="Arial"/>
              <a:ea typeface="Microsoft JhengHei"/>
              <a:cs typeface="Arial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AB9A0112-1F63-4776-A5FD-CB2A554E14D0}"/>
              </a:ext>
            </a:extLst>
          </p:cNvPr>
          <p:cNvSpPr txBox="1"/>
          <p:nvPr/>
        </p:nvSpPr>
        <p:spPr>
          <a:xfrm>
            <a:off x="11404600" y="6451600"/>
            <a:ext cx="584200" cy="3048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altLang="zh-TW" sz="1100">
                <a:solidFill>
                  <a:srgbClr val="A8A6A0"/>
                </a:solidFill>
                <a:latin typeface="Arial"/>
                <a:ea typeface="Microsoft JhengHei"/>
                <a:cs typeface="Arial"/>
              </a:rPr>
              <a:t>17</a:t>
            </a:r>
            <a:endParaRPr lang="zh-TW" altLang="en-US" sz="1100">
              <a:solidFill>
                <a:srgbClr val="A8A6A0"/>
              </a:solidFill>
              <a:latin typeface="Arial"/>
              <a:ea typeface="Microsoft JhengHei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52174915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4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41413"/>
                </a:solidFill>
                <a:latin typeface="Georgia"/>
                <a:ea typeface="Microsoft JhengHei"/>
              </a:rPr>
              <a:t>今天的旅程</a:t>
            </a:r>
          </a:p>
        </p:txBody>
      </p:sp>
      <p:sp>
        <p:nvSpPr>
          <p:cNvPr id="3" name="Rectangle 2"/>
          <p:cNvSpPr/>
          <p:nvPr/>
        </p:nvSpPr>
        <p:spPr>
          <a:xfrm>
            <a:off x="736600" y="1168400"/>
            <a:ext cx="812800" cy="50800"/>
          </a:xfrm>
          <a:prstGeom prst="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ea typeface="Microsoft JhengHe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>
              <a:ea typeface="Microsoft JhengHei"/>
            </a:endParaRP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1" i="0">
                <a:solidFill>
                  <a:srgbClr val="C96442"/>
                </a:solidFill>
                <a:latin typeface="Arial"/>
                <a:ea typeface="Microsoft JhengHei"/>
              </a:rPr>
              <a:t>Ch1   認識模板 + 觀念       10 min← 你在這裡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141413"/>
                </a:solidFill>
                <a:latin typeface="Arial"/>
                <a:ea typeface="Microsoft JhengHei"/>
              </a:rPr>
              <a:t>Ch2   專案初始化             12 min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1" i="0">
                <a:solidFill>
                  <a:srgbClr val="D97757"/>
                </a:solidFill>
                <a:latin typeface="Arial"/>
                <a:ea typeface="Microsoft JhengHei"/>
              </a:rPr>
              <a:t>Ch3   開發循環 x3            20 min⭐ 核心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141413"/>
                </a:solidFill>
                <a:latin typeface="Arial"/>
                <a:ea typeface="Microsoft JhengHei"/>
              </a:rPr>
              <a:t>Ch4   品質驗證                10 min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141413"/>
                </a:solidFill>
                <a:latin typeface="Arial"/>
                <a:ea typeface="Microsoft JhengHei"/>
              </a:rPr>
              <a:t>Ch5   進階 + Q&amp;A              8 min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endParaRPr sz="2200" b="0" i="0">
              <a:solidFill>
                <a:srgbClr val="141413"/>
              </a:solidFill>
              <a:latin typeface="Arial"/>
              <a:ea typeface="Microsoft JhengHei"/>
            </a:endParaRP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1" i="0">
                <a:solidFill>
                  <a:srgbClr val="6B7A3F"/>
                </a:solidFill>
                <a:latin typeface="Arial"/>
                <a:ea typeface="Microsoft JhengHei"/>
              </a:rPr>
              <a:t>→  60 分鐘後，你會了工作流 + 一個會串流的聊天機器人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428AEBDF-46FF-4AEA-8407-5BF8D8B140FE}"/>
              </a:ext>
            </a:extLst>
          </p:cNvPr>
          <p:cNvSpPr/>
          <p:nvPr/>
        </p:nvSpPr>
        <p:spPr>
          <a:xfrm>
            <a:off x="736600" y="203200"/>
            <a:ext cx="889000" cy="50800"/>
          </a:xfrm>
          <a:prstGeom prst="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2DBA1628-AB60-40F1-8B88-AC6114E6A104}"/>
              </a:ext>
            </a:extLst>
          </p:cNvPr>
          <p:cNvSpPr/>
          <p:nvPr/>
        </p:nvSpPr>
        <p:spPr>
          <a:xfrm>
            <a:off x="17272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D7D69A98-C586-4D0D-A0BF-121DFA399ECE}"/>
              </a:ext>
            </a:extLst>
          </p:cNvPr>
          <p:cNvSpPr/>
          <p:nvPr/>
        </p:nvSpPr>
        <p:spPr>
          <a:xfrm>
            <a:off x="27178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DE646AE4-510F-47C2-89C8-5304970653E3}"/>
              </a:ext>
            </a:extLst>
          </p:cNvPr>
          <p:cNvSpPr/>
          <p:nvPr/>
        </p:nvSpPr>
        <p:spPr>
          <a:xfrm>
            <a:off x="37084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2F467E42-0EF0-4C12-B5D2-05CA4F1C4F65}"/>
              </a:ext>
            </a:extLst>
          </p:cNvPr>
          <p:cNvSpPr/>
          <p:nvPr/>
        </p:nvSpPr>
        <p:spPr>
          <a:xfrm>
            <a:off x="46990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7D00D9DD-65C0-4013-BDE6-D218CE4157C3}"/>
              </a:ext>
            </a:extLst>
          </p:cNvPr>
          <p:cNvSpPr/>
          <p:nvPr/>
        </p:nvSpPr>
        <p:spPr>
          <a:xfrm>
            <a:off x="10642600" y="304800"/>
            <a:ext cx="787400" cy="330200"/>
          </a:xfrm>
          <a:prstGeom prst="round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altLang="zh-TW" sz="1200" b="1">
                <a:solidFill>
                  <a:srgbClr val="FFFFFF"/>
                </a:solidFill>
                <a:latin typeface="Arial"/>
                <a:ea typeface="Microsoft JhengHei"/>
                <a:cs typeface="Arial"/>
              </a:rPr>
              <a:t>CH 1</a:t>
            </a:r>
            <a:endParaRPr lang="zh-TW" altLang="en-US" sz="1200" b="1">
              <a:solidFill>
                <a:srgbClr val="FFFFFF"/>
              </a:solidFill>
              <a:latin typeface="Arial"/>
              <a:ea typeface="Microsoft JhengHei"/>
              <a:cs typeface="Arial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F555A133-C53D-4B72-8E20-25D0774C7E4E}"/>
              </a:ext>
            </a:extLst>
          </p:cNvPr>
          <p:cNvSpPr txBox="1"/>
          <p:nvPr/>
        </p:nvSpPr>
        <p:spPr>
          <a:xfrm>
            <a:off x="11404600" y="6451600"/>
            <a:ext cx="584200" cy="3048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altLang="zh-TW" sz="1100">
                <a:solidFill>
                  <a:srgbClr val="A8A6A0"/>
                </a:solidFill>
                <a:latin typeface="Arial"/>
                <a:ea typeface="Microsoft JhengHei"/>
                <a:cs typeface="Arial"/>
              </a:rPr>
              <a:t>18</a:t>
            </a:r>
            <a:endParaRPr lang="zh-TW" altLang="en-US" sz="1100">
              <a:solidFill>
                <a:srgbClr val="A8A6A0"/>
              </a:solidFill>
              <a:latin typeface="Arial"/>
              <a:ea typeface="Microsoft JhengHei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03101408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4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文字方塊 8">
            <a:extLst>
              <a:ext uri="{FF2B5EF4-FFF2-40B4-BE49-F238E27FC236}">
                <a16:creationId xmlns:a16="http://schemas.microsoft.com/office/drawing/2014/main" id="{CFF1D8D9-D3CE-4994-84C9-86F3B014A83D}"/>
              </a:ext>
            </a:extLst>
          </p:cNvPr>
          <p:cNvSpPr txBox="1"/>
          <p:nvPr/>
        </p:nvSpPr>
        <p:spPr>
          <a:xfrm>
            <a:off x="6604000" y="1524000"/>
            <a:ext cx="4826000" cy="4318000"/>
          </a:xfrm>
          <a:prstGeom prst="rect">
            <a:avLst/>
          </a:prstGeom>
          <a:noFill/>
        </p:spPr>
        <p:txBody>
          <a:bodyPr vertOverflow="overflow" vert="horz" wrap="none" rtlCol="0" anchor="t" anchorCtr="0">
            <a:noAutofit/>
          </a:bodyPr>
          <a:lstStyle/>
          <a:p>
            <a:pPr algn="r"/>
            <a:r>
              <a:rPr lang="en-US" sz="20000" b="1">
                <a:solidFill>
                  <a:srgbClr val="F0E9E0"/>
                </a:solidFill>
                <a:latin typeface="Georgia"/>
                <a:ea typeface="Microsoft JhengHei"/>
              </a:rPr>
              <a:t>02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1219200" y="2540000"/>
            <a:ext cx="7620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C96442"/>
                </a:solidFill>
                <a:latin typeface="Arial"/>
                <a:ea typeface="Microsoft JhengHei"/>
              </a:rPr>
              <a:t>CHAPTER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19200" y="3022600"/>
            <a:ext cx="8890000" cy="10823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 dirty="0" err="1">
                <a:solidFill>
                  <a:srgbClr val="141413"/>
                </a:solidFill>
                <a:latin typeface="Georgia"/>
                <a:ea typeface="Microsoft JhengHei"/>
              </a:rPr>
              <a:t>專案初始化</a:t>
            </a:r>
            <a:endParaRPr sz="4000" b="1" i="0" dirty="0">
              <a:solidFill>
                <a:srgbClr val="141413"/>
              </a:solidFill>
              <a:latin typeface="Georgia"/>
              <a:ea typeface="Microsoft JhengHei"/>
            </a:endParaRPr>
          </a:p>
          <a:p>
            <a:pPr algn="l">
              <a:spcBef>
                <a:spcPts val="1000"/>
              </a:spcBef>
            </a:pPr>
            <a:r>
              <a:rPr sz="1600" b="0" i="0" dirty="0">
                <a:solidFill>
                  <a:srgbClr val="5E5D59"/>
                </a:solidFill>
                <a:latin typeface="Arial"/>
                <a:ea typeface="Microsoft JhengHei"/>
              </a:rPr>
              <a:t>用 /task-</a:t>
            </a:r>
            <a:r>
              <a:rPr sz="1600" b="0" i="0" dirty="0" err="1">
                <a:solidFill>
                  <a:srgbClr val="5E5D59"/>
                </a:solidFill>
                <a:latin typeface="Arial"/>
                <a:ea typeface="Microsoft JhengHei"/>
              </a:rPr>
              <a:t>init</a:t>
            </a:r>
            <a:r>
              <a:rPr sz="1600" b="0" i="0" dirty="0">
                <a:solidFill>
                  <a:srgbClr val="5E5D59"/>
                </a:solidFill>
                <a:latin typeface="Arial"/>
                <a:ea typeface="Microsoft JhengHei"/>
              </a:rPr>
              <a:t> </a:t>
            </a:r>
            <a:r>
              <a:rPr sz="1600" b="0" i="0" dirty="0" err="1">
                <a:solidFill>
                  <a:srgbClr val="5E5D59"/>
                </a:solidFill>
                <a:latin typeface="Arial"/>
                <a:ea typeface="Microsoft JhengHei"/>
              </a:rPr>
              <a:t>一鍵建立專案文件與任務清單</a:t>
            </a:r>
            <a:endParaRPr sz="1600" b="0" i="0" dirty="0">
              <a:solidFill>
                <a:srgbClr val="5E5D59"/>
              </a:solidFill>
              <a:latin typeface="Arial"/>
              <a:ea typeface="Microsoft JhengHei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4588C16-61E8-4D59-84E8-12E51D67E631}"/>
              </a:ext>
            </a:extLst>
          </p:cNvPr>
          <p:cNvSpPr/>
          <p:nvPr/>
        </p:nvSpPr>
        <p:spPr>
          <a:xfrm>
            <a:off x="914400" y="508000"/>
            <a:ext cx="889000" cy="635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4B173744-8747-455F-A361-4C15772650C5}"/>
              </a:ext>
            </a:extLst>
          </p:cNvPr>
          <p:cNvSpPr/>
          <p:nvPr/>
        </p:nvSpPr>
        <p:spPr>
          <a:xfrm>
            <a:off x="1905000" y="508000"/>
            <a:ext cx="889000" cy="63500"/>
          </a:xfrm>
          <a:prstGeom prst="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7EF46555-9F00-46CB-88E6-2695F45F7399}"/>
              </a:ext>
            </a:extLst>
          </p:cNvPr>
          <p:cNvSpPr/>
          <p:nvPr/>
        </p:nvSpPr>
        <p:spPr>
          <a:xfrm>
            <a:off x="2895600" y="508000"/>
            <a:ext cx="889000" cy="635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F8D40D6C-F6D5-4545-8BCF-E0FC21E2CC77}"/>
              </a:ext>
            </a:extLst>
          </p:cNvPr>
          <p:cNvSpPr/>
          <p:nvPr/>
        </p:nvSpPr>
        <p:spPr>
          <a:xfrm>
            <a:off x="3886200" y="508000"/>
            <a:ext cx="889000" cy="635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5DB07154-3867-442F-A514-CC4E4B88AA40}"/>
              </a:ext>
            </a:extLst>
          </p:cNvPr>
          <p:cNvSpPr/>
          <p:nvPr/>
        </p:nvSpPr>
        <p:spPr>
          <a:xfrm>
            <a:off x="4876800" y="508000"/>
            <a:ext cx="889000" cy="635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2E739088-0F9B-400F-A42D-97785C0334FC}"/>
              </a:ext>
            </a:extLst>
          </p:cNvPr>
          <p:cNvSpPr/>
          <p:nvPr/>
        </p:nvSpPr>
        <p:spPr>
          <a:xfrm>
            <a:off x="914400" y="2603500"/>
            <a:ext cx="76200" cy="1168400"/>
          </a:xfrm>
          <a:prstGeom prst="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7D023C5B-1E47-4FA2-8AC5-A87B02B8D06D}"/>
              </a:ext>
            </a:extLst>
          </p:cNvPr>
          <p:cNvSpPr txBox="1"/>
          <p:nvPr/>
        </p:nvSpPr>
        <p:spPr>
          <a:xfrm>
            <a:off x="11404600" y="6451600"/>
            <a:ext cx="584200" cy="3048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altLang="zh-TW" sz="1100">
                <a:solidFill>
                  <a:srgbClr val="A8A6A0"/>
                </a:solidFill>
                <a:latin typeface="Arial"/>
                <a:ea typeface="Microsoft JhengHei"/>
                <a:cs typeface="Arial"/>
              </a:rPr>
              <a:t>19</a:t>
            </a:r>
            <a:endParaRPr lang="zh-TW" altLang="en-US" sz="1100">
              <a:solidFill>
                <a:srgbClr val="A8A6A0"/>
              </a:solidFill>
              <a:latin typeface="Arial"/>
              <a:ea typeface="Microsoft JhengHei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09917219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4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 dirty="0" err="1">
                <a:solidFill>
                  <a:srgbClr val="141413"/>
                </a:solidFill>
                <a:latin typeface="Georgia"/>
                <a:ea typeface="Microsoft JhengHei"/>
              </a:rPr>
              <a:t>一切從</a:t>
            </a:r>
            <a:r>
              <a:rPr sz="3200" b="1" i="0" dirty="0">
                <a:solidFill>
                  <a:srgbClr val="141413"/>
                </a:solidFill>
                <a:latin typeface="Georgia"/>
                <a:ea typeface="Microsoft JhengHei"/>
              </a:rPr>
              <a:t> /task-</a:t>
            </a:r>
            <a:r>
              <a:rPr sz="3200" b="1" i="0" dirty="0" err="1">
                <a:solidFill>
                  <a:srgbClr val="141413"/>
                </a:solidFill>
                <a:latin typeface="Georgia"/>
                <a:ea typeface="Microsoft JhengHei"/>
              </a:rPr>
              <a:t>init</a:t>
            </a:r>
            <a:r>
              <a:rPr sz="3200" b="1" i="0" dirty="0">
                <a:solidFill>
                  <a:srgbClr val="141413"/>
                </a:solidFill>
                <a:latin typeface="Georgia"/>
                <a:ea typeface="Microsoft JhengHei"/>
              </a:rPr>
              <a:t> </a:t>
            </a:r>
            <a:r>
              <a:rPr sz="3200" b="1" i="0" dirty="0" err="1">
                <a:solidFill>
                  <a:srgbClr val="141413"/>
                </a:solidFill>
                <a:latin typeface="Georgia"/>
                <a:ea typeface="Microsoft JhengHei"/>
              </a:rPr>
              <a:t>開始</a:t>
            </a:r>
            <a:endParaRPr sz="3200" b="1" i="0" dirty="0">
              <a:solidFill>
                <a:srgbClr val="141413"/>
              </a:solidFill>
              <a:latin typeface="Georgia"/>
              <a:ea typeface="Microsoft JhengHei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736600" y="1168400"/>
            <a:ext cx="812800" cy="50800"/>
          </a:xfrm>
          <a:prstGeom prst="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ea typeface="Microsoft JhengHe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>
              <a:ea typeface="Microsoft JhengHei"/>
            </a:endParaRP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400" b="1" i="0" dirty="0" err="1">
                <a:solidFill>
                  <a:srgbClr val="C96442"/>
                </a:solidFill>
                <a:latin typeface="Arial"/>
                <a:ea typeface="Microsoft JhengHei"/>
              </a:rPr>
              <a:t>你輸入</a:t>
            </a:r>
            <a:r>
              <a:rPr sz="2400" b="1" i="0" dirty="0">
                <a:solidFill>
                  <a:srgbClr val="C96442"/>
                </a:solidFill>
                <a:latin typeface="Arial"/>
                <a:ea typeface="Microsoft JhengHei"/>
              </a:rPr>
              <a:t>：  /task-</a:t>
            </a:r>
            <a:r>
              <a:rPr sz="2400" b="1" i="0" dirty="0" err="1">
                <a:solidFill>
                  <a:srgbClr val="C96442"/>
                </a:solidFill>
                <a:latin typeface="Arial"/>
                <a:ea typeface="Microsoft JhengHei"/>
              </a:rPr>
              <a:t>init</a:t>
            </a:r>
            <a:r>
              <a:rPr sz="2400" b="1" i="0" dirty="0">
                <a:solidFill>
                  <a:srgbClr val="C96442"/>
                </a:solidFill>
                <a:latin typeface="Arial"/>
                <a:ea typeface="Microsoft JhengHei"/>
              </a:rPr>
              <a:t> </a:t>
            </a:r>
            <a:r>
              <a:rPr sz="2400" b="1" i="0" dirty="0" err="1">
                <a:solidFill>
                  <a:srgbClr val="C96442"/>
                </a:solidFill>
                <a:latin typeface="Arial"/>
                <a:ea typeface="Microsoft JhengHei"/>
              </a:rPr>
              <a:t>GeminiChat</a:t>
            </a:r>
            <a:endParaRPr sz="2400" b="1" i="0" dirty="0">
              <a:solidFill>
                <a:srgbClr val="C96442"/>
              </a:solidFill>
              <a:latin typeface="Arial"/>
              <a:ea typeface="Microsoft JhengHei"/>
            </a:endParaRPr>
          </a:p>
          <a:p>
            <a:pPr algn="l">
              <a:spcBef>
                <a:spcPts val="0"/>
              </a:spcBef>
              <a:spcAft>
                <a:spcPts val="800"/>
              </a:spcAft>
            </a:pPr>
            <a:endParaRPr sz="2400" b="1" i="0" dirty="0">
              <a:solidFill>
                <a:srgbClr val="C96442"/>
              </a:solidFill>
              <a:latin typeface="Arial"/>
              <a:ea typeface="Microsoft JhengHei"/>
            </a:endParaRP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1" i="0" dirty="0">
                <a:solidFill>
                  <a:srgbClr val="141413"/>
                </a:solidFill>
                <a:latin typeface="Arial"/>
                <a:ea typeface="Microsoft JhengHei"/>
              </a:rPr>
              <a:t>AI </a:t>
            </a:r>
            <a:r>
              <a:rPr sz="2000" b="1" i="0" dirty="0" err="1">
                <a:solidFill>
                  <a:srgbClr val="141413"/>
                </a:solidFill>
                <a:latin typeface="Arial"/>
                <a:ea typeface="Microsoft JhengHei"/>
              </a:rPr>
              <a:t>會做</a:t>
            </a:r>
            <a:r>
              <a:rPr sz="2000" b="1" i="0" dirty="0">
                <a:solidFill>
                  <a:srgbClr val="141413"/>
                </a:solidFill>
                <a:latin typeface="Arial"/>
                <a:ea typeface="Microsoft JhengHei"/>
              </a:rPr>
              <a:t>：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 dirty="0">
                <a:solidFill>
                  <a:srgbClr val="141413"/>
                </a:solidFill>
                <a:latin typeface="Arial"/>
                <a:ea typeface="Microsoft JhengHei"/>
              </a:rPr>
              <a:t>  1.  </a:t>
            </a:r>
            <a:r>
              <a:rPr sz="2000" b="0" i="0" dirty="0" err="1">
                <a:solidFill>
                  <a:srgbClr val="141413"/>
                </a:solidFill>
                <a:latin typeface="Arial"/>
                <a:ea typeface="Microsoft JhengHei"/>
              </a:rPr>
              <a:t>問你一系列問題（互動式</a:t>
            </a:r>
            <a:r>
              <a:rPr sz="2000" b="0" i="0" dirty="0">
                <a:solidFill>
                  <a:srgbClr val="141413"/>
                </a:solidFill>
                <a:latin typeface="Arial"/>
                <a:ea typeface="Microsoft JhengHei"/>
              </a:rPr>
              <a:t> Q&amp;A）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 dirty="0">
                <a:solidFill>
                  <a:srgbClr val="5E5D59"/>
                </a:solidFill>
                <a:latin typeface="Arial"/>
                <a:ea typeface="Microsoft JhengHei"/>
              </a:rPr>
              <a:t>        • </a:t>
            </a:r>
            <a:r>
              <a:rPr sz="1600" b="0" i="0" dirty="0" err="1">
                <a:solidFill>
                  <a:srgbClr val="5E5D59"/>
                </a:solidFill>
                <a:latin typeface="Arial"/>
                <a:ea typeface="Microsoft JhengHei"/>
              </a:rPr>
              <a:t>專案做什麼？用什麼技術？範圍多大</a:t>
            </a:r>
            <a:r>
              <a:rPr sz="1600" b="0" i="0" dirty="0">
                <a:solidFill>
                  <a:srgbClr val="5E5D59"/>
                </a:solidFill>
                <a:latin typeface="Arial"/>
                <a:ea typeface="Microsoft JhengHei"/>
              </a:rPr>
              <a:t>？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 dirty="0">
                <a:solidFill>
                  <a:srgbClr val="141413"/>
                </a:solidFill>
                <a:latin typeface="Arial"/>
                <a:ea typeface="Microsoft JhengHei"/>
              </a:rPr>
              <a:t>  2.  </a:t>
            </a:r>
            <a:r>
              <a:rPr sz="2000" b="0" i="0" dirty="0" err="1">
                <a:solidFill>
                  <a:srgbClr val="141413"/>
                </a:solidFill>
                <a:latin typeface="Arial"/>
                <a:ea typeface="Microsoft JhengHei"/>
              </a:rPr>
              <a:t>根據回答自動產出</a:t>
            </a:r>
            <a:r>
              <a:rPr sz="2000" b="0" i="0" dirty="0">
                <a:solidFill>
                  <a:srgbClr val="141413"/>
                </a:solidFill>
                <a:latin typeface="Arial"/>
                <a:ea typeface="Microsoft JhengHei"/>
              </a:rPr>
              <a:t>：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 dirty="0">
                <a:solidFill>
                  <a:srgbClr val="6B7A3F"/>
                </a:solidFill>
                <a:latin typeface="Arial"/>
                <a:ea typeface="Microsoft JhengHei"/>
              </a:rPr>
              <a:t>        • CLAUDE.md  — </a:t>
            </a:r>
            <a:r>
              <a:rPr sz="1800" b="0" i="0" dirty="0" err="1">
                <a:solidFill>
                  <a:srgbClr val="6B7A3F"/>
                </a:solidFill>
                <a:latin typeface="Arial"/>
                <a:ea typeface="Microsoft JhengHei"/>
              </a:rPr>
              <a:t>專案說明書</a:t>
            </a:r>
            <a:endParaRPr sz="1800" b="0" i="0" dirty="0">
              <a:solidFill>
                <a:srgbClr val="6B7A3F"/>
              </a:solidFill>
              <a:latin typeface="Arial"/>
              <a:ea typeface="Microsoft JhengHei"/>
            </a:endParaRP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 dirty="0">
                <a:solidFill>
                  <a:srgbClr val="6B7A3F"/>
                </a:solidFill>
                <a:latin typeface="Arial"/>
                <a:ea typeface="Microsoft JhengHei"/>
              </a:rPr>
              <a:t>        • wbs.md     — </a:t>
            </a:r>
            <a:r>
              <a:rPr sz="1800" b="0" i="0" dirty="0" err="1">
                <a:solidFill>
                  <a:srgbClr val="6B7A3F"/>
                </a:solidFill>
                <a:latin typeface="Arial"/>
                <a:ea typeface="Microsoft JhengHei"/>
              </a:rPr>
              <a:t>任務拆解</a:t>
            </a:r>
            <a:endParaRPr sz="1800" b="0" i="0" dirty="0">
              <a:solidFill>
                <a:srgbClr val="6B7A3F"/>
              </a:solidFill>
              <a:latin typeface="Arial"/>
              <a:ea typeface="Microsoft JhengHei"/>
            </a:endParaRP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 dirty="0">
                <a:solidFill>
                  <a:srgbClr val="141413"/>
                </a:solidFill>
                <a:latin typeface="Arial"/>
                <a:ea typeface="Microsoft JhengHei"/>
              </a:rPr>
              <a:t>  3.  </a:t>
            </a:r>
            <a:r>
              <a:rPr sz="2000" b="0" i="0" dirty="0" err="1">
                <a:solidFill>
                  <a:srgbClr val="141413"/>
                </a:solidFill>
                <a:latin typeface="Arial"/>
                <a:ea typeface="Microsoft JhengHei"/>
              </a:rPr>
              <a:t>從此</a:t>
            </a:r>
            <a:r>
              <a:rPr sz="2000" b="0" i="0" dirty="0">
                <a:solidFill>
                  <a:srgbClr val="141413"/>
                </a:solidFill>
                <a:latin typeface="Arial"/>
                <a:ea typeface="Microsoft JhengHei"/>
              </a:rPr>
              <a:t> AI </a:t>
            </a:r>
            <a:r>
              <a:rPr sz="2000" b="0" i="0" dirty="0" err="1">
                <a:solidFill>
                  <a:srgbClr val="141413"/>
                </a:solidFill>
                <a:latin typeface="Arial"/>
                <a:ea typeface="Microsoft JhengHei"/>
              </a:rPr>
              <a:t>每次對話都知道你的專案脈絡</a:t>
            </a:r>
            <a:endParaRPr sz="2000" b="0" i="0" dirty="0">
              <a:solidFill>
                <a:srgbClr val="141413"/>
              </a:solidFill>
              <a:latin typeface="Arial"/>
              <a:ea typeface="Microsoft JhengHei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2834DBCB-6132-4181-BD2F-7449805146B2}"/>
              </a:ext>
            </a:extLst>
          </p:cNvPr>
          <p:cNvSpPr/>
          <p:nvPr/>
        </p:nvSpPr>
        <p:spPr>
          <a:xfrm>
            <a:off x="7366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8533238E-FD9E-4C03-A5AB-ECBC1D8D1403}"/>
              </a:ext>
            </a:extLst>
          </p:cNvPr>
          <p:cNvSpPr/>
          <p:nvPr/>
        </p:nvSpPr>
        <p:spPr>
          <a:xfrm>
            <a:off x="1727200" y="203200"/>
            <a:ext cx="889000" cy="50800"/>
          </a:xfrm>
          <a:prstGeom prst="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D5779EA8-B261-4CB8-9773-78542289036A}"/>
              </a:ext>
            </a:extLst>
          </p:cNvPr>
          <p:cNvSpPr/>
          <p:nvPr/>
        </p:nvSpPr>
        <p:spPr>
          <a:xfrm>
            <a:off x="27178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E3167551-6126-46C6-897D-B708937FFA67}"/>
              </a:ext>
            </a:extLst>
          </p:cNvPr>
          <p:cNvSpPr/>
          <p:nvPr/>
        </p:nvSpPr>
        <p:spPr>
          <a:xfrm>
            <a:off x="37084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2090DC43-8DED-455C-84D8-430412D8DC38}"/>
              </a:ext>
            </a:extLst>
          </p:cNvPr>
          <p:cNvSpPr/>
          <p:nvPr/>
        </p:nvSpPr>
        <p:spPr>
          <a:xfrm>
            <a:off x="46990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60FBDB14-3353-447E-9562-DAB043D2E9AC}"/>
              </a:ext>
            </a:extLst>
          </p:cNvPr>
          <p:cNvSpPr/>
          <p:nvPr/>
        </p:nvSpPr>
        <p:spPr>
          <a:xfrm>
            <a:off x="10642600" y="304800"/>
            <a:ext cx="787400" cy="330200"/>
          </a:xfrm>
          <a:prstGeom prst="round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altLang="zh-TW" sz="1200" b="1">
                <a:solidFill>
                  <a:srgbClr val="FFFFFF"/>
                </a:solidFill>
                <a:latin typeface="Arial"/>
                <a:ea typeface="Microsoft JhengHei"/>
                <a:cs typeface="Arial"/>
              </a:rPr>
              <a:t>CH 2</a:t>
            </a:r>
            <a:endParaRPr lang="zh-TW" altLang="en-US" sz="1200" b="1">
              <a:solidFill>
                <a:srgbClr val="FFFFFF"/>
              </a:solidFill>
              <a:latin typeface="Arial"/>
              <a:ea typeface="Microsoft JhengHei"/>
              <a:cs typeface="Arial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BBCCA9FF-0F11-4C1A-9ED3-7ECDD64FF3A2}"/>
              </a:ext>
            </a:extLst>
          </p:cNvPr>
          <p:cNvSpPr txBox="1"/>
          <p:nvPr/>
        </p:nvSpPr>
        <p:spPr>
          <a:xfrm>
            <a:off x="11404600" y="6451600"/>
            <a:ext cx="584200" cy="3048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altLang="zh-TW" sz="1100">
                <a:solidFill>
                  <a:srgbClr val="A8A6A0"/>
                </a:solidFill>
                <a:latin typeface="Arial"/>
                <a:ea typeface="Microsoft JhengHei"/>
                <a:cs typeface="Arial"/>
              </a:rPr>
              <a:t>20</a:t>
            </a:r>
            <a:endParaRPr lang="zh-TW" altLang="en-US" sz="1100">
              <a:solidFill>
                <a:srgbClr val="A8A6A0"/>
              </a:solidFill>
              <a:latin typeface="Arial"/>
              <a:ea typeface="Microsoft JhengHei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62918136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4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矩形: 圓角 13">
            <a:extLst>
              <a:ext uri="{FF2B5EF4-FFF2-40B4-BE49-F238E27FC236}">
                <a16:creationId xmlns:a16="http://schemas.microsoft.com/office/drawing/2014/main" id="{23E4EF65-FFE3-4584-81A5-535CED7FC8A5}"/>
              </a:ext>
            </a:extLst>
          </p:cNvPr>
          <p:cNvSpPr/>
          <p:nvPr/>
        </p:nvSpPr>
        <p:spPr>
          <a:xfrm>
            <a:off x="6273800" y="1371600"/>
            <a:ext cx="5308600" cy="4749800"/>
          </a:xfrm>
          <a:prstGeom prst="roundRect">
            <a:avLst/>
          </a:prstGeom>
          <a:solidFill>
            <a:srgbClr val="F4F5EC"/>
          </a:solidFill>
          <a:ln w="12700" cap="flat" cmpd="sng" algn="ctr">
            <a:solidFill>
              <a:srgbClr val="D2D8BD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13" name="矩形: 圓角 12">
            <a:extLst>
              <a:ext uri="{FF2B5EF4-FFF2-40B4-BE49-F238E27FC236}">
                <a16:creationId xmlns:a16="http://schemas.microsoft.com/office/drawing/2014/main" id="{FB8DBC1C-39FC-49E5-9783-2FBC65655A5B}"/>
              </a:ext>
            </a:extLst>
          </p:cNvPr>
          <p:cNvSpPr/>
          <p:nvPr/>
        </p:nvSpPr>
        <p:spPr>
          <a:xfrm>
            <a:off x="609600" y="1371600"/>
            <a:ext cx="5308600" cy="4749800"/>
          </a:xfrm>
          <a:prstGeom prst="roundRect">
            <a:avLst/>
          </a:prstGeom>
          <a:solidFill>
            <a:srgbClr val="FBF1ED"/>
          </a:solidFill>
          <a:ln w="12700" cap="flat" cmpd="sng" algn="ctr">
            <a:solidFill>
              <a:srgbClr val="E8C9BD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 i="0">
                <a:solidFill>
                  <a:srgbClr val="141413"/>
                </a:solidFill>
                <a:latin typeface="Georgia"/>
                <a:ea typeface="Microsoft JhengHei"/>
              </a:rPr>
              <a:t>demo / mvp / full — 三種文件深度</a:t>
            </a:r>
          </a:p>
        </p:txBody>
      </p:sp>
      <p:sp>
        <p:nvSpPr>
          <p:cNvPr id="3" name="Rectangle 2"/>
          <p:cNvSpPr/>
          <p:nvPr/>
        </p:nvSpPr>
        <p:spPr>
          <a:xfrm>
            <a:off x="736600" y="1168400"/>
            <a:ext cx="812800" cy="50800"/>
          </a:xfrm>
          <a:prstGeom prst="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ea typeface="Microsoft JhengHe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14400" y="1651000"/>
            <a:ext cx="482600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 i="0">
                <a:solidFill>
                  <a:srgbClr val="C96442"/>
                </a:solidFill>
                <a:latin typeface="Arial"/>
                <a:ea typeface="Microsoft JhengHei"/>
              </a:rPr>
              <a:t>mvp 模式← 今天用這個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41413"/>
                </a:solidFill>
                <a:latin typeface="Arial"/>
                <a:ea typeface="Microsoft JhengHei"/>
              </a:rPr>
              <a:t>單檔 Tech Spec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41413"/>
                </a:solidFill>
                <a:latin typeface="Arial"/>
                <a:ea typeface="Microsoft JhengHei"/>
              </a:rPr>
              <a:t>快速驗證想法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41413"/>
                </a:solidFill>
                <a:latin typeface="Arial"/>
                <a:ea typeface="Microsoft JhengHei"/>
              </a:rPr>
              <a:t>1-2 人小專案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41413"/>
                </a:solidFill>
                <a:latin typeface="Arial"/>
                <a:ea typeface="Microsoft JhengHei"/>
              </a:rPr>
              <a:t>（更快可選 demo：精簡 PRD）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endParaRPr sz="1800" b="0" i="0">
              <a:solidFill>
                <a:srgbClr val="141413"/>
              </a:solidFill>
              <a:latin typeface="Arial"/>
              <a:ea typeface="Microsoft JhengHei"/>
            </a:endParaRP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5E5D59"/>
                </a:solidFill>
                <a:latin typeface="Arial"/>
                <a:ea typeface="Microsoft JhengHei"/>
              </a:rPr>
              <a:t>隨時可升級為 full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04000" y="1651000"/>
            <a:ext cx="482600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 i="0" dirty="0">
                <a:solidFill>
                  <a:srgbClr val="6B7A3F"/>
                </a:solidFill>
                <a:latin typeface="Arial"/>
                <a:ea typeface="Microsoft JhengHei"/>
              </a:rPr>
              <a:t>full </a:t>
            </a:r>
            <a:r>
              <a:rPr sz="2200" b="1" i="0" dirty="0" err="1">
                <a:solidFill>
                  <a:srgbClr val="6B7A3F"/>
                </a:solidFill>
                <a:latin typeface="Arial"/>
                <a:ea typeface="Microsoft JhengHei"/>
              </a:rPr>
              <a:t>模式</a:t>
            </a:r>
            <a:endParaRPr sz="2200" b="1" i="0" dirty="0">
              <a:solidFill>
                <a:srgbClr val="6B7A3F"/>
              </a:solidFill>
              <a:latin typeface="Arial"/>
              <a:ea typeface="Microsoft JhengHei"/>
            </a:endParaRP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800" b="0" i="0" dirty="0" err="1">
                <a:solidFill>
                  <a:srgbClr val="141413"/>
                </a:solidFill>
                <a:latin typeface="Arial"/>
                <a:ea typeface="Microsoft JhengHei"/>
              </a:rPr>
              <a:t>完整</a:t>
            </a:r>
            <a:r>
              <a:rPr sz="1800" b="0" i="0" dirty="0">
                <a:solidFill>
                  <a:srgbClr val="141413"/>
                </a:solidFill>
                <a:latin typeface="Arial"/>
                <a:ea typeface="Microsoft JhengHei"/>
              </a:rPr>
              <a:t> 16 </a:t>
            </a:r>
            <a:r>
              <a:rPr sz="1800" b="0" i="0" dirty="0" err="1">
                <a:solidFill>
                  <a:srgbClr val="141413"/>
                </a:solidFill>
                <a:latin typeface="Arial"/>
                <a:ea typeface="Microsoft JhengHei"/>
              </a:rPr>
              <a:t>份文件</a:t>
            </a:r>
            <a:endParaRPr sz="1800" b="0" i="0" dirty="0">
              <a:solidFill>
                <a:srgbClr val="141413"/>
              </a:solidFill>
              <a:latin typeface="Arial"/>
              <a:ea typeface="Microsoft JhengHei"/>
            </a:endParaRP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800" b="0" i="0" dirty="0" err="1">
                <a:solidFill>
                  <a:srgbClr val="141413"/>
                </a:solidFill>
                <a:latin typeface="Arial"/>
                <a:ea typeface="Microsoft JhengHei"/>
              </a:rPr>
              <a:t>每個決策有文件記錄</a:t>
            </a:r>
            <a:endParaRPr sz="1800" b="0" i="0" dirty="0">
              <a:solidFill>
                <a:srgbClr val="141413"/>
              </a:solidFill>
              <a:latin typeface="Arial"/>
              <a:ea typeface="Microsoft JhengHei"/>
            </a:endParaRP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800" b="0" i="0" dirty="0">
                <a:solidFill>
                  <a:srgbClr val="141413"/>
                </a:solidFill>
                <a:latin typeface="Arial"/>
                <a:ea typeface="Microsoft JhengHei"/>
              </a:rPr>
              <a:t>3+ </a:t>
            </a:r>
            <a:r>
              <a:rPr sz="1800" b="0" i="0" dirty="0" err="1">
                <a:solidFill>
                  <a:srgbClr val="141413"/>
                </a:solidFill>
                <a:latin typeface="Arial"/>
                <a:ea typeface="Microsoft JhengHei"/>
              </a:rPr>
              <a:t>人團隊專案</a:t>
            </a:r>
            <a:endParaRPr sz="1800" b="0" i="0" dirty="0">
              <a:solidFill>
                <a:srgbClr val="141413"/>
              </a:solidFill>
              <a:latin typeface="Arial"/>
              <a:ea typeface="Microsoft JhengHei"/>
            </a:endParaRP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800" b="0" i="0" dirty="0" err="1">
                <a:solidFill>
                  <a:srgbClr val="141413"/>
                </a:solidFill>
                <a:latin typeface="Arial"/>
                <a:ea typeface="Microsoft JhengHei"/>
              </a:rPr>
              <a:t>正式產品</a:t>
            </a:r>
            <a:r>
              <a:rPr sz="1800" b="0" i="0" dirty="0">
                <a:solidFill>
                  <a:srgbClr val="141413"/>
                </a:solidFill>
                <a:latin typeface="Arial"/>
                <a:ea typeface="Microsoft JhengHei"/>
              </a:rPr>
              <a:t> / </a:t>
            </a:r>
            <a:r>
              <a:rPr sz="1800" b="0" i="0" dirty="0" err="1">
                <a:solidFill>
                  <a:srgbClr val="141413"/>
                </a:solidFill>
                <a:latin typeface="Arial"/>
                <a:ea typeface="Microsoft JhengHei"/>
              </a:rPr>
              <a:t>合規需求</a:t>
            </a:r>
            <a:endParaRPr sz="1800" b="0" i="0" dirty="0">
              <a:solidFill>
                <a:srgbClr val="141413"/>
              </a:solidFill>
              <a:latin typeface="Arial"/>
              <a:ea typeface="Microsoft JhengHei"/>
            </a:endParaRPr>
          </a:p>
          <a:p>
            <a:pPr algn="l">
              <a:spcBef>
                <a:spcPts val="0"/>
              </a:spcBef>
              <a:spcAft>
                <a:spcPts val="1200"/>
              </a:spcAft>
            </a:pPr>
            <a:endParaRPr sz="1800" b="0" i="0" dirty="0">
              <a:solidFill>
                <a:srgbClr val="141413"/>
              </a:solidFill>
              <a:latin typeface="Arial"/>
              <a:ea typeface="Microsoft JhengHei"/>
            </a:endParaRP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800" b="0" i="0" dirty="0" err="1">
                <a:solidFill>
                  <a:srgbClr val="5E5D59"/>
                </a:solidFill>
                <a:latin typeface="Arial"/>
                <a:ea typeface="Microsoft JhengHei"/>
              </a:rPr>
              <a:t>大專案、正式產品用這個</a:t>
            </a:r>
            <a:endParaRPr sz="1800" b="0" i="0" dirty="0">
              <a:solidFill>
                <a:srgbClr val="5E5D59"/>
              </a:solidFill>
              <a:latin typeface="Arial"/>
              <a:ea typeface="Microsoft JhengHei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F33A3A6C-193D-4D9F-BE8C-C2783A8E5BB0}"/>
              </a:ext>
            </a:extLst>
          </p:cNvPr>
          <p:cNvSpPr/>
          <p:nvPr/>
        </p:nvSpPr>
        <p:spPr>
          <a:xfrm>
            <a:off x="7366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BB03B8E-FA58-415B-A40C-0BB9650E5980}"/>
              </a:ext>
            </a:extLst>
          </p:cNvPr>
          <p:cNvSpPr/>
          <p:nvPr/>
        </p:nvSpPr>
        <p:spPr>
          <a:xfrm>
            <a:off x="1727200" y="203200"/>
            <a:ext cx="889000" cy="50800"/>
          </a:xfrm>
          <a:prstGeom prst="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9A42FD35-2415-41B3-A64E-03B2DB983E2F}"/>
              </a:ext>
            </a:extLst>
          </p:cNvPr>
          <p:cNvSpPr/>
          <p:nvPr/>
        </p:nvSpPr>
        <p:spPr>
          <a:xfrm>
            <a:off x="27178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983C494-9DA0-4154-8612-A8F375D3FE54}"/>
              </a:ext>
            </a:extLst>
          </p:cNvPr>
          <p:cNvSpPr/>
          <p:nvPr/>
        </p:nvSpPr>
        <p:spPr>
          <a:xfrm>
            <a:off x="37084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6E21219E-CFAE-4E7A-9D51-7B81084628FC}"/>
              </a:ext>
            </a:extLst>
          </p:cNvPr>
          <p:cNvSpPr/>
          <p:nvPr/>
        </p:nvSpPr>
        <p:spPr>
          <a:xfrm>
            <a:off x="46990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12" name="矩形: 圓角 11">
            <a:extLst>
              <a:ext uri="{FF2B5EF4-FFF2-40B4-BE49-F238E27FC236}">
                <a16:creationId xmlns:a16="http://schemas.microsoft.com/office/drawing/2014/main" id="{63FE1F17-D6D9-43A2-89F7-F0239E5C8D67}"/>
              </a:ext>
            </a:extLst>
          </p:cNvPr>
          <p:cNvSpPr/>
          <p:nvPr/>
        </p:nvSpPr>
        <p:spPr>
          <a:xfrm>
            <a:off x="10642600" y="304800"/>
            <a:ext cx="787400" cy="330200"/>
          </a:xfrm>
          <a:prstGeom prst="round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altLang="zh-TW" sz="1200" b="1">
                <a:solidFill>
                  <a:srgbClr val="FFFFFF"/>
                </a:solidFill>
                <a:latin typeface="Arial"/>
                <a:ea typeface="Microsoft JhengHei"/>
                <a:cs typeface="Arial"/>
              </a:rPr>
              <a:t>CH 2</a:t>
            </a:r>
            <a:endParaRPr lang="zh-TW" altLang="en-US" sz="1200" b="1">
              <a:solidFill>
                <a:srgbClr val="FFFFFF"/>
              </a:solidFill>
              <a:latin typeface="Arial"/>
              <a:ea typeface="Microsoft JhengHei"/>
              <a:cs typeface="Arial"/>
            </a:endParaRP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78C6BC7A-E12B-4678-B795-91BBF3839720}"/>
              </a:ext>
            </a:extLst>
          </p:cNvPr>
          <p:cNvSpPr txBox="1"/>
          <p:nvPr/>
        </p:nvSpPr>
        <p:spPr>
          <a:xfrm>
            <a:off x="11404600" y="6451600"/>
            <a:ext cx="584200" cy="3048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altLang="zh-TW" sz="1100">
                <a:solidFill>
                  <a:srgbClr val="A8A6A0"/>
                </a:solidFill>
                <a:latin typeface="Arial"/>
                <a:ea typeface="Microsoft JhengHei"/>
                <a:cs typeface="Arial"/>
              </a:rPr>
              <a:t>21</a:t>
            </a:r>
            <a:endParaRPr lang="zh-TW" altLang="en-US" sz="1100">
              <a:solidFill>
                <a:srgbClr val="A8A6A0"/>
              </a:solidFill>
              <a:latin typeface="Arial"/>
              <a:ea typeface="Microsoft JhengHei"/>
              <a:cs typeface="Arial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2DAE0382-BEA9-4866-9503-5EA7DE0C3646}"/>
              </a:ext>
            </a:extLst>
          </p:cNvPr>
          <p:cNvSpPr/>
          <p:nvPr/>
        </p:nvSpPr>
        <p:spPr>
          <a:xfrm>
            <a:off x="6070600" y="1778000"/>
            <a:ext cx="38100" cy="3937000"/>
          </a:xfrm>
          <a:prstGeom prst="rect">
            <a:avLst/>
          </a:prstGeom>
          <a:solidFill>
            <a:srgbClr val="D8D3CA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16" name="橢圓 15">
            <a:extLst>
              <a:ext uri="{FF2B5EF4-FFF2-40B4-BE49-F238E27FC236}">
                <a16:creationId xmlns:a16="http://schemas.microsoft.com/office/drawing/2014/main" id="{A2C2C1DF-5E1C-4543-A05F-75E7DDD300D1}"/>
              </a:ext>
            </a:extLst>
          </p:cNvPr>
          <p:cNvSpPr/>
          <p:nvPr/>
        </p:nvSpPr>
        <p:spPr>
          <a:xfrm>
            <a:off x="5803900" y="3556000"/>
            <a:ext cx="584200" cy="584200"/>
          </a:xfrm>
          <a:prstGeom prst="ellipse">
            <a:avLst/>
          </a:prstGeom>
          <a:solidFill>
            <a:srgbClr val="C96442"/>
          </a:solidFill>
          <a:ln w="25400" cap="flat" cmpd="sng" algn="ctr">
            <a:solidFill>
              <a:srgbClr val="FFFFFF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altLang="zh-TW" sz="1400" b="1">
                <a:solidFill>
                  <a:srgbClr val="FFFFFF"/>
                </a:solidFill>
                <a:latin typeface="Arial"/>
                <a:ea typeface="Microsoft JhengHei"/>
                <a:cs typeface="Arial"/>
              </a:rPr>
              <a:t>VS</a:t>
            </a:r>
            <a:endParaRPr lang="zh-TW" altLang="en-US" sz="1400" b="1">
              <a:solidFill>
                <a:srgbClr val="FFFFFF"/>
              </a:solidFill>
              <a:latin typeface="Arial"/>
              <a:ea typeface="Microsoft JhengHei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57015105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4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41413"/>
                </a:solidFill>
                <a:latin typeface="Georgia"/>
                <a:ea typeface="Microsoft JhengHei"/>
              </a:rPr>
              <a:t>CLAUDE.md = 專案的「身分證」</a:t>
            </a:r>
          </a:p>
        </p:txBody>
      </p:sp>
      <p:sp>
        <p:nvSpPr>
          <p:cNvPr id="3" name="Rectangle 2"/>
          <p:cNvSpPr/>
          <p:nvPr/>
        </p:nvSpPr>
        <p:spPr>
          <a:xfrm>
            <a:off x="736600" y="1168400"/>
            <a:ext cx="812800" cy="50800"/>
          </a:xfrm>
          <a:prstGeom prst="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ea typeface="Microsoft JhengHe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>
              <a:ea typeface="Microsoft JhengHei"/>
            </a:endParaRP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1" i="0">
                <a:solidFill>
                  <a:srgbClr val="C96442"/>
                </a:solidFill>
                <a:latin typeface="Arial"/>
                <a:ea typeface="Microsoft JhengHei"/>
              </a:rPr>
              <a:t>AI 每次對話都會自動讀取這份檔案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endParaRPr sz="2000" b="1" i="0">
              <a:solidFill>
                <a:srgbClr val="C96442"/>
              </a:solidFill>
              <a:latin typeface="Arial"/>
              <a:ea typeface="Microsoft JhengHei"/>
            </a:endParaRP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41413"/>
                </a:solidFill>
                <a:latin typeface="Arial"/>
                <a:ea typeface="Microsoft JhengHei"/>
              </a:rPr>
              <a:t>•  知道專案用什麼技術棧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41413"/>
                </a:solidFill>
                <a:latin typeface="Arial"/>
                <a:ea typeface="Microsoft JhengHei"/>
              </a:rPr>
              <a:t>•  知道程式碼規範（命名、風格）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41413"/>
                </a:solidFill>
                <a:latin typeface="Arial"/>
                <a:ea typeface="Microsoft JhengHei"/>
              </a:rPr>
              <a:t>•  知道目錄結構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41413"/>
                </a:solidFill>
                <a:latin typeface="Arial"/>
                <a:ea typeface="Microsoft JhengHei"/>
              </a:rPr>
              <a:t>•  知道測試策略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41413"/>
                </a:solidFill>
                <a:latin typeface="Arial"/>
                <a:ea typeface="Microsoft JhengHei"/>
              </a:rPr>
              <a:t>•  知道部署方式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endParaRPr sz="2000" b="0" i="0">
              <a:solidFill>
                <a:srgbClr val="141413"/>
              </a:solidFill>
              <a:latin typeface="Arial"/>
              <a:ea typeface="Microsoft JhengHei"/>
            </a:endParaRP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6B7A3F"/>
                </a:solidFill>
                <a:latin typeface="Arial"/>
                <a:ea typeface="Microsoft JhengHei"/>
              </a:rPr>
              <a:t>→  你不需要每次重新解釋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6B7A3F"/>
                </a:solidFill>
                <a:latin typeface="Arial"/>
                <a:ea typeface="Microsoft JhengHei"/>
              </a:rPr>
              <a:t>→  團隊成員接手也能立刻上手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16936701-DA97-4D8C-BD3B-4B1830E8A64D}"/>
              </a:ext>
            </a:extLst>
          </p:cNvPr>
          <p:cNvSpPr/>
          <p:nvPr/>
        </p:nvSpPr>
        <p:spPr>
          <a:xfrm>
            <a:off x="7366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20040900-EEB4-4A0A-9FA7-8E2C8002FDE2}"/>
              </a:ext>
            </a:extLst>
          </p:cNvPr>
          <p:cNvSpPr/>
          <p:nvPr/>
        </p:nvSpPr>
        <p:spPr>
          <a:xfrm>
            <a:off x="1727200" y="203200"/>
            <a:ext cx="889000" cy="50800"/>
          </a:xfrm>
          <a:prstGeom prst="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117B2AF1-A469-4716-B6F1-10C7829E3E19}"/>
              </a:ext>
            </a:extLst>
          </p:cNvPr>
          <p:cNvSpPr/>
          <p:nvPr/>
        </p:nvSpPr>
        <p:spPr>
          <a:xfrm>
            <a:off x="27178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4A1E2603-ECE0-4C03-B6B0-C4000FB64540}"/>
              </a:ext>
            </a:extLst>
          </p:cNvPr>
          <p:cNvSpPr/>
          <p:nvPr/>
        </p:nvSpPr>
        <p:spPr>
          <a:xfrm>
            <a:off x="37084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258634F9-42A1-40F8-912E-B7E148B73B04}"/>
              </a:ext>
            </a:extLst>
          </p:cNvPr>
          <p:cNvSpPr/>
          <p:nvPr/>
        </p:nvSpPr>
        <p:spPr>
          <a:xfrm>
            <a:off x="46990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5855A360-A1B9-4C7D-9097-B17143B2752E}"/>
              </a:ext>
            </a:extLst>
          </p:cNvPr>
          <p:cNvSpPr/>
          <p:nvPr/>
        </p:nvSpPr>
        <p:spPr>
          <a:xfrm>
            <a:off x="10642600" y="304800"/>
            <a:ext cx="787400" cy="330200"/>
          </a:xfrm>
          <a:prstGeom prst="round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altLang="zh-TW" sz="1200" b="1">
                <a:solidFill>
                  <a:srgbClr val="FFFFFF"/>
                </a:solidFill>
                <a:latin typeface="Arial"/>
                <a:ea typeface="Microsoft JhengHei"/>
                <a:cs typeface="Arial"/>
              </a:rPr>
              <a:t>CH 2</a:t>
            </a:r>
            <a:endParaRPr lang="zh-TW" altLang="en-US" sz="1200" b="1">
              <a:solidFill>
                <a:srgbClr val="FFFFFF"/>
              </a:solidFill>
              <a:latin typeface="Arial"/>
              <a:ea typeface="Microsoft JhengHei"/>
              <a:cs typeface="Arial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FD4BDC6D-2E4D-4329-9CFA-89CAF68C3D22}"/>
              </a:ext>
            </a:extLst>
          </p:cNvPr>
          <p:cNvSpPr txBox="1"/>
          <p:nvPr/>
        </p:nvSpPr>
        <p:spPr>
          <a:xfrm>
            <a:off x="11404600" y="6451600"/>
            <a:ext cx="584200" cy="3048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altLang="zh-TW" sz="1100">
                <a:solidFill>
                  <a:srgbClr val="A8A6A0"/>
                </a:solidFill>
                <a:latin typeface="Arial"/>
                <a:ea typeface="Microsoft JhengHei"/>
                <a:cs typeface="Arial"/>
              </a:rPr>
              <a:t>22</a:t>
            </a:r>
            <a:endParaRPr lang="zh-TW" altLang="en-US" sz="1100">
              <a:solidFill>
                <a:srgbClr val="A8A6A0"/>
              </a:solidFill>
              <a:latin typeface="Arial"/>
              <a:ea typeface="Microsoft JhengHei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9571805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4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41413"/>
                </a:solidFill>
                <a:latin typeface="Georgia"/>
                <a:ea typeface="Microsoft JhengHei"/>
              </a:rPr>
              <a:t>WBS = 自動拆解的任務清單</a:t>
            </a:r>
          </a:p>
        </p:txBody>
      </p:sp>
      <p:sp>
        <p:nvSpPr>
          <p:cNvPr id="3" name="Rectangle 2"/>
          <p:cNvSpPr/>
          <p:nvPr/>
        </p:nvSpPr>
        <p:spPr>
          <a:xfrm>
            <a:off x="736600" y="1168400"/>
            <a:ext cx="812800" cy="50800"/>
          </a:xfrm>
          <a:prstGeom prst="rect">
            <a:avLst/>
          </a:prstGeom>
          <a:solidFill>
            <a:srgbClr val="C96442"/>
          </a:solidFill>
          <a:ln w="12700" cap="flat" cmpd="sng" algn="ctr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ea typeface="Microsoft JhengHe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C96442"/>
                </a:solidFill>
                <a:latin typeface="Consolas"/>
                <a:ea typeface="Microsoft JhengHei"/>
              </a:rPr>
              <a:t>1.0 專案管理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3D3D3A"/>
                </a:solidFill>
                <a:latin typeface="Consolas"/>
                <a:ea typeface="Microsoft JhengHei"/>
              </a:rPr>
              <a:t>├── 1.1 需求分析          ← /task-init 產出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3D3D3A"/>
                </a:solidFill>
                <a:latin typeface="Consolas"/>
                <a:ea typeface="Microsoft JhengHei"/>
              </a:rPr>
              <a:t>└── 1.2 架構設計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endParaRPr sz="1600" b="0" i="0">
              <a:solidFill>
                <a:srgbClr val="3D3D3A"/>
              </a:solidFill>
              <a:latin typeface="Consolas"/>
              <a:ea typeface="Microsoft JhengHei"/>
            </a:endParaRP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C96442"/>
                </a:solidFill>
                <a:latin typeface="Consolas"/>
                <a:ea typeface="Microsoft JhengHei"/>
              </a:rPr>
              <a:t>2.0 後端串流 API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6B7A3F"/>
                </a:solidFill>
                <a:latin typeface="Consolas"/>
                <a:ea typeface="Microsoft JhengHei"/>
              </a:rPr>
              <a:t>├── 2.1 FastAPI+Gemini 架構          ← /task-next 會指派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3D3D3A"/>
                </a:solidFill>
                <a:latin typeface="Consolas"/>
                <a:ea typeface="Microsoft JhengHei"/>
              </a:rPr>
              <a:t>├── 2.2 /api/chat SSE 串流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3D3D3A"/>
                </a:solidFill>
                <a:latin typeface="Consolas"/>
                <a:ea typeface="Microsoft JhengHei"/>
              </a:rPr>
              <a:t>└── 2.3 多輪對話歷史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endParaRPr sz="1600" b="0" i="0">
              <a:solidFill>
                <a:srgbClr val="3D3D3A"/>
              </a:solidFill>
              <a:latin typeface="Consolas"/>
              <a:ea typeface="Microsoft JhengHei"/>
            </a:endParaRP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C96442"/>
                </a:solidFill>
                <a:latin typeface="Consolas"/>
                <a:ea typeface="Microsoft JhengHei"/>
              </a:rPr>
              <a:t>3.0 前端聊天 UI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3D3D3A"/>
                </a:solidFill>
                <a:latin typeface="Consolas"/>
                <a:ea typeface="Microsoft JhengHei"/>
              </a:rPr>
              <a:t>├── 3.1 單頁骨架 + 樣式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3D3D3A"/>
                </a:solidFill>
                <a:latin typeface="Consolas"/>
                <a:ea typeface="Microsoft JhengHei"/>
              </a:rPr>
              <a:t>└── 3.2 SSE 逐字串流顯示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endParaRPr sz="1600" b="0" i="0">
              <a:solidFill>
                <a:srgbClr val="3D3D3A"/>
              </a:solidFill>
              <a:latin typeface="Consolas"/>
              <a:ea typeface="Microsoft JhengHei"/>
            </a:endParaRP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5E5D59"/>
                </a:solidFill>
                <a:latin typeface="Consolas"/>
                <a:ea typeface="Microsoft JhengHei"/>
              </a:rPr>
              <a:t>每個任務有：編號 │ 負責人 │ 狀態 │ 工時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F3CD682F-372C-4921-A8D9-FEAEBCEBEC41}"/>
              </a:ext>
            </a:extLst>
          </p:cNvPr>
          <p:cNvSpPr/>
          <p:nvPr/>
        </p:nvSpPr>
        <p:spPr>
          <a:xfrm>
            <a:off x="7366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DBC4272E-F882-43C5-A087-DC0D9414A628}"/>
              </a:ext>
            </a:extLst>
          </p:cNvPr>
          <p:cNvSpPr/>
          <p:nvPr/>
        </p:nvSpPr>
        <p:spPr>
          <a:xfrm>
            <a:off x="1727200" y="203200"/>
            <a:ext cx="889000" cy="50800"/>
          </a:xfrm>
          <a:prstGeom prst="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A48C8CF8-1379-4BFE-A177-A647EF582A10}"/>
              </a:ext>
            </a:extLst>
          </p:cNvPr>
          <p:cNvSpPr/>
          <p:nvPr/>
        </p:nvSpPr>
        <p:spPr>
          <a:xfrm>
            <a:off x="27178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8BD0B248-A1B9-41DC-95F4-216E6BB2589D}"/>
              </a:ext>
            </a:extLst>
          </p:cNvPr>
          <p:cNvSpPr/>
          <p:nvPr/>
        </p:nvSpPr>
        <p:spPr>
          <a:xfrm>
            <a:off x="37084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207F4A3D-0737-470C-87EB-7257B43C8F4A}"/>
              </a:ext>
            </a:extLst>
          </p:cNvPr>
          <p:cNvSpPr/>
          <p:nvPr/>
        </p:nvSpPr>
        <p:spPr>
          <a:xfrm>
            <a:off x="46990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31044569-E6B0-473F-81A9-52612780CCEA}"/>
              </a:ext>
            </a:extLst>
          </p:cNvPr>
          <p:cNvSpPr/>
          <p:nvPr/>
        </p:nvSpPr>
        <p:spPr>
          <a:xfrm>
            <a:off x="10642600" y="304800"/>
            <a:ext cx="787400" cy="330200"/>
          </a:xfrm>
          <a:prstGeom prst="round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altLang="zh-TW" sz="1200" b="1">
                <a:solidFill>
                  <a:srgbClr val="FFFFFF"/>
                </a:solidFill>
                <a:latin typeface="Arial"/>
                <a:ea typeface="Microsoft JhengHei"/>
                <a:cs typeface="Arial"/>
              </a:rPr>
              <a:t>CH 2</a:t>
            </a:r>
            <a:endParaRPr lang="zh-TW" altLang="en-US" sz="1200" b="1">
              <a:solidFill>
                <a:srgbClr val="FFFFFF"/>
              </a:solidFill>
              <a:latin typeface="Arial"/>
              <a:ea typeface="Microsoft JhengHei"/>
              <a:cs typeface="Arial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C648BA78-7C58-4225-A302-39FC3A85A85E}"/>
              </a:ext>
            </a:extLst>
          </p:cNvPr>
          <p:cNvSpPr txBox="1"/>
          <p:nvPr/>
        </p:nvSpPr>
        <p:spPr>
          <a:xfrm>
            <a:off x="11404600" y="6451600"/>
            <a:ext cx="584200" cy="3048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altLang="zh-TW" sz="1100">
                <a:solidFill>
                  <a:srgbClr val="A8A6A0"/>
                </a:solidFill>
                <a:latin typeface="Arial"/>
                <a:ea typeface="Microsoft JhengHei"/>
                <a:cs typeface="Arial"/>
              </a:rPr>
              <a:t>23</a:t>
            </a:r>
            <a:endParaRPr lang="zh-TW" altLang="en-US" sz="1100">
              <a:solidFill>
                <a:srgbClr val="A8A6A0"/>
              </a:solidFill>
              <a:latin typeface="Arial"/>
              <a:ea typeface="Microsoft JhengHei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2481394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4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 dirty="0">
                <a:solidFill>
                  <a:srgbClr val="141413"/>
                </a:solidFill>
                <a:latin typeface="Georgia"/>
                <a:ea typeface="Microsoft JhengHei"/>
              </a:rPr>
              <a:t>⚡ </a:t>
            </a:r>
            <a:r>
              <a:rPr sz="3000" b="1" i="0" dirty="0" err="1">
                <a:solidFill>
                  <a:srgbClr val="141413"/>
                </a:solidFill>
                <a:latin typeface="Georgia"/>
                <a:ea typeface="Microsoft JhengHei"/>
              </a:rPr>
              <a:t>現場操作</a:t>
            </a:r>
            <a:r>
              <a:rPr sz="3000" b="1" i="0" dirty="0">
                <a:solidFill>
                  <a:srgbClr val="141413"/>
                </a:solidFill>
                <a:latin typeface="Georgia"/>
                <a:ea typeface="Microsoft JhengHei"/>
              </a:rPr>
              <a:t> — /task-</a:t>
            </a:r>
            <a:r>
              <a:rPr sz="3000" b="1" i="0" dirty="0" err="1">
                <a:solidFill>
                  <a:srgbClr val="141413"/>
                </a:solidFill>
                <a:latin typeface="Georgia"/>
                <a:ea typeface="Microsoft JhengHei"/>
              </a:rPr>
              <a:t>init</a:t>
            </a:r>
            <a:endParaRPr sz="3000" b="1" i="0" dirty="0">
              <a:solidFill>
                <a:srgbClr val="141413"/>
              </a:solidFill>
              <a:latin typeface="Georgia"/>
              <a:ea typeface="Microsoft JhengHei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736600" y="1168400"/>
            <a:ext cx="812800" cy="50800"/>
          </a:xfrm>
          <a:prstGeom prst="rect">
            <a:avLst/>
          </a:prstGeom>
          <a:solidFill>
            <a:srgbClr val="C96442"/>
          </a:solidFill>
          <a:ln w="12700" cap="flat" cmpd="sng" algn="ctr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ea typeface="Microsoft JhengHe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 dirty="0">
                <a:solidFill>
                  <a:srgbClr val="5E5D59"/>
                </a:solidFill>
                <a:latin typeface="Consolas"/>
                <a:ea typeface="Microsoft JhengHei"/>
              </a:rPr>
              <a:t># 1. </a:t>
            </a:r>
            <a:r>
              <a:rPr sz="1600" b="0" i="0" dirty="0" err="1">
                <a:solidFill>
                  <a:srgbClr val="5E5D59"/>
                </a:solidFill>
                <a:latin typeface="Consolas"/>
                <a:ea typeface="Microsoft JhengHei"/>
              </a:rPr>
              <a:t>打開終端機</a:t>
            </a:r>
            <a:endParaRPr sz="1600" b="0" i="0" dirty="0">
              <a:solidFill>
                <a:srgbClr val="5E5D59"/>
              </a:solidFill>
              <a:latin typeface="Consolas"/>
              <a:ea typeface="Microsoft JhengHei"/>
            </a:endParaRP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 dirty="0">
                <a:solidFill>
                  <a:srgbClr val="141413"/>
                </a:solidFill>
                <a:latin typeface="Consolas"/>
                <a:ea typeface="Microsoft JhengHei"/>
              </a:rPr>
              <a:t>cd /your/workspace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 dirty="0" err="1">
                <a:solidFill>
                  <a:srgbClr val="C96442"/>
                </a:solidFill>
                <a:latin typeface="Consolas"/>
                <a:ea typeface="Microsoft JhengHei"/>
              </a:rPr>
              <a:t>claude</a:t>
            </a:r>
            <a:endParaRPr sz="1600" b="0" i="0" dirty="0">
              <a:solidFill>
                <a:srgbClr val="C96442"/>
              </a:solidFill>
              <a:latin typeface="Consolas"/>
              <a:ea typeface="Microsoft JhengHei"/>
            </a:endParaRPr>
          </a:p>
          <a:p>
            <a:pPr>
              <a:spcBef>
                <a:spcPts val="0"/>
              </a:spcBef>
              <a:spcAft>
                <a:spcPts val="200"/>
              </a:spcAft>
            </a:pPr>
            <a:endParaRPr sz="1600" b="0" i="0" dirty="0">
              <a:solidFill>
                <a:srgbClr val="C96442"/>
              </a:solidFill>
              <a:latin typeface="Consolas"/>
              <a:ea typeface="Microsoft JhengHei"/>
            </a:endParaRP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 dirty="0">
                <a:solidFill>
                  <a:srgbClr val="5E5D59"/>
                </a:solidFill>
                <a:latin typeface="Consolas"/>
                <a:ea typeface="Microsoft JhengHei"/>
              </a:rPr>
              <a:t># 2. </a:t>
            </a:r>
            <a:r>
              <a:rPr sz="1600" b="0" i="0" dirty="0" err="1">
                <a:solidFill>
                  <a:srgbClr val="5E5D59"/>
                </a:solidFill>
                <a:latin typeface="Consolas"/>
                <a:ea typeface="Microsoft JhengHei"/>
              </a:rPr>
              <a:t>執行初始化</a:t>
            </a:r>
            <a:endParaRPr sz="1600" b="0" i="0" dirty="0">
              <a:solidFill>
                <a:srgbClr val="5E5D59"/>
              </a:solidFill>
              <a:latin typeface="Consolas"/>
              <a:ea typeface="Microsoft JhengHei"/>
            </a:endParaRP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 dirty="0">
                <a:solidFill>
                  <a:srgbClr val="C96442"/>
                </a:solidFill>
                <a:latin typeface="Consolas"/>
                <a:ea typeface="Microsoft JhengHei"/>
              </a:rPr>
              <a:t>/task-</a:t>
            </a:r>
            <a:r>
              <a:rPr sz="1600" b="0" i="0" dirty="0" err="1">
                <a:solidFill>
                  <a:srgbClr val="C96442"/>
                </a:solidFill>
                <a:latin typeface="Consolas"/>
                <a:ea typeface="Microsoft JhengHei"/>
              </a:rPr>
              <a:t>init</a:t>
            </a:r>
            <a:r>
              <a:rPr sz="1600" b="0" i="0" dirty="0">
                <a:solidFill>
                  <a:srgbClr val="C96442"/>
                </a:solidFill>
                <a:latin typeface="Consolas"/>
                <a:ea typeface="Microsoft JhengHei"/>
              </a:rPr>
              <a:t> </a:t>
            </a:r>
            <a:r>
              <a:rPr sz="1600" b="0" i="0" dirty="0" err="1">
                <a:solidFill>
                  <a:srgbClr val="C96442"/>
                </a:solidFill>
                <a:latin typeface="Consolas"/>
                <a:ea typeface="Microsoft JhengHei"/>
              </a:rPr>
              <a:t>GeminiChat</a:t>
            </a:r>
            <a:endParaRPr sz="1600" b="0" i="0" dirty="0">
              <a:solidFill>
                <a:srgbClr val="C96442"/>
              </a:solidFill>
              <a:latin typeface="Consolas"/>
              <a:ea typeface="Microsoft JhengHei"/>
            </a:endParaRPr>
          </a:p>
          <a:p>
            <a:pPr>
              <a:spcBef>
                <a:spcPts val="0"/>
              </a:spcBef>
              <a:spcAft>
                <a:spcPts val="200"/>
              </a:spcAft>
            </a:pPr>
            <a:endParaRPr sz="1600" b="0" i="0" dirty="0">
              <a:solidFill>
                <a:srgbClr val="C96442"/>
              </a:solidFill>
              <a:latin typeface="Consolas"/>
              <a:ea typeface="Microsoft JhengHei"/>
            </a:endParaRP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 dirty="0">
                <a:solidFill>
                  <a:srgbClr val="5E5D59"/>
                </a:solidFill>
                <a:latin typeface="Consolas"/>
                <a:ea typeface="Microsoft JhengHei"/>
              </a:rPr>
              <a:t># 3. </a:t>
            </a:r>
            <a:r>
              <a:rPr sz="1600" b="0" i="0" dirty="0" err="1">
                <a:solidFill>
                  <a:srgbClr val="5E5D59"/>
                </a:solidFill>
                <a:latin typeface="Consolas"/>
                <a:ea typeface="Microsoft JhengHei"/>
              </a:rPr>
              <a:t>回答</a:t>
            </a:r>
            <a:r>
              <a:rPr sz="1600" b="0" i="0" dirty="0">
                <a:solidFill>
                  <a:srgbClr val="5E5D59"/>
                </a:solidFill>
                <a:latin typeface="Consolas"/>
                <a:ea typeface="Microsoft JhengHei"/>
              </a:rPr>
              <a:t> AI </a:t>
            </a:r>
            <a:r>
              <a:rPr sz="1600" b="0" i="0" dirty="0" err="1">
                <a:solidFill>
                  <a:srgbClr val="5E5D59"/>
                </a:solidFill>
                <a:latin typeface="Consolas"/>
                <a:ea typeface="Microsoft JhengHei"/>
              </a:rPr>
              <a:t>的問題</a:t>
            </a:r>
            <a:endParaRPr sz="1600" b="0" i="0" dirty="0">
              <a:solidFill>
                <a:srgbClr val="5E5D59"/>
              </a:solidFill>
              <a:latin typeface="Consolas"/>
              <a:ea typeface="Microsoft JhengHei"/>
            </a:endParaRP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 dirty="0" err="1">
                <a:solidFill>
                  <a:srgbClr val="141413"/>
                </a:solidFill>
                <a:latin typeface="Consolas"/>
                <a:ea typeface="Microsoft JhengHei"/>
              </a:rPr>
              <a:t>專案描述：串流式</a:t>
            </a:r>
            <a:r>
              <a:rPr sz="1600" b="0" i="0" dirty="0">
                <a:solidFill>
                  <a:srgbClr val="141413"/>
                </a:solidFill>
                <a:latin typeface="Consolas"/>
                <a:ea typeface="Microsoft JhengHei"/>
              </a:rPr>
              <a:t> AI </a:t>
            </a:r>
            <a:r>
              <a:rPr sz="1600" b="0" i="0" dirty="0" err="1">
                <a:solidFill>
                  <a:srgbClr val="141413"/>
                </a:solidFill>
                <a:latin typeface="Consolas"/>
                <a:ea typeface="Microsoft JhengHei"/>
              </a:rPr>
              <a:t>聊天機器人</a:t>
            </a:r>
            <a:endParaRPr sz="1600" b="0" i="0" dirty="0">
              <a:solidFill>
                <a:srgbClr val="141413"/>
              </a:solidFill>
              <a:latin typeface="Consolas"/>
              <a:ea typeface="Microsoft JhengHei"/>
            </a:endParaRP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 dirty="0" err="1">
                <a:solidFill>
                  <a:srgbClr val="141413"/>
                </a:solidFill>
                <a:latin typeface="Consolas"/>
                <a:ea typeface="Microsoft JhengHei"/>
              </a:rPr>
              <a:t>技術棧</a:t>
            </a:r>
            <a:r>
              <a:rPr sz="1600" b="0" i="0" dirty="0">
                <a:solidFill>
                  <a:srgbClr val="141413"/>
                </a:solidFill>
                <a:latin typeface="Consolas"/>
                <a:ea typeface="Microsoft JhengHei"/>
              </a:rPr>
              <a:t>：  Python </a:t>
            </a:r>
            <a:r>
              <a:rPr sz="1600" b="0" i="0" dirty="0" err="1">
                <a:solidFill>
                  <a:srgbClr val="141413"/>
                </a:solidFill>
                <a:latin typeface="Consolas"/>
                <a:ea typeface="Microsoft JhengHei"/>
              </a:rPr>
              <a:t>FastAPI</a:t>
            </a:r>
            <a:r>
              <a:rPr sz="1600" b="0" i="0" dirty="0">
                <a:solidFill>
                  <a:srgbClr val="141413"/>
                </a:solidFill>
                <a:latin typeface="Consolas"/>
                <a:ea typeface="Microsoft JhengHei"/>
              </a:rPr>
              <a:t> + Gemini + </a:t>
            </a:r>
            <a:r>
              <a:rPr sz="1600" b="0" i="0" dirty="0" err="1">
                <a:solidFill>
                  <a:srgbClr val="141413"/>
                </a:solidFill>
                <a:latin typeface="Consolas"/>
                <a:ea typeface="Microsoft JhengHei"/>
              </a:rPr>
              <a:t>原生單頁</a:t>
            </a:r>
            <a:endParaRPr sz="1600" b="0" i="0" dirty="0">
              <a:solidFill>
                <a:srgbClr val="141413"/>
              </a:solidFill>
              <a:latin typeface="Consolas"/>
              <a:ea typeface="Microsoft JhengHei"/>
            </a:endParaRP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 dirty="0" err="1">
                <a:solidFill>
                  <a:srgbClr val="141413"/>
                </a:solidFill>
                <a:latin typeface="Consolas"/>
                <a:ea typeface="Microsoft JhengHei"/>
              </a:rPr>
              <a:t>模式</a:t>
            </a:r>
            <a:r>
              <a:rPr sz="1600" b="0" i="0" dirty="0">
                <a:solidFill>
                  <a:srgbClr val="141413"/>
                </a:solidFill>
                <a:latin typeface="Consolas"/>
                <a:ea typeface="Microsoft JhengHei"/>
              </a:rPr>
              <a:t>：    </a:t>
            </a:r>
            <a:r>
              <a:rPr sz="1600" b="0" i="0" dirty="0" err="1">
                <a:solidFill>
                  <a:srgbClr val="141413"/>
                </a:solidFill>
                <a:latin typeface="Consolas"/>
                <a:ea typeface="Microsoft JhengHei"/>
              </a:rPr>
              <a:t>mvp</a:t>
            </a:r>
            <a:endParaRPr sz="1600" b="0" i="0" dirty="0">
              <a:solidFill>
                <a:srgbClr val="141413"/>
              </a:solidFill>
              <a:latin typeface="Consolas"/>
              <a:ea typeface="Microsoft JhengHei"/>
            </a:endParaRP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 dirty="0" err="1">
                <a:solidFill>
                  <a:srgbClr val="141413"/>
                </a:solidFill>
                <a:latin typeface="Consolas"/>
                <a:ea typeface="Microsoft JhengHei"/>
              </a:rPr>
              <a:t>功能</a:t>
            </a:r>
            <a:r>
              <a:rPr sz="1600" b="0" i="0" dirty="0">
                <a:solidFill>
                  <a:srgbClr val="141413"/>
                </a:solidFill>
                <a:latin typeface="Consolas"/>
                <a:ea typeface="Microsoft JhengHei"/>
              </a:rPr>
              <a:t>：    </a:t>
            </a:r>
            <a:r>
              <a:rPr sz="1600" b="0" i="0" dirty="0" err="1">
                <a:solidFill>
                  <a:srgbClr val="141413"/>
                </a:solidFill>
                <a:latin typeface="Consolas"/>
                <a:ea typeface="Microsoft JhengHei"/>
              </a:rPr>
              <a:t>串流對話</a:t>
            </a:r>
            <a:r>
              <a:rPr sz="1600" b="0" i="0" dirty="0">
                <a:solidFill>
                  <a:srgbClr val="141413"/>
                </a:solidFill>
                <a:latin typeface="Consolas"/>
                <a:ea typeface="Microsoft JhengHei"/>
              </a:rPr>
              <a:t> + </a:t>
            </a:r>
            <a:r>
              <a:rPr sz="1600" b="0" i="0" dirty="0" err="1">
                <a:solidFill>
                  <a:srgbClr val="141413"/>
                </a:solidFill>
                <a:latin typeface="Consolas"/>
                <a:ea typeface="Microsoft JhengHei"/>
              </a:rPr>
              <a:t>多輪歷史</a:t>
            </a:r>
            <a:r>
              <a:rPr sz="1600" b="0" i="0" dirty="0">
                <a:solidFill>
                  <a:srgbClr val="141413"/>
                </a:solidFill>
                <a:latin typeface="Consolas"/>
                <a:ea typeface="Microsoft JhengHei"/>
              </a:rPr>
              <a:t> + </a:t>
            </a:r>
            <a:r>
              <a:rPr sz="1600" b="0" i="0" dirty="0" err="1">
                <a:solidFill>
                  <a:srgbClr val="141413"/>
                </a:solidFill>
                <a:latin typeface="Consolas"/>
                <a:ea typeface="Microsoft JhengHei"/>
              </a:rPr>
              <a:t>角色</a:t>
            </a:r>
            <a:endParaRPr sz="1600" b="0" i="0" dirty="0">
              <a:solidFill>
                <a:srgbClr val="141413"/>
              </a:solidFill>
              <a:latin typeface="Consolas"/>
              <a:ea typeface="Microsoft JhengHei"/>
            </a:endParaRPr>
          </a:p>
          <a:p>
            <a:pPr>
              <a:spcBef>
                <a:spcPts val="0"/>
              </a:spcBef>
              <a:spcAft>
                <a:spcPts val="200"/>
              </a:spcAft>
            </a:pPr>
            <a:endParaRPr sz="1600" b="0" i="0" dirty="0">
              <a:solidFill>
                <a:srgbClr val="141413"/>
              </a:solidFill>
              <a:latin typeface="Consolas"/>
              <a:ea typeface="Microsoft JhengHei"/>
            </a:endParaRP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 dirty="0">
                <a:solidFill>
                  <a:srgbClr val="5E5D59"/>
                </a:solidFill>
                <a:latin typeface="Consolas"/>
                <a:ea typeface="Microsoft JhengHei"/>
              </a:rPr>
              <a:t># 4. </a:t>
            </a:r>
            <a:r>
              <a:rPr sz="1600" b="0" i="0" dirty="0" err="1">
                <a:solidFill>
                  <a:srgbClr val="5E5D59"/>
                </a:solidFill>
                <a:latin typeface="Consolas"/>
                <a:ea typeface="Microsoft JhengHei"/>
              </a:rPr>
              <a:t>檢查產出</a:t>
            </a:r>
            <a:endParaRPr sz="1600" b="0" i="0" dirty="0">
              <a:solidFill>
                <a:srgbClr val="5E5D59"/>
              </a:solidFill>
              <a:latin typeface="Consolas"/>
              <a:ea typeface="Microsoft JhengHei"/>
            </a:endParaRP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 dirty="0">
                <a:solidFill>
                  <a:srgbClr val="C96442"/>
                </a:solidFill>
                <a:latin typeface="Consolas"/>
                <a:ea typeface="Microsoft JhengHei"/>
              </a:rPr>
              <a:t>/task-status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02AD2DE2-01AF-45A9-9576-AD84E37B08C7}"/>
              </a:ext>
            </a:extLst>
          </p:cNvPr>
          <p:cNvSpPr/>
          <p:nvPr/>
        </p:nvSpPr>
        <p:spPr>
          <a:xfrm>
            <a:off x="7366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8C6D69B4-7A9A-4623-BB09-8295A7F7C850}"/>
              </a:ext>
            </a:extLst>
          </p:cNvPr>
          <p:cNvSpPr/>
          <p:nvPr/>
        </p:nvSpPr>
        <p:spPr>
          <a:xfrm>
            <a:off x="1727200" y="203200"/>
            <a:ext cx="889000" cy="50800"/>
          </a:xfrm>
          <a:prstGeom prst="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BB016492-90FC-4EE6-82BB-4C4AD74FDAE7}"/>
              </a:ext>
            </a:extLst>
          </p:cNvPr>
          <p:cNvSpPr/>
          <p:nvPr/>
        </p:nvSpPr>
        <p:spPr>
          <a:xfrm>
            <a:off x="27178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89806F5C-F9BF-4D92-94C7-B106A457E1EC}"/>
              </a:ext>
            </a:extLst>
          </p:cNvPr>
          <p:cNvSpPr/>
          <p:nvPr/>
        </p:nvSpPr>
        <p:spPr>
          <a:xfrm>
            <a:off x="37084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EBE88567-FC89-4737-BCB3-F980AE95D2E3}"/>
              </a:ext>
            </a:extLst>
          </p:cNvPr>
          <p:cNvSpPr/>
          <p:nvPr/>
        </p:nvSpPr>
        <p:spPr>
          <a:xfrm>
            <a:off x="46990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D32D3C08-E275-4A45-B935-075CBA68635D}"/>
              </a:ext>
            </a:extLst>
          </p:cNvPr>
          <p:cNvSpPr/>
          <p:nvPr/>
        </p:nvSpPr>
        <p:spPr>
          <a:xfrm>
            <a:off x="10642600" y="304800"/>
            <a:ext cx="787400" cy="330200"/>
          </a:xfrm>
          <a:prstGeom prst="round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altLang="zh-TW" sz="1200" b="1">
                <a:solidFill>
                  <a:srgbClr val="FFFFFF"/>
                </a:solidFill>
                <a:latin typeface="Arial"/>
                <a:ea typeface="Microsoft JhengHei"/>
                <a:cs typeface="Arial"/>
              </a:rPr>
              <a:t>CH 2</a:t>
            </a:r>
            <a:endParaRPr lang="zh-TW" altLang="en-US" sz="1200" b="1">
              <a:solidFill>
                <a:srgbClr val="FFFFFF"/>
              </a:solidFill>
              <a:latin typeface="Arial"/>
              <a:ea typeface="Microsoft JhengHei"/>
              <a:cs typeface="Arial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D8F902D1-9CBD-45CD-BDD7-5EDE718A22DD}"/>
              </a:ext>
            </a:extLst>
          </p:cNvPr>
          <p:cNvSpPr txBox="1"/>
          <p:nvPr/>
        </p:nvSpPr>
        <p:spPr>
          <a:xfrm>
            <a:off x="11404600" y="6451600"/>
            <a:ext cx="584200" cy="3048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altLang="zh-TW" sz="1100">
                <a:solidFill>
                  <a:srgbClr val="A8A6A0"/>
                </a:solidFill>
                <a:latin typeface="Arial"/>
                <a:ea typeface="Microsoft JhengHei"/>
                <a:cs typeface="Arial"/>
              </a:rPr>
              <a:t>24</a:t>
            </a:r>
            <a:endParaRPr lang="zh-TW" altLang="en-US" sz="1100">
              <a:solidFill>
                <a:srgbClr val="A8A6A0"/>
              </a:solidFill>
              <a:latin typeface="Arial"/>
              <a:ea typeface="Microsoft JhengHei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55174666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4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文字方塊 8">
            <a:extLst>
              <a:ext uri="{FF2B5EF4-FFF2-40B4-BE49-F238E27FC236}">
                <a16:creationId xmlns:a16="http://schemas.microsoft.com/office/drawing/2014/main" id="{FE58891E-A405-495D-8FB6-94B21E544F13}"/>
              </a:ext>
            </a:extLst>
          </p:cNvPr>
          <p:cNvSpPr txBox="1"/>
          <p:nvPr/>
        </p:nvSpPr>
        <p:spPr>
          <a:xfrm>
            <a:off x="6604000" y="1524000"/>
            <a:ext cx="4826000" cy="4318000"/>
          </a:xfrm>
          <a:prstGeom prst="rect">
            <a:avLst/>
          </a:prstGeom>
          <a:noFill/>
        </p:spPr>
        <p:txBody>
          <a:bodyPr vertOverflow="overflow" vert="horz" wrap="none" rtlCol="0" anchor="t" anchorCtr="0">
            <a:noAutofit/>
          </a:bodyPr>
          <a:lstStyle/>
          <a:p>
            <a:pPr algn="r"/>
            <a:r>
              <a:rPr lang="en-US" sz="20000" b="1">
                <a:solidFill>
                  <a:srgbClr val="F0E9E0"/>
                </a:solidFill>
                <a:latin typeface="Georgia"/>
                <a:ea typeface="Microsoft JhengHei"/>
              </a:rPr>
              <a:t>03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1219200" y="2540000"/>
            <a:ext cx="7620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C96442"/>
                </a:solidFill>
                <a:latin typeface="Arial"/>
                <a:ea typeface="Microsoft JhengHei"/>
              </a:rPr>
              <a:t>CHAPTER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19200" y="3022600"/>
            <a:ext cx="8890000" cy="10823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141413"/>
                </a:solidFill>
                <a:latin typeface="Georgia"/>
                <a:ea typeface="Microsoft JhengHei"/>
              </a:rPr>
              <a:t>開發循環</a:t>
            </a:r>
          </a:p>
          <a:p>
            <a:pPr algn="l">
              <a:spcBef>
                <a:spcPts val="1000"/>
              </a:spcBef>
            </a:pPr>
            <a:r>
              <a:rPr sz="1600" b="0" i="0">
                <a:solidFill>
                  <a:srgbClr val="5E5D59"/>
                </a:solidFill>
                <a:latin typeface="Arial"/>
                <a:ea typeface="Microsoft JhengHei"/>
              </a:rPr>
              <a:t>plan → tdd → review，三輪由詳細到快速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B888F943-3E04-432C-A237-973CEBAA130F}"/>
              </a:ext>
            </a:extLst>
          </p:cNvPr>
          <p:cNvSpPr/>
          <p:nvPr/>
        </p:nvSpPr>
        <p:spPr>
          <a:xfrm>
            <a:off x="914400" y="508000"/>
            <a:ext cx="889000" cy="635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E46A30AC-9202-4130-A05E-F8253A84C426}"/>
              </a:ext>
            </a:extLst>
          </p:cNvPr>
          <p:cNvSpPr/>
          <p:nvPr/>
        </p:nvSpPr>
        <p:spPr>
          <a:xfrm>
            <a:off x="1905000" y="508000"/>
            <a:ext cx="889000" cy="635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7DEAD8DB-59A6-49A1-84C6-75C5E9B67E15}"/>
              </a:ext>
            </a:extLst>
          </p:cNvPr>
          <p:cNvSpPr/>
          <p:nvPr/>
        </p:nvSpPr>
        <p:spPr>
          <a:xfrm>
            <a:off x="2895600" y="508000"/>
            <a:ext cx="889000" cy="63500"/>
          </a:xfrm>
          <a:prstGeom prst="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7AB1989B-6AE9-43D1-9F17-AB4A8DA0BF20}"/>
              </a:ext>
            </a:extLst>
          </p:cNvPr>
          <p:cNvSpPr/>
          <p:nvPr/>
        </p:nvSpPr>
        <p:spPr>
          <a:xfrm>
            <a:off x="3886200" y="508000"/>
            <a:ext cx="889000" cy="635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D0D0D827-111A-48E3-9F4C-641144C61CB4}"/>
              </a:ext>
            </a:extLst>
          </p:cNvPr>
          <p:cNvSpPr/>
          <p:nvPr/>
        </p:nvSpPr>
        <p:spPr>
          <a:xfrm>
            <a:off x="4876800" y="508000"/>
            <a:ext cx="889000" cy="635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727C1433-ED6C-467C-94AB-2F0488F3ED2F}"/>
              </a:ext>
            </a:extLst>
          </p:cNvPr>
          <p:cNvSpPr/>
          <p:nvPr/>
        </p:nvSpPr>
        <p:spPr>
          <a:xfrm>
            <a:off x="914400" y="2603500"/>
            <a:ext cx="76200" cy="1168400"/>
          </a:xfrm>
          <a:prstGeom prst="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0B146523-F753-41A3-97C5-60081BF27D68}"/>
              </a:ext>
            </a:extLst>
          </p:cNvPr>
          <p:cNvSpPr txBox="1"/>
          <p:nvPr/>
        </p:nvSpPr>
        <p:spPr>
          <a:xfrm>
            <a:off x="11404600" y="6451600"/>
            <a:ext cx="584200" cy="3048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altLang="zh-TW" sz="1100">
                <a:solidFill>
                  <a:srgbClr val="A8A6A0"/>
                </a:solidFill>
                <a:latin typeface="Arial"/>
                <a:ea typeface="Microsoft JhengHei"/>
                <a:cs typeface="Arial"/>
              </a:rPr>
              <a:t>25</a:t>
            </a:r>
            <a:endParaRPr lang="zh-TW" altLang="en-US" sz="1100">
              <a:solidFill>
                <a:srgbClr val="A8A6A0"/>
              </a:solidFill>
              <a:latin typeface="Arial"/>
              <a:ea typeface="Microsoft JhengHei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84547498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4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 dirty="0" err="1">
                <a:solidFill>
                  <a:srgbClr val="141413"/>
                </a:solidFill>
                <a:latin typeface="Georgia"/>
                <a:ea typeface="Microsoft JhengHei"/>
              </a:rPr>
              <a:t>開發循環全貌（依任務模式分流</a:t>
            </a:r>
            <a:r>
              <a:rPr sz="3200" b="1" i="0" dirty="0">
                <a:solidFill>
                  <a:srgbClr val="141413"/>
                </a:solidFill>
                <a:latin typeface="Georgia"/>
                <a:ea typeface="Microsoft JhengHei"/>
              </a:rPr>
              <a:t>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736600" y="1168400"/>
            <a:ext cx="812800" cy="50800"/>
          </a:xfrm>
          <a:prstGeom prst="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ea typeface="Microsoft JhengHe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>
              <a:ea typeface="Microsoft JhengHei"/>
            </a:endParaRP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 dirty="0">
                <a:solidFill>
                  <a:srgbClr val="141413"/>
                </a:solidFill>
                <a:latin typeface="Arial"/>
                <a:ea typeface="Microsoft JhengHei"/>
              </a:rPr>
              <a:t>/task-next   </a:t>
            </a:r>
            <a:r>
              <a:rPr sz="2000" b="0" i="0" dirty="0" err="1">
                <a:solidFill>
                  <a:srgbClr val="141413"/>
                </a:solidFill>
                <a:latin typeface="Arial"/>
                <a:ea typeface="Microsoft JhengHei"/>
              </a:rPr>
              <a:t>取任務</a:t>
            </a:r>
            <a:r>
              <a:rPr sz="2000" b="0" i="0" dirty="0">
                <a:solidFill>
                  <a:srgbClr val="141413"/>
                </a:solidFill>
                <a:latin typeface="Arial"/>
                <a:ea typeface="Microsoft JhengHei"/>
              </a:rPr>
              <a:t> + </a:t>
            </a:r>
            <a:r>
              <a:rPr sz="2000" b="0" i="0" dirty="0" err="1">
                <a:solidFill>
                  <a:srgbClr val="141413"/>
                </a:solidFill>
                <a:latin typeface="Arial"/>
                <a:ea typeface="Microsoft JhengHei"/>
              </a:rPr>
              <a:t>選模式（quick</a:t>
            </a:r>
            <a:r>
              <a:rPr sz="2000" b="0" i="0" dirty="0">
                <a:solidFill>
                  <a:srgbClr val="141413"/>
                </a:solidFill>
                <a:latin typeface="Arial"/>
                <a:ea typeface="Microsoft JhengHei"/>
              </a:rPr>
              <a:t> / standard / critical）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endParaRPr sz="2000" b="0" i="0" dirty="0">
              <a:solidFill>
                <a:srgbClr val="141413"/>
              </a:solidFill>
              <a:latin typeface="Arial"/>
              <a:ea typeface="Microsoft JhengHei"/>
            </a:endParaRP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 dirty="0">
                <a:solidFill>
                  <a:srgbClr val="6B7A3F"/>
                </a:solidFill>
                <a:latin typeface="Arial"/>
                <a:ea typeface="Microsoft JhengHei"/>
              </a:rPr>
              <a:t>─── quick ───     </a:t>
            </a:r>
            <a:r>
              <a:rPr sz="2000" b="0" i="0" dirty="0" err="1">
                <a:solidFill>
                  <a:srgbClr val="6B7A3F"/>
                </a:solidFill>
                <a:latin typeface="Arial"/>
                <a:ea typeface="Microsoft JhengHei"/>
              </a:rPr>
              <a:t>直接寫</a:t>
            </a:r>
            <a:r>
              <a:rPr sz="2000" b="0" i="0" dirty="0">
                <a:solidFill>
                  <a:srgbClr val="6B7A3F"/>
                </a:solidFill>
                <a:latin typeface="Arial"/>
                <a:ea typeface="Microsoft JhengHei"/>
              </a:rPr>
              <a:t> → /verify (auto: quick)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0" i="0" dirty="0">
                <a:solidFill>
                  <a:srgbClr val="5E5D59"/>
                </a:solidFill>
                <a:latin typeface="Arial"/>
                <a:ea typeface="Microsoft JhengHei"/>
              </a:rPr>
              <a:t>                          </a:t>
            </a:r>
            <a:r>
              <a:rPr sz="1500" b="0" i="0" dirty="0" err="1">
                <a:solidFill>
                  <a:srgbClr val="5E5D59"/>
                </a:solidFill>
                <a:latin typeface="Arial"/>
                <a:ea typeface="Microsoft JhengHei"/>
              </a:rPr>
              <a:t>適合</a:t>
            </a:r>
            <a:r>
              <a:rPr sz="1500" b="0" i="0" dirty="0">
                <a:solidFill>
                  <a:srgbClr val="5E5D59"/>
                </a:solidFill>
                <a:latin typeface="Arial"/>
                <a:ea typeface="Microsoft JhengHei"/>
              </a:rPr>
              <a:t>：&lt; 30min </a:t>
            </a:r>
            <a:r>
              <a:rPr sz="1500" b="0" i="0" dirty="0" err="1">
                <a:solidFill>
                  <a:srgbClr val="5E5D59"/>
                </a:solidFill>
                <a:latin typeface="Arial"/>
                <a:ea typeface="Microsoft JhengHei"/>
              </a:rPr>
              <a:t>單檔修改</a:t>
            </a:r>
            <a:endParaRPr sz="1500" b="0" i="0" dirty="0">
              <a:solidFill>
                <a:srgbClr val="5E5D59"/>
              </a:solidFill>
              <a:latin typeface="Arial"/>
              <a:ea typeface="Microsoft JhengHei"/>
            </a:endParaRPr>
          </a:p>
          <a:p>
            <a:pPr algn="l">
              <a:spcBef>
                <a:spcPts val="0"/>
              </a:spcBef>
              <a:spcAft>
                <a:spcPts val="800"/>
              </a:spcAft>
            </a:pPr>
            <a:endParaRPr sz="1500" b="0" i="0" dirty="0">
              <a:solidFill>
                <a:srgbClr val="5E5D59"/>
              </a:solidFill>
              <a:latin typeface="Arial"/>
              <a:ea typeface="Microsoft JhengHei"/>
            </a:endParaRP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 dirty="0">
                <a:solidFill>
                  <a:srgbClr val="141413"/>
                </a:solidFill>
                <a:latin typeface="Arial"/>
                <a:ea typeface="Microsoft JhengHei"/>
              </a:rPr>
              <a:t>─── standard ───  /plan → /</a:t>
            </a:r>
            <a:r>
              <a:rPr sz="2000" b="0" i="0" dirty="0" err="1">
                <a:solidFill>
                  <a:srgbClr val="141413"/>
                </a:solidFill>
                <a:latin typeface="Arial"/>
                <a:ea typeface="Microsoft JhengHei"/>
              </a:rPr>
              <a:t>tdd</a:t>
            </a:r>
            <a:r>
              <a:rPr sz="2000" b="0" i="0" dirty="0">
                <a:solidFill>
                  <a:srgbClr val="141413"/>
                </a:solidFill>
                <a:latin typeface="Arial"/>
                <a:ea typeface="Microsoft JhengHei"/>
              </a:rPr>
              <a:t> (80%) → /review-code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 dirty="0">
                <a:solidFill>
                  <a:srgbClr val="141413"/>
                </a:solidFill>
                <a:latin typeface="Arial"/>
                <a:ea typeface="Microsoft JhengHei"/>
              </a:rPr>
              <a:t>                          → /verify (auto: full)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0" i="0" dirty="0">
                <a:solidFill>
                  <a:srgbClr val="5E5D59"/>
                </a:solidFill>
                <a:latin typeface="Arial"/>
                <a:ea typeface="Microsoft JhengHei"/>
              </a:rPr>
              <a:t>                          適合：1-4h </a:t>
            </a:r>
            <a:r>
              <a:rPr sz="1500" b="0" i="0" dirty="0" err="1">
                <a:solidFill>
                  <a:srgbClr val="5E5D59"/>
                </a:solidFill>
                <a:latin typeface="Arial"/>
                <a:ea typeface="Microsoft JhengHei"/>
              </a:rPr>
              <a:t>新功能</a:t>
            </a:r>
            <a:r>
              <a:rPr sz="1500" b="0" i="0" dirty="0">
                <a:solidFill>
                  <a:srgbClr val="5E5D59"/>
                </a:solidFill>
                <a:latin typeface="Arial"/>
                <a:ea typeface="Microsoft JhengHei"/>
              </a:rPr>
              <a:t> / </a:t>
            </a:r>
            <a:r>
              <a:rPr sz="1500" b="0" i="0" dirty="0" err="1">
                <a:solidFill>
                  <a:srgbClr val="5E5D59"/>
                </a:solidFill>
                <a:latin typeface="Arial"/>
                <a:ea typeface="Microsoft JhengHei"/>
              </a:rPr>
              <a:t>重構</a:t>
            </a:r>
            <a:endParaRPr sz="1500" b="0" i="0" dirty="0">
              <a:solidFill>
                <a:srgbClr val="5E5D59"/>
              </a:solidFill>
              <a:latin typeface="Arial"/>
              <a:ea typeface="Microsoft JhengHei"/>
            </a:endParaRPr>
          </a:p>
          <a:p>
            <a:pPr algn="l">
              <a:spcBef>
                <a:spcPts val="0"/>
              </a:spcBef>
              <a:spcAft>
                <a:spcPts val="800"/>
              </a:spcAft>
            </a:pPr>
            <a:endParaRPr sz="1500" b="0" i="0" dirty="0">
              <a:solidFill>
                <a:srgbClr val="5E5D59"/>
              </a:solidFill>
              <a:latin typeface="Arial"/>
              <a:ea typeface="Microsoft JhengHei"/>
            </a:endParaRP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 dirty="0">
                <a:solidFill>
                  <a:srgbClr val="D97757"/>
                </a:solidFill>
                <a:latin typeface="Arial"/>
                <a:ea typeface="Microsoft JhengHei"/>
              </a:rPr>
              <a:t>─── critical ───   /plan → /</a:t>
            </a:r>
            <a:r>
              <a:rPr sz="2000" b="0" i="0" dirty="0" err="1">
                <a:solidFill>
                  <a:srgbClr val="D97757"/>
                </a:solidFill>
                <a:latin typeface="Arial"/>
                <a:ea typeface="Microsoft JhengHei"/>
              </a:rPr>
              <a:t>tdd</a:t>
            </a:r>
            <a:r>
              <a:rPr sz="2000" b="0" i="0" dirty="0">
                <a:solidFill>
                  <a:srgbClr val="D97757"/>
                </a:solidFill>
                <a:latin typeface="Arial"/>
                <a:ea typeface="Microsoft JhengHei"/>
              </a:rPr>
              <a:t> (100%) → /review-code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 dirty="0">
                <a:solidFill>
                  <a:srgbClr val="D97757"/>
                </a:solidFill>
                <a:latin typeface="Arial"/>
                <a:ea typeface="Microsoft JhengHei"/>
              </a:rPr>
              <a:t>                          → /verify (auto: pre-pr + </a:t>
            </a:r>
            <a:r>
              <a:rPr sz="1800" b="0" i="0" dirty="0" err="1">
                <a:solidFill>
                  <a:srgbClr val="D97757"/>
                </a:solidFill>
                <a:latin typeface="Arial"/>
                <a:ea typeface="Microsoft JhengHei"/>
              </a:rPr>
              <a:t>安全掃描</a:t>
            </a:r>
            <a:r>
              <a:rPr sz="1800" b="0" i="0" dirty="0">
                <a:solidFill>
                  <a:srgbClr val="D97757"/>
                </a:solidFill>
                <a:latin typeface="Arial"/>
                <a:ea typeface="Microsoft JhengHei"/>
              </a:rPr>
              <a:t>)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0" i="0" dirty="0">
                <a:solidFill>
                  <a:srgbClr val="5E5D59"/>
                </a:solidFill>
                <a:latin typeface="Arial"/>
                <a:ea typeface="Microsoft JhengHei"/>
              </a:rPr>
              <a:t>                          </a:t>
            </a:r>
            <a:r>
              <a:rPr sz="1500" b="0" i="0" dirty="0" err="1">
                <a:solidFill>
                  <a:srgbClr val="5E5D59"/>
                </a:solidFill>
                <a:latin typeface="Arial"/>
                <a:ea typeface="Microsoft JhengHei"/>
              </a:rPr>
              <a:t>適合：金流</a:t>
            </a:r>
            <a:r>
              <a:rPr sz="1500" b="0" i="0" dirty="0">
                <a:solidFill>
                  <a:srgbClr val="5E5D59"/>
                </a:solidFill>
                <a:latin typeface="Arial"/>
                <a:ea typeface="Microsoft JhengHei"/>
              </a:rPr>
              <a:t> / </a:t>
            </a:r>
            <a:r>
              <a:rPr sz="1500" b="0" i="0" dirty="0" err="1">
                <a:solidFill>
                  <a:srgbClr val="5E5D59"/>
                </a:solidFill>
                <a:latin typeface="Arial"/>
                <a:ea typeface="Microsoft JhengHei"/>
              </a:rPr>
              <a:t>認證</a:t>
            </a:r>
            <a:r>
              <a:rPr sz="1500" b="0" i="0" dirty="0">
                <a:solidFill>
                  <a:srgbClr val="5E5D59"/>
                </a:solidFill>
                <a:latin typeface="Arial"/>
                <a:ea typeface="Microsoft JhengHei"/>
              </a:rPr>
              <a:t> / </a:t>
            </a:r>
            <a:r>
              <a:rPr sz="1500" b="0" i="0" dirty="0" err="1">
                <a:solidFill>
                  <a:srgbClr val="5E5D59"/>
                </a:solidFill>
                <a:latin typeface="Arial"/>
                <a:ea typeface="Microsoft JhengHei"/>
              </a:rPr>
              <a:t>安全</a:t>
            </a:r>
            <a:r>
              <a:rPr sz="1500" b="0" i="0" dirty="0">
                <a:solidFill>
                  <a:srgbClr val="5E5D59"/>
                </a:solidFill>
                <a:latin typeface="Arial"/>
                <a:ea typeface="Microsoft JhengHei"/>
              </a:rPr>
              <a:t> / </a:t>
            </a:r>
            <a:r>
              <a:rPr sz="1500" b="0" i="0" dirty="0" err="1">
                <a:solidFill>
                  <a:srgbClr val="5E5D59"/>
                </a:solidFill>
                <a:latin typeface="Arial"/>
                <a:ea typeface="Microsoft JhengHei"/>
              </a:rPr>
              <a:t>核心</a:t>
            </a:r>
            <a:endParaRPr sz="1500" b="0" i="0" dirty="0">
              <a:solidFill>
                <a:srgbClr val="5E5D59"/>
              </a:solidFill>
              <a:latin typeface="Arial"/>
              <a:ea typeface="Microsoft JhengHei"/>
            </a:endParaRPr>
          </a:p>
          <a:p>
            <a:pPr algn="l">
              <a:spcBef>
                <a:spcPts val="0"/>
              </a:spcBef>
              <a:spcAft>
                <a:spcPts val="800"/>
              </a:spcAft>
            </a:pPr>
            <a:endParaRPr sz="1500" b="0" i="0" dirty="0">
              <a:solidFill>
                <a:srgbClr val="5E5D59"/>
              </a:solidFill>
              <a:latin typeface="Arial"/>
              <a:ea typeface="Microsoft JhengHei"/>
            </a:endParaRP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 i="0" dirty="0">
                <a:solidFill>
                  <a:srgbClr val="C96442"/>
                </a:solidFill>
                <a:latin typeface="Arial"/>
                <a:ea typeface="Microsoft JhengHei"/>
              </a:rPr>
              <a:t>─── </a:t>
            </a:r>
            <a:r>
              <a:rPr sz="1600" b="1" i="0" dirty="0" err="1">
                <a:solidFill>
                  <a:srgbClr val="C96442"/>
                </a:solidFill>
                <a:latin typeface="Arial"/>
                <a:ea typeface="Microsoft JhengHei"/>
              </a:rPr>
              <a:t>完成</a:t>
            </a:r>
            <a:r>
              <a:rPr sz="1600" b="1" i="0" dirty="0">
                <a:solidFill>
                  <a:srgbClr val="C96442"/>
                </a:solidFill>
                <a:latin typeface="Arial"/>
                <a:ea typeface="Microsoft JhengHei"/>
              </a:rPr>
              <a:t> → </a:t>
            </a:r>
            <a:r>
              <a:rPr sz="1600" b="1" i="0" dirty="0" err="1">
                <a:solidFill>
                  <a:srgbClr val="C96442"/>
                </a:solidFill>
                <a:latin typeface="Arial"/>
                <a:ea typeface="Microsoft JhengHei"/>
              </a:rPr>
              <a:t>回到</a:t>
            </a:r>
            <a:r>
              <a:rPr sz="1600" b="1" i="0" dirty="0">
                <a:solidFill>
                  <a:srgbClr val="C96442"/>
                </a:solidFill>
                <a:latin typeface="Arial"/>
                <a:ea typeface="Microsoft JhengHei"/>
              </a:rPr>
              <a:t> /task-next </a:t>
            </a:r>
            <a:r>
              <a:rPr sz="1600" b="1" i="0" dirty="0" err="1">
                <a:solidFill>
                  <a:srgbClr val="C96442"/>
                </a:solidFill>
                <a:latin typeface="Arial"/>
                <a:ea typeface="Microsoft JhengHei"/>
              </a:rPr>
              <a:t>接力下一個</a:t>
            </a:r>
            <a:r>
              <a:rPr sz="1600" b="1" i="0" dirty="0">
                <a:solidFill>
                  <a:srgbClr val="C96442"/>
                </a:solidFill>
                <a:latin typeface="Arial"/>
                <a:ea typeface="Microsoft JhengHei"/>
              </a:rPr>
              <a:t> ───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169489C4-CFB5-4E84-A62D-D090E1B76BFF}"/>
              </a:ext>
            </a:extLst>
          </p:cNvPr>
          <p:cNvSpPr/>
          <p:nvPr/>
        </p:nvSpPr>
        <p:spPr>
          <a:xfrm>
            <a:off x="7366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27FE91DE-2E7C-4A17-BD81-E4F586942BBF}"/>
              </a:ext>
            </a:extLst>
          </p:cNvPr>
          <p:cNvSpPr/>
          <p:nvPr/>
        </p:nvSpPr>
        <p:spPr>
          <a:xfrm>
            <a:off x="17272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D9C13789-BBF9-4B42-A033-5586102FFE39}"/>
              </a:ext>
            </a:extLst>
          </p:cNvPr>
          <p:cNvSpPr/>
          <p:nvPr/>
        </p:nvSpPr>
        <p:spPr>
          <a:xfrm>
            <a:off x="2717800" y="203200"/>
            <a:ext cx="889000" cy="50800"/>
          </a:xfrm>
          <a:prstGeom prst="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586AF92E-107A-493B-823A-CCC391F81059}"/>
              </a:ext>
            </a:extLst>
          </p:cNvPr>
          <p:cNvSpPr/>
          <p:nvPr/>
        </p:nvSpPr>
        <p:spPr>
          <a:xfrm>
            <a:off x="37084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B78A28C7-07F8-4E09-8376-BB07A309CD8E}"/>
              </a:ext>
            </a:extLst>
          </p:cNvPr>
          <p:cNvSpPr/>
          <p:nvPr/>
        </p:nvSpPr>
        <p:spPr>
          <a:xfrm>
            <a:off x="46990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D48A6384-C2E7-4209-8EF3-F56E812F86C1}"/>
              </a:ext>
            </a:extLst>
          </p:cNvPr>
          <p:cNvSpPr/>
          <p:nvPr/>
        </p:nvSpPr>
        <p:spPr>
          <a:xfrm>
            <a:off x="10642600" y="304800"/>
            <a:ext cx="787400" cy="330200"/>
          </a:xfrm>
          <a:prstGeom prst="round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altLang="zh-TW" sz="1200" b="1">
                <a:solidFill>
                  <a:srgbClr val="FFFFFF"/>
                </a:solidFill>
                <a:latin typeface="Arial"/>
                <a:ea typeface="Microsoft JhengHei"/>
                <a:cs typeface="Arial"/>
              </a:rPr>
              <a:t>CH 3</a:t>
            </a:r>
            <a:endParaRPr lang="zh-TW" altLang="en-US" sz="1200" b="1">
              <a:solidFill>
                <a:srgbClr val="FFFFFF"/>
              </a:solidFill>
              <a:latin typeface="Arial"/>
              <a:ea typeface="Microsoft JhengHei"/>
              <a:cs typeface="Arial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E4492BC2-A183-4322-9800-AD5DD6C618BA}"/>
              </a:ext>
            </a:extLst>
          </p:cNvPr>
          <p:cNvSpPr txBox="1"/>
          <p:nvPr/>
        </p:nvSpPr>
        <p:spPr>
          <a:xfrm>
            <a:off x="11404600" y="6451600"/>
            <a:ext cx="584200" cy="3048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altLang="zh-TW" sz="1100">
                <a:solidFill>
                  <a:srgbClr val="A8A6A0"/>
                </a:solidFill>
                <a:latin typeface="Arial"/>
                <a:ea typeface="Microsoft JhengHei"/>
                <a:cs typeface="Arial"/>
              </a:rPr>
              <a:t>26</a:t>
            </a:r>
            <a:endParaRPr lang="zh-TW" altLang="en-US" sz="1100">
              <a:solidFill>
                <a:srgbClr val="A8A6A0"/>
              </a:solidFill>
              <a:latin typeface="Arial"/>
              <a:ea typeface="Microsoft JhengHei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11223618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4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182880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C96442"/>
                </a:solidFill>
                <a:latin typeface="Arial"/>
                <a:ea typeface="Microsoft JhengHei"/>
              </a:rPr>
              <a:t>第 1 輪（詳細）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65176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141413"/>
                </a:solidFill>
                <a:latin typeface="Georgia"/>
                <a:ea typeface="Microsoft JhengHei"/>
              </a:rPr>
              <a:t>後端 API — FastAPI + Gemini SSE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160C69D1-89DC-495C-923C-C479218C0F90}"/>
              </a:ext>
            </a:extLst>
          </p:cNvPr>
          <p:cNvSpPr/>
          <p:nvPr/>
        </p:nvSpPr>
        <p:spPr>
          <a:xfrm>
            <a:off x="914400" y="508000"/>
            <a:ext cx="889000" cy="635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2FC75FB1-477F-47E9-B91D-91AFFD8036F8}"/>
              </a:ext>
            </a:extLst>
          </p:cNvPr>
          <p:cNvSpPr/>
          <p:nvPr/>
        </p:nvSpPr>
        <p:spPr>
          <a:xfrm>
            <a:off x="1905000" y="508000"/>
            <a:ext cx="889000" cy="635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A5606FB1-5A4E-4B7E-A809-556355830EAF}"/>
              </a:ext>
            </a:extLst>
          </p:cNvPr>
          <p:cNvSpPr/>
          <p:nvPr/>
        </p:nvSpPr>
        <p:spPr>
          <a:xfrm>
            <a:off x="2895600" y="508000"/>
            <a:ext cx="889000" cy="63500"/>
          </a:xfrm>
          <a:prstGeom prst="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2CBFF5D1-B280-4C15-8BDF-C790F07BC783}"/>
              </a:ext>
            </a:extLst>
          </p:cNvPr>
          <p:cNvSpPr/>
          <p:nvPr/>
        </p:nvSpPr>
        <p:spPr>
          <a:xfrm>
            <a:off x="3886200" y="508000"/>
            <a:ext cx="889000" cy="635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60B42148-42EA-4479-ADEE-A8B7B22503D9}"/>
              </a:ext>
            </a:extLst>
          </p:cNvPr>
          <p:cNvSpPr/>
          <p:nvPr/>
        </p:nvSpPr>
        <p:spPr>
          <a:xfrm>
            <a:off x="4876800" y="508000"/>
            <a:ext cx="889000" cy="635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8DB0B87-B465-47CF-96D9-C4FF9E4BC703}"/>
              </a:ext>
            </a:extLst>
          </p:cNvPr>
          <p:cNvSpPr/>
          <p:nvPr/>
        </p:nvSpPr>
        <p:spPr>
          <a:xfrm>
            <a:off x="5689600" y="1651000"/>
            <a:ext cx="812800" cy="50800"/>
          </a:xfrm>
          <a:prstGeom prst="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B01B1C4F-4145-4EDF-A767-D615DE38BCEC}"/>
              </a:ext>
            </a:extLst>
          </p:cNvPr>
          <p:cNvSpPr/>
          <p:nvPr/>
        </p:nvSpPr>
        <p:spPr>
          <a:xfrm>
            <a:off x="10642600" y="304800"/>
            <a:ext cx="787400" cy="330200"/>
          </a:xfrm>
          <a:prstGeom prst="round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altLang="zh-TW" sz="1200" b="1">
                <a:solidFill>
                  <a:srgbClr val="FFFFFF"/>
                </a:solidFill>
                <a:latin typeface="Arial"/>
                <a:ea typeface="Microsoft JhengHei"/>
                <a:cs typeface="Arial"/>
              </a:rPr>
              <a:t>CH 3</a:t>
            </a:r>
            <a:endParaRPr lang="zh-TW" altLang="en-US" sz="1200" b="1">
              <a:solidFill>
                <a:srgbClr val="FFFFFF"/>
              </a:solidFill>
              <a:latin typeface="Arial"/>
              <a:ea typeface="Microsoft JhengHei"/>
              <a:cs typeface="Arial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FB6C45C3-2654-4157-B0AC-81A5542FBC0C}"/>
              </a:ext>
            </a:extLst>
          </p:cNvPr>
          <p:cNvSpPr txBox="1"/>
          <p:nvPr/>
        </p:nvSpPr>
        <p:spPr>
          <a:xfrm>
            <a:off x="11404600" y="6451600"/>
            <a:ext cx="584200" cy="3048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altLang="zh-TW" sz="1100">
                <a:solidFill>
                  <a:srgbClr val="A8A6A0"/>
                </a:solidFill>
                <a:latin typeface="Arial"/>
                <a:ea typeface="Microsoft JhengHei"/>
                <a:cs typeface="Arial"/>
              </a:rPr>
              <a:t>27</a:t>
            </a:r>
            <a:endParaRPr lang="zh-TW" altLang="en-US" sz="1100">
              <a:solidFill>
                <a:srgbClr val="A8A6A0"/>
              </a:solidFill>
              <a:latin typeface="Arial"/>
              <a:ea typeface="Microsoft JhengHei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01507650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4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41413"/>
                </a:solidFill>
                <a:latin typeface="Georgia"/>
                <a:ea typeface="Microsoft JhengHei"/>
              </a:rPr>
              <a:t>/plan — AI 先想清楚再動手</a:t>
            </a:r>
          </a:p>
        </p:txBody>
      </p:sp>
      <p:sp>
        <p:nvSpPr>
          <p:cNvPr id="3" name="Rectangle 2"/>
          <p:cNvSpPr/>
          <p:nvPr/>
        </p:nvSpPr>
        <p:spPr>
          <a:xfrm>
            <a:off x="736600" y="1168400"/>
            <a:ext cx="812800" cy="50800"/>
          </a:xfrm>
          <a:prstGeom prst="rect">
            <a:avLst/>
          </a:prstGeom>
          <a:solidFill>
            <a:srgbClr val="C96442"/>
          </a:solidFill>
          <a:ln w="12700" cap="flat" cmpd="sng" algn="ctr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ea typeface="Microsoft JhengHe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C96442"/>
                </a:solidFill>
                <a:latin typeface="Consolas"/>
                <a:ea typeface="Microsoft JhengHei"/>
              </a:rPr>
              <a:t>📋 實作計畫                            planner agent (Opus)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endParaRPr sz="1600" b="0" i="0">
              <a:solidFill>
                <a:srgbClr val="C96442"/>
              </a:solidFill>
              <a:latin typeface="Consolas"/>
              <a:ea typeface="Microsoft JhengHei"/>
            </a:endParaRP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41413"/>
                </a:solidFill>
                <a:latin typeface="Consolas"/>
                <a:ea typeface="Microsoft JhengHei"/>
              </a:rPr>
              <a:t>步驟 1: 建立專案結構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3D3D3A"/>
                </a:solidFill>
                <a:latin typeface="Consolas"/>
                <a:ea typeface="Microsoft JhengHei"/>
              </a:rPr>
              <a:t>  - pyproject.toml (dependencies)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3D3D3A"/>
                </a:solidFill>
                <a:latin typeface="Consolas"/>
                <a:ea typeface="Microsoft JhengHei"/>
              </a:rPr>
              <a:t>  - app/main.py    (FastAPI entry)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3D3D3A"/>
                </a:solidFill>
                <a:latin typeface="Consolas"/>
                <a:ea typeface="Microsoft JhengHei"/>
              </a:rPr>
              <a:t>  - app/config.py  (讀 GEMINI_API_KEY)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3D3D3A"/>
                </a:solidFill>
                <a:latin typeface="Consolas"/>
                <a:ea typeface="Microsoft JhengHei"/>
              </a:rPr>
              <a:t>  - app/gemini.py  (串流封裝)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endParaRPr sz="1600" b="0" i="0">
              <a:solidFill>
                <a:srgbClr val="3D3D3A"/>
              </a:solidFill>
              <a:latin typeface="Consolas"/>
              <a:ea typeface="Microsoft JhengHei"/>
            </a:endParaRP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41413"/>
                </a:solidFill>
                <a:latin typeface="Consolas"/>
                <a:ea typeface="Microsoft JhengHei"/>
              </a:rPr>
              <a:t>步驟 2: 定義請求/回應模型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3D3D3A"/>
                </a:solidFill>
                <a:latin typeface="Consolas"/>
                <a:ea typeface="Microsoft JhengHei"/>
              </a:rPr>
              <a:t>  - messages: [{role, content}] 多輪 context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endParaRPr sz="1600" b="0" i="0">
              <a:solidFill>
                <a:srgbClr val="3D3D3A"/>
              </a:solidFill>
              <a:latin typeface="Consolas"/>
              <a:ea typeface="Microsoft JhengHei"/>
            </a:endParaRP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41413"/>
                </a:solidFill>
                <a:latin typeface="Consolas"/>
                <a:ea typeface="Microsoft JhengHei"/>
              </a:rPr>
              <a:t>步驟 3: 實作 /api/chat 串流端點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3D3D3A"/>
                </a:solidFill>
                <a:latin typeface="Consolas"/>
                <a:ea typeface="Microsoft JhengHei"/>
              </a:rPr>
              <a:t>  - generate_content_stream + StreamingResponse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endParaRPr sz="1600" b="0" i="0">
              <a:solidFill>
                <a:srgbClr val="3D3D3A"/>
              </a:solidFill>
              <a:latin typeface="Consolas"/>
              <a:ea typeface="Microsoft JhengHei"/>
            </a:endParaRP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6B7A3F"/>
                </a:solidFill>
                <a:latin typeface="Consolas"/>
                <a:ea typeface="Microsoft JhengHei"/>
              </a:rPr>
              <a:t>風險: API 計費 → 測試用 mock，不打真 API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B2F9A28-D9D9-445D-B72E-2EC7C6ADC970}"/>
              </a:ext>
            </a:extLst>
          </p:cNvPr>
          <p:cNvSpPr/>
          <p:nvPr/>
        </p:nvSpPr>
        <p:spPr>
          <a:xfrm>
            <a:off x="7366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86F88684-1DF9-438D-A31E-4218B20923EE}"/>
              </a:ext>
            </a:extLst>
          </p:cNvPr>
          <p:cNvSpPr/>
          <p:nvPr/>
        </p:nvSpPr>
        <p:spPr>
          <a:xfrm>
            <a:off x="17272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76997AE4-FC3A-439D-8CB4-88707E3EFD54}"/>
              </a:ext>
            </a:extLst>
          </p:cNvPr>
          <p:cNvSpPr/>
          <p:nvPr/>
        </p:nvSpPr>
        <p:spPr>
          <a:xfrm>
            <a:off x="2717800" y="203200"/>
            <a:ext cx="889000" cy="50800"/>
          </a:xfrm>
          <a:prstGeom prst="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20AE497A-64CE-4EAD-B2BC-9031AEA5C73D}"/>
              </a:ext>
            </a:extLst>
          </p:cNvPr>
          <p:cNvSpPr/>
          <p:nvPr/>
        </p:nvSpPr>
        <p:spPr>
          <a:xfrm>
            <a:off x="37084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11585829-9A81-459D-A353-59AFDD9EC549}"/>
              </a:ext>
            </a:extLst>
          </p:cNvPr>
          <p:cNvSpPr/>
          <p:nvPr/>
        </p:nvSpPr>
        <p:spPr>
          <a:xfrm>
            <a:off x="46990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9B45D9AB-0C1C-4CC6-861A-3A5EC9C7557E}"/>
              </a:ext>
            </a:extLst>
          </p:cNvPr>
          <p:cNvSpPr/>
          <p:nvPr/>
        </p:nvSpPr>
        <p:spPr>
          <a:xfrm>
            <a:off x="10642600" y="304800"/>
            <a:ext cx="787400" cy="330200"/>
          </a:xfrm>
          <a:prstGeom prst="round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altLang="zh-TW" sz="1200" b="1">
                <a:solidFill>
                  <a:srgbClr val="FFFFFF"/>
                </a:solidFill>
                <a:latin typeface="Arial"/>
                <a:ea typeface="Microsoft JhengHei"/>
                <a:cs typeface="Arial"/>
              </a:rPr>
              <a:t>CH 3</a:t>
            </a:r>
            <a:endParaRPr lang="zh-TW" altLang="en-US" sz="1200" b="1">
              <a:solidFill>
                <a:srgbClr val="FFFFFF"/>
              </a:solidFill>
              <a:latin typeface="Arial"/>
              <a:ea typeface="Microsoft JhengHei"/>
              <a:cs typeface="Arial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FFE889EF-6FD2-4CB5-9D05-81C599E544D0}"/>
              </a:ext>
            </a:extLst>
          </p:cNvPr>
          <p:cNvSpPr txBox="1"/>
          <p:nvPr/>
        </p:nvSpPr>
        <p:spPr>
          <a:xfrm>
            <a:off x="11404600" y="6451600"/>
            <a:ext cx="584200" cy="3048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altLang="zh-TW" sz="1100">
                <a:solidFill>
                  <a:srgbClr val="A8A6A0"/>
                </a:solidFill>
                <a:latin typeface="Arial"/>
                <a:ea typeface="Microsoft JhengHei"/>
                <a:cs typeface="Arial"/>
              </a:rPr>
              <a:t>28</a:t>
            </a:r>
            <a:endParaRPr lang="zh-TW" altLang="en-US" sz="1100">
              <a:solidFill>
                <a:srgbClr val="A8A6A0"/>
              </a:solidFill>
              <a:latin typeface="Arial"/>
              <a:ea typeface="Microsoft JhengHei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26063747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4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41413"/>
                </a:solidFill>
                <a:latin typeface="Georgia"/>
                <a:ea typeface="Microsoft JhengHei"/>
              </a:rPr>
              <a:t>/tdd — 先寫測試，再寫實作</a:t>
            </a:r>
          </a:p>
        </p:txBody>
      </p:sp>
      <p:sp>
        <p:nvSpPr>
          <p:cNvPr id="3" name="Rectangle 2"/>
          <p:cNvSpPr/>
          <p:nvPr/>
        </p:nvSpPr>
        <p:spPr>
          <a:xfrm>
            <a:off x="736600" y="1168400"/>
            <a:ext cx="812800" cy="50800"/>
          </a:xfrm>
          <a:prstGeom prst="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ea typeface="Microsoft JhengHe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>
              <a:ea typeface="Microsoft JhengHei"/>
            </a:endParaRP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5E5D59"/>
                </a:solidFill>
                <a:latin typeface="Arial"/>
                <a:ea typeface="Microsoft JhengHei"/>
              </a:rPr>
              <a:t>tdd-guide agent (Sonnet) 強制執行：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endParaRPr sz="1800" b="0" i="0">
              <a:solidFill>
                <a:srgbClr val="5E5D59"/>
              </a:solidFill>
              <a:latin typeface="Arial"/>
              <a:ea typeface="Microsoft JhengHei"/>
            </a:endParaRP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400" b="1" i="0">
                <a:solidFill>
                  <a:srgbClr val="B53333"/>
                </a:solidFill>
                <a:latin typeface="Arial"/>
                <a:ea typeface="Microsoft JhengHei"/>
              </a:rPr>
              <a:t>  RED          寫測試，執行 → 全部 FAIL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5E5D59"/>
                </a:solidFill>
                <a:latin typeface="Arial"/>
                <a:ea typeface="Microsoft JhengHei"/>
              </a:rPr>
              <a:t>                     pytest → ❌ 紅色（這是對的！）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endParaRPr sz="1600" b="0" i="0">
              <a:solidFill>
                <a:srgbClr val="5E5D59"/>
              </a:solidFill>
              <a:latin typeface="Arial"/>
              <a:ea typeface="Microsoft JhengHei"/>
            </a:endParaRP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400" b="1" i="0">
                <a:solidFill>
                  <a:srgbClr val="6B7A3F"/>
                </a:solidFill>
                <a:latin typeface="Arial"/>
                <a:ea typeface="Microsoft JhengHei"/>
              </a:rPr>
              <a:t>  GREEN      寫最小實作，執行 → 全部 PASS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5E5D59"/>
                </a:solidFill>
                <a:latin typeface="Arial"/>
                <a:ea typeface="Microsoft JhengHei"/>
              </a:rPr>
              <a:t>                     pytest → ✅ 綠色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endParaRPr sz="1600" b="0" i="0">
              <a:solidFill>
                <a:srgbClr val="5E5D59"/>
              </a:solidFill>
              <a:latin typeface="Arial"/>
              <a:ea typeface="Microsoft JhengHei"/>
            </a:endParaRP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400" b="1" i="0">
                <a:solidFill>
                  <a:srgbClr val="C96442"/>
                </a:solidFill>
                <a:latin typeface="Arial"/>
                <a:ea typeface="Microsoft JhengHei"/>
              </a:rPr>
              <a:t>  IMPROVE  重構，保持測試綠色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5E5D59"/>
                </a:solidFill>
                <a:latin typeface="Arial"/>
                <a:ea typeface="Microsoft JhengHei"/>
              </a:rPr>
              <a:t>                     改善命名、抽取共用邏輯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C8BABB5B-A507-4846-A971-3D0F309E74F2}"/>
              </a:ext>
            </a:extLst>
          </p:cNvPr>
          <p:cNvSpPr/>
          <p:nvPr/>
        </p:nvSpPr>
        <p:spPr>
          <a:xfrm>
            <a:off x="7366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CD3990AC-DDFB-43FA-A10D-813979A4B04F}"/>
              </a:ext>
            </a:extLst>
          </p:cNvPr>
          <p:cNvSpPr/>
          <p:nvPr/>
        </p:nvSpPr>
        <p:spPr>
          <a:xfrm>
            <a:off x="17272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2132C077-25AF-4453-A720-61EF3BCD3A62}"/>
              </a:ext>
            </a:extLst>
          </p:cNvPr>
          <p:cNvSpPr/>
          <p:nvPr/>
        </p:nvSpPr>
        <p:spPr>
          <a:xfrm>
            <a:off x="2717800" y="203200"/>
            <a:ext cx="889000" cy="50800"/>
          </a:xfrm>
          <a:prstGeom prst="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D8D9B7F4-ED24-4741-85A7-6F9EF5EBD165}"/>
              </a:ext>
            </a:extLst>
          </p:cNvPr>
          <p:cNvSpPr/>
          <p:nvPr/>
        </p:nvSpPr>
        <p:spPr>
          <a:xfrm>
            <a:off x="37084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74185064-C60B-44B0-A1F9-FD324067E299}"/>
              </a:ext>
            </a:extLst>
          </p:cNvPr>
          <p:cNvSpPr/>
          <p:nvPr/>
        </p:nvSpPr>
        <p:spPr>
          <a:xfrm>
            <a:off x="46990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480106D6-D8E7-445A-9DE5-6A405DA2339C}"/>
              </a:ext>
            </a:extLst>
          </p:cNvPr>
          <p:cNvSpPr/>
          <p:nvPr/>
        </p:nvSpPr>
        <p:spPr>
          <a:xfrm>
            <a:off x="10642600" y="304800"/>
            <a:ext cx="787400" cy="330200"/>
          </a:xfrm>
          <a:prstGeom prst="round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altLang="zh-TW" sz="1200" b="1">
                <a:solidFill>
                  <a:srgbClr val="FFFFFF"/>
                </a:solidFill>
                <a:latin typeface="Arial"/>
                <a:ea typeface="Microsoft JhengHei"/>
                <a:cs typeface="Arial"/>
              </a:rPr>
              <a:t>CH 3</a:t>
            </a:r>
            <a:endParaRPr lang="zh-TW" altLang="en-US" sz="1200" b="1">
              <a:solidFill>
                <a:srgbClr val="FFFFFF"/>
              </a:solidFill>
              <a:latin typeface="Arial"/>
              <a:ea typeface="Microsoft JhengHei"/>
              <a:cs typeface="Arial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1112A6EE-D0D1-407B-85AB-39FBA58DCF38}"/>
              </a:ext>
            </a:extLst>
          </p:cNvPr>
          <p:cNvSpPr txBox="1"/>
          <p:nvPr/>
        </p:nvSpPr>
        <p:spPr>
          <a:xfrm>
            <a:off x="11404600" y="6451600"/>
            <a:ext cx="584200" cy="3048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altLang="zh-TW" sz="1100">
                <a:solidFill>
                  <a:srgbClr val="A8A6A0"/>
                </a:solidFill>
                <a:latin typeface="Arial"/>
                <a:ea typeface="Microsoft JhengHei"/>
                <a:cs typeface="Arial"/>
              </a:rPr>
              <a:t>29</a:t>
            </a:r>
            <a:endParaRPr lang="zh-TW" altLang="en-US" sz="1100">
              <a:solidFill>
                <a:srgbClr val="A8A6A0"/>
              </a:solidFill>
              <a:latin typeface="Arial"/>
              <a:ea typeface="Microsoft JhengHei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98377143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4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41413"/>
                </a:solidFill>
                <a:latin typeface="Georgia"/>
                <a:ea typeface="Microsoft JhengHei"/>
              </a:rPr>
              <a:t>FastAPI /docs — 免費的互動文檔</a:t>
            </a:r>
          </a:p>
        </p:txBody>
      </p:sp>
      <p:sp>
        <p:nvSpPr>
          <p:cNvPr id="3" name="Rectangle 2"/>
          <p:cNvSpPr/>
          <p:nvPr/>
        </p:nvSpPr>
        <p:spPr>
          <a:xfrm>
            <a:off x="736600" y="1168400"/>
            <a:ext cx="812800" cy="50800"/>
          </a:xfrm>
          <a:prstGeom prst="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ea typeface="Microsoft JhengHe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>
              <a:ea typeface="Microsoft JhengHei"/>
            </a:endParaRP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400" b="1" i="0">
                <a:solidFill>
                  <a:srgbClr val="C96442"/>
                </a:solidFill>
                <a:latin typeface="Arial"/>
                <a:ea typeface="Microsoft JhengHei"/>
              </a:rPr>
              <a:t>API 寫完，文檔就自動有了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endParaRPr sz="2400" b="1" i="0">
              <a:solidFill>
                <a:srgbClr val="C96442"/>
              </a:solidFill>
              <a:latin typeface="Arial"/>
              <a:ea typeface="Microsoft JhengHei"/>
            </a:endParaRP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41413"/>
                </a:solidFill>
                <a:latin typeface="Arial"/>
                <a:ea typeface="Microsoft JhengHei"/>
              </a:rPr>
              <a:t>uvicorn app.main:app --reload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6B7A3F"/>
                </a:solidFill>
                <a:latin typeface="Arial"/>
                <a:ea typeface="Microsoft JhengHei"/>
              </a:rPr>
              <a:t>打開 http://localhost:8000/docs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endParaRPr sz="2000" b="0" i="0">
              <a:solidFill>
                <a:srgbClr val="6B7A3F"/>
              </a:solidFill>
              <a:latin typeface="Arial"/>
              <a:ea typeface="Microsoft JhengHei"/>
            </a:endParaRP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41413"/>
                </a:solidFill>
                <a:latin typeface="Arial"/>
                <a:ea typeface="Microsoft JhengHei"/>
              </a:rPr>
              <a:t>•  Swagger UI 自動產生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41413"/>
                </a:solidFill>
                <a:latin typeface="Arial"/>
                <a:ea typeface="Microsoft JhengHei"/>
              </a:rPr>
              <a:t>•  直接在瀏覽器中測試每個 API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41413"/>
                </a:solidFill>
                <a:latin typeface="Arial"/>
                <a:ea typeface="Microsoft JhengHei"/>
              </a:rPr>
              <a:t>•  curl -N 可看 token 逐塊串流吐出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endParaRPr sz="2000" b="0" i="0">
              <a:solidFill>
                <a:srgbClr val="141413"/>
              </a:solidFill>
              <a:latin typeface="Arial"/>
              <a:ea typeface="Microsoft JhengHei"/>
            </a:endParaRP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5E5D59"/>
                </a:solidFill>
                <a:latin typeface="Arial"/>
                <a:ea typeface="Microsoft JhengHei"/>
              </a:rPr>
              <a:t>→  選 FastAPI 的額外好處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DEFD0BAE-73C9-414D-BFD0-63EC768A0A8D}"/>
              </a:ext>
            </a:extLst>
          </p:cNvPr>
          <p:cNvSpPr/>
          <p:nvPr/>
        </p:nvSpPr>
        <p:spPr>
          <a:xfrm>
            <a:off x="7366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D196D3AE-4DA4-4862-8A87-9E2A42BE6B37}"/>
              </a:ext>
            </a:extLst>
          </p:cNvPr>
          <p:cNvSpPr/>
          <p:nvPr/>
        </p:nvSpPr>
        <p:spPr>
          <a:xfrm>
            <a:off x="17272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24C799A-F6D9-4A4C-9CDB-B87C37AE3825}"/>
              </a:ext>
            </a:extLst>
          </p:cNvPr>
          <p:cNvSpPr/>
          <p:nvPr/>
        </p:nvSpPr>
        <p:spPr>
          <a:xfrm>
            <a:off x="2717800" y="203200"/>
            <a:ext cx="889000" cy="50800"/>
          </a:xfrm>
          <a:prstGeom prst="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D15FA33D-DCAA-4FFE-9DC1-7C0B0F03EF48}"/>
              </a:ext>
            </a:extLst>
          </p:cNvPr>
          <p:cNvSpPr/>
          <p:nvPr/>
        </p:nvSpPr>
        <p:spPr>
          <a:xfrm>
            <a:off x="37084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CBC8D274-CFCB-487B-BDB7-36EBE4474C57}"/>
              </a:ext>
            </a:extLst>
          </p:cNvPr>
          <p:cNvSpPr/>
          <p:nvPr/>
        </p:nvSpPr>
        <p:spPr>
          <a:xfrm>
            <a:off x="46990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06615168-117C-4A6C-8F1F-20CFD488CD5A}"/>
              </a:ext>
            </a:extLst>
          </p:cNvPr>
          <p:cNvSpPr/>
          <p:nvPr/>
        </p:nvSpPr>
        <p:spPr>
          <a:xfrm>
            <a:off x="10642600" y="304800"/>
            <a:ext cx="787400" cy="330200"/>
          </a:xfrm>
          <a:prstGeom prst="round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altLang="zh-TW" sz="1200" b="1">
                <a:solidFill>
                  <a:srgbClr val="FFFFFF"/>
                </a:solidFill>
                <a:latin typeface="Arial"/>
                <a:ea typeface="Microsoft JhengHei"/>
                <a:cs typeface="Arial"/>
              </a:rPr>
              <a:t>CH 3</a:t>
            </a:r>
            <a:endParaRPr lang="zh-TW" altLang="en-US" sz="1200" b="1">
              <a:solidFill>
                <a:srgbClr val="FFFFFF"/>
              </a:solidFill>
              <a:latin typeface="Arial"/>
              <a:ea typeface="Microsoft JhengHei"/>
              <a:cs typeface="Arial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A826AB2D-AF95-4478-9FB5-969D784118D0}"/>
              </a:ext>
            </a:extLst>
          </p:cNvPr>
          <p:cNvSpPr txBox="1"/>
          <p:nvPr/>
        </p:nvSpPr>
        <p:spPr>
          <a:xfrm>
            <a:off x="11404600" y="6451600"/>
            <a:ext cx="584200" cy="3048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altLang="zh-TW" sz="1100">
                <a:solidFill>
                  <a:srgbClr val="A8A6A0"/>
                </a:solidFill>
                <a:latin typeface="Arial"/>
                <a:ea typeface="Microsoft JhengHei"/>
                <a:cs typeface="Arial"/>
              </a:rPr>
              <a:t>30</a:t>
            </a:r>
            <a:endParaRPr lang="zh-TW" altLang="en-US" sz="1100">
              <a:solidFill>
                <a:srgbClr val="A8A6A0"/>
              </a:solidFill>
              <a:latin typeface="Arial"/>
              <a:ea typeface="Microsoft JhengHei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91570214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4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41413"/>
                </a:solidFill>
                <a:latin typeface="Georgia"/>
                <a:ea typeface="Microsoft JhengHei"/>
              </a:rPr>
              <a:t>/review-code — AI 審查程式碼</a:t>
            </a:r>
          </a:p>
        </p:txBody>
      </p:sp>
      <p:sp>
        <p:nvSpPr>
          <p:cNvPr id="3" name="Rectangle 2"/>
          <p:cNvSpPr/>
          <p:nvPr/>
        </p:nvSpPr>
        <p:spPr>
          <a:xfrm>
            <a:off x="736600" y="1168400"/>
            <a:ext cx="812800" cy="50800"/>
          </a:xfrm>
          <a:prstGeom prst="rect">
            <a:avLst/>
          </a:prstGeom>
          <a:solidFill>
            <a:srgbClr val="C96442"/>
          </a:solidFill>
          <a:ln w="12700" cap="flat" cmpd="sng" algn="ctr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ea typeface="Microsoft JhengHe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C96442"/>
                </a:solidFill>
                <a:latin typeface="Consolas"/>
                <a:ea typeface="Microsoft JhengHei"/>
              </a:rPr>
              <a:t>📋 程式碼審查報告          code-quality-specialist (Sonnet)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endParaRPr sz="1600" b="0" i="0">
              <a:solidFill>
                <a:srgbClr val="C96442"/>
              </a:solidFill>
              <a:latin typeface="Consolas"/>
              <a:ea typeface="Microsoft JhengHei"/>
            </a:endParaRP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6B7A3F"/>
                </a:solidFill>
                <a:latin typeface="Consolas"/>
                <a:ea typeface="Microsoft JhengHei"/>
              </a:rPr>
              <a:t>✅ PASS  命名規範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6B7A3F"/>
                </a:solidFill>
                <a:latin typeface="Consolas"/>
                <a:ea typeface="Microsoft JhengHei"/>
              </a:rPr>
              <a:t>✅ PASS  函式長度 &lt; 50 行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6B7A3F"/>
                </a:solidFill>
                <a:latin typeface="Consolas"/>
                <a:ea typeface="Microsoft JhengHei"/>
              </a:rPr>
              <a:t>✅ PASS  無硬編碼值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B53333"/>
                </a:solidFill>
                <a:latin typeface="Consolas"/>
                <a:ea typeface="Microsoft JhengHei"/>
              </a:rPr>
              <a:t>⚠️  WARN  API Key 不可硬編碼 → 改用 .env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6B7A3F"/>
                </a:solidFill>
                <a:latin typeface="Consolas"/>
                <a:ea typeface="Microsoft JhengHei"/>
              </a:rPr>
              <a:t>✅ PASS  錯誤處理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6B7A3F"/>
                </a:solidFill>
                <a:latin typeface="Consolas"/>
                <a:ea typeface="Microsoft JhengHei"/>
              </a:rPr>
              <a:t>✅ PASS  不可變模式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endParaRPr sz="1600" b="0" i="0">
              <a:solidFill>
                <a:srgbClr val="6B7A3F"/>
              </a:solidFill>
              <a:latin typeface="Consolas"/>
              <a:ea typeface="Microsoft JhengHei"/>
            </a:endParaRP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41413"/>
                </a:solidFill>
                <a:latin typeface="Consolas"/>
                <a:ea typeface="Microsoft JhengHei"/>
              </a:rPr>
              <a:t>整體: 8.5/10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D97757"/>
                </a:solidFill>
                <a:latin typeface="Consolas"/>
                <a:ea typeface="Microsoft JhengHei"/>
              </a:rPr>
              <a:t>必修: 把 API Key 移到環境變數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61588D38-4634-40FB-A942-DEDA7D838198}"/>
              </a:ext>
            </a:extLst>
          </p:cNvPr>
          <p:cNvSpPr/>
          <p:nvPr/>
        </p:nvSpPr>
        <p:spPr>
          <a:xfrm>
            <a:off x="7366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106FA496-2BE4-4C5B-9A1C-5C5C62EA5E26}"/>
              </a:ext>
            </a:extLst>
          </p:cNvPr>
          <p:cNvSpPr/>
          <p:nvPr/>
        </p:nvSpPr>
        <p:spPr>
          <a:xfrm>
            <a:off x="17272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DAE58B11-C646-4B1D-A936-63908976B76A}"/>
              </a:ext>
            </a:extLst>
          </p:cNvPr>
          <p:cNvSpPr/>
          <p:nvPr/>
        </p:nvSpPr>
        <p:spPr>
          <a:xfrm>
            <a:off x="2717800" y="203200"/>
            <a:ext cx="889000" cy="50800"/>
          </a:xfrm>
          <a:prstGeom prst="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C2C09BF3-35DD-4ADB-B85C-693E3620839A}"/>
              </a:ext>
            </a:extLst>
          </p:cNvPr>
          <p:cNvSpPr/>
          <p:nvPr/>
        </p:nvSpPr>
        <p:spPr>
          <a:xfrm>
            <a:off x="37084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E068F969-ECA6-4DAC-86FD-4AF31B508635}"/>
              </a:ext>
            </a:extLst>
          </p:cNvPr>
          <p:cNvSpPr/>
          <p:nvPr/>
        </p:nvSpPr>
        <p:spPr>
          <a:xfrm>
            <a:off x="46990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316375E0-ED1D-4ADB-AA22-F49E7BF0151F}"/>
              </a:ext>
            </a:extLst>
          </p:cNvPr>
          <p:cNvSpPr/>
          <p:nvPr/>
        </p:nvSpPr>
        <p:spPr>
          <a:xfrm>
            <a:off x="10642600" y="304800"/>
            <a:ext cx="787400" cy="330200"/>
          </a:xfrm>
          <a:prstGeom prst="round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altLang="zh-TW" sz="1200" b="1">
                <a:solidFill>
                  <a:srgbClr val="FFFFFF"/>
                </a:solidFill>
                <a:latin typeface="Arial"/>
                <a:ea typeface="Microsoft JhengHei"/>
                <a:cs typeface="Arial"/>
              </a:rPr>
              <a:t>CH 3</a:t>
            </a:r>
            <a:endParaRPr lang="zh-TW" altLang="en-US" sz="1200" b="1">
              <a:solidFill>
                <a:srgbClr val="FFFFFF"/>
              </a:solidFill>
              <a:latin typeface="Arial"/>
              <a:ea typeface="Microsoft JhengHei"/>
              <a:cs typeface="Arial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6B80BCB7-7C97-4C3E-A00D-AC2B77EF5E4F}"/>
              </a:ext>
            </a:extLst>
          </p:cNvPr>
          <p:cNvSpPr txBox="1"/>
          <p:nvPr/>
        </p:nvSpPr>
        <p:spPr>
          <a:xfrm>
            <a:off x="11404600" y="6451600"/>
            <a:ext cx="584200" cy="3048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altLang="zh-TW" sz="1100">
                <a:solidFill>
                  <a:srgbClr val="A8A6A0"/>
                </a:solidFill>
                <a:latin typeface="Arial"/>
                <a:ea typeface="Microsoft JhengHei"/>
                <a:cs typeface="Arial"/>
              </a:rPr>
              <a:t>31</a:t>
            </a:r>
            <a:endParaRPr lang="zh-TW" altLang="en-US" sz="1100">
              <a:solidFill>
                <a:srgbClr val="A8A6A0"/>
              </a:solidFill>
              <a:latin typeface="Arial"/>
              <a:ea typeface="Microsoft JhengHei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39583317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4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182880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C96442"/>
                </a:solidFill>
                <a:latin typeface="Arial"/>
                <a:ea typeface="Microsoft JhengHei"/>
              </a:rPr>
              <a:t>第 2 輪（加速）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65176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141413"/>
                </a:solidFill>
                <a:latin typeface="Georgia"/>
                <a:ea typeface="Microsoft JhengHei"/>
              </a:rPr>
              <a:t>前端 UI — 原生單頁 + 逐字串流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8BCD74DE-00B2-42F0-B768-30A27E2C9F8F}"/>
              </a:ext>
            </a:extLst>
          </p:cNvPr>
          <p:cNvSpPr/>
          <p:nvPr/>
        </p:nvSpPr>
        <p:spPr>
          <a:xfrm>
            <a:off x="914400" y="508000"/>
            <a:ext cx="889000" cy="635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ED28C9C-79D3-4056-8A6D-A285AB0ACA84}"/>
              </a:ext>
            </a:extLst>
          </p:cNvPr>
          <p:cNvSpPr/>
          <p:nvPr/>
        </p:nvSpPr>
        <p:spPr>
          <a:xfrm>
            <a:off x="1905000" y="508000"/>
            <a:ext cx="889000" cy="635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192B2B9E-C2DA-4CFF-A080-FB2CD49E2627}"/>
              </a:ext>
            </a:extLst>
          </p:cNvPr>
          <p:cNvSpPr/>
          <p:nvPr/>
        </p:nvSpPr>
        <p:spPr>
          <a:xfrm>
            <a:off x="2895600" y="508000"/>
            <a:ext cx="889000" cy="63500"/>
          </a:xfrm>
          <a:prstGeom prst="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6DA12790-241E-4C4D-A439-9E906421710D}"/>
              </a:ext>
            </a:extLst>
          </p:cNvPr>
          <p:cNvSpPr/>
          <p:nvPr/>
        </p:nvSpPr>
        <p:spPr>
          <a:xfrm>
            <a:off x="3886200" y="508000"/>
            <a:ext cx="889000" cy="635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9FF203F6-C5B5-4C72-8110-C9170EAFEC1F}"/>
              </a:ext>
            </a:extLst>
          </p:cNvPr>
          <p:cNvSpPr/>
          <p:nvPr/>
        </p:nvSpPr>
        <p:spPr>
          <a:xfrm>
            <a:off x="4876800" y="508000"/>
            <a:ext cx="889000" cy="635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8739759B-A902-4665-BBC5-70B406B03CFA}"/>
              </a:ext>
            </a:extLst>
          </p:cNvPr>
          <p:cNvSpPr/>
          <p:nvPr/>
        </p:nvSpPr>
        <p:spPr>
          <a:xfrm>
            <a:off x="5689600" y="1651000"/>
            <a:ext cx="812800" cy="50800"/>
          </a:xfrm>
          <a:prstGeom prst="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908DB06B-6C76-4689-9108-826E3A987525}"/>
              </a:ext>
            </a:extLst>
          </p:cNvPr>
          <p:cNvSpPr/>
          <p:nvPr/>
        </p:nvSpPr>
        <p:spPr>
          <a:xfrm>
            <a:off x="10642600" y="304800"/>
            <a:ext cx="787400" cy="330200"/>
          </a:xfrm>
          <a:prstGeom prst="round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altLang="zh-TW" sz="1200" b="1">
                <a:solidFill>
                  <a:srgbClr val="FFFFFF"/>
                </a:solidFill>
                <a:latin typeface="Arial"/>
                <a:ea typeface="Microsoft JhengHei"/>
                <a:cs typeface="Arial"/>
              </a:rPr>
              <a:t>CH 3</a:t>
            </a:r>
            <a:endParaRPr lang="zh-TW" altLang="en-US" sz="1200" b="1">
              <a:solidFill>
                <a:srgbClr val="FFFFFF"/>
              </a:solidFill>
              <a:latin typeface="Arial"/>
              <a:ea typeface="Microsoft JhengHei"/>
              <a:cs typeface="Arial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3B35234E-1DD1-450B-A3D1-07F34A494144}"/>
              </a:ext>
            </a:extLst>
          </p:cNvPr>
          <p:cNvSpPr txBox="1"/>
          <p:nvPr/>
        </p:nvSpPr>
        <p:spPr>
          <a:xfrm>
            <a:off x="11404600" y="6451600"/>
            <a:ext cx="584200" cy="3048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altLang="zh-TW" sz="1100">
                <a:solidFill>
                  <a:srgbClr val="A8A6A0"/>
                </a:solidFill>
                <a:latin typeface="Arial"/>
                <a:ea typeface="Microsoft JhengHei"/>
                <a:cs typeface="Arial"/>
              </a:rPr>
              <a:t>32</a:t>
            </a:r>
            <a:endParaRPr lang="zh-TW" altLang="en-US" sz="1100">
              <a:solidFill>
                <a:srgbClr val="A8A6A0"/>
              </a:solidFill>
              <a:latin typeface="Arial"/>
              <a:ea typeface="Microsoft JhengHei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62808328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4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41413"/>
                </a:solidFill>
                <a:latin typeface="Georgia"/>
                <a:ea typeface="Microsoft JhengHei"/>
              </a:rPr>
              <a:t>第 2 輪：同樣的流程，加快節奏</a:t>
            </a:r>
          </a:p>
        </p:txBody>
      </p:sp>
      <p:sp>
        <p:nvSpPr>
          <p:cNvPr id="3" name="Rectangle 2"/>
          <p:cNvSpPr/>
          <p:nvPr/>
        </p:nvSpPr>
        <p:spPr>
          <a:xfrm>
            <a:off x="736600" y="1168400"/>
            <a:ext cx="812800" cy="50800"/>
          </a:xfrm>
          <a:prstGeom prst="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ea typeface="Microsoft JhengHe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>
              <a:ea typeface="Microsoft JhengHei"/>
            </a:endParaRP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141413"/>
                </a:solidFill>
                <a:latin typeface="Arial"/>
                <a:ea typeface="Microsoft JhengHei"/>
              </a:rPr>
              <a:t>/task-next      →  自動跳到前端任務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141413"/>
                </a:solidFill>
                <a:latin typeface="Arial"/>
                <a:ea typeface="Microsoft JhengHei"/>
              </a:rPr>
              <a:t>/plan + /tdd   →  學員已熟悉，快速帶過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endParaRPr sz="2200" b="0" i="0">
              <a:solidFill>
                <a:srgbClr val="141413"/>
              </a:solidFill>
              <a:latin typeface="Arial"/>
              <a:ea typeface="Microsoft JhengHei"/>
            </a:endParaRP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1" i="0">
                <a:solidFill>
                  <a:srgbClr val="C96442"/>
                </a:solidFill>
                <a:latin typeface="Arial"/>
                <a:ea typeface="Microsoft JhengHei"/>
              </a:rPr>
              <a:t>重點觀察：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endParaRPr sz="2200" b="1" i="0">
              <a:solidFill>
                <a:srgbClr val="C96442"/>
              </a:solidFill>
              <a:latin typeface="Arial"/>
              <a:ea typeface="Microsoft JhengHei"/>
            </a:endParaRP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41413"/>
                </a:solidFill>
                <a:latin typeface="Arial"/>
                <a:ea typeface="Microsoft JhengHei"/>
              </a:rPr>
              <a:t>•  UI 設計規則自動套用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5E5D59"/>
                </a:solidFill>
                <a:latin typeface="Arial"/>
                <a:ea typeface="Microsoft JhengHei"/>
              </a:rPr>
              <a:t>     → 系統字型、圓角 12-16px、輕微陰影、大量留白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endParaRPr sz="1600" b="0" i="0">
              <a:solidFill>
                <a:srgbClr val="5E5D59"/>
              </a:solidFill>
              <a:latin typeface="Arial"/>
              <a:ea typeface="Microsoft JhengHei"/>
            </a:endParaRP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41413"/>
                </a:solidFill>
                <a:latin typeface="Arial"/>
                <a:ea typeface="Microsoft JhengHei"/>
              </a:rPr>
              <a:t>•  來自 .claude/rules/ui-design.md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5E5D59"/>
                </a:solidFill>
                <a:latin typeface="Arial"/>
                <a:ea typeface="Microsoft JhengHei"/>
              </a:rPr>
              <a:t>     → 不需要手動指定，AI 自動遵守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endParaRPr sz="1600" b="0" i="0">
              <a:solidFill>
                <a:srgbClr val="5E5D59"/>
              </a:solidFill>
              <a:latin typeface="Arial"/>
              <a:ea typeface="Microsoft JhengHei"/>
            </a:endParaRP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6B7A3F"/>
                </a:solidFill>
                <a:latin typeface="Arial"/>
                <a:ea typeface="Microsoft JhengHei"/>
              </a:rPr>
              <a:t>•  瀏覽器開聊天頁 → 看 AI 一個字一個字串流回覆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D6F04B73-7CE3-457F-9ABD-9409188AA346}"/>
              </a:ext>
            </a:extLst>
          </p:cNvPr>
          <p:cNvSpPr/>
          <p:nvPr/>
        </p:nvSpPr>
        <p:spPr>
          <a:xfrm>
            <a:off x="7366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1838F48E-D995-4D98-9E69-A33A2AFA2329}"/>
              </a:ext>
            </a:extLst>
          </p:cNvPr>
          <p:cNvSpPr/>
          <p:nvPr/>
        </p:nvSpPr>
        <p:spPr>
          <a:xfrm>
            <a:off x="17272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165F75A4-3AED-4AD5-883C-01D717ABA924}"/>
              </a:ext>
            </a:extLst>
          </p:cNvPr>
          <p:cNvSpPr/>
          <p:nvPr/>
        </p:nvSpPr>
        <p:spPr>
          <a:xfrm>
            <a:off x="2717800" y="203200"/>
            <a:ext cx="889000" cy="50800"/>
          </a:xfrm>
          <a:prstGeom prst="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1F7746CF-6103-4865-A23F-64F75C2EE50A}"/>
              </a:ext>
            </a:extLst>
          </p:cNvPr>
          <p:cNvSpPr/>
          <p:nvPr/>
        </p:nvSpPr>
        <p:spPr>
          <a:xfrm>
            <a:off x="37084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7309048-269D-4C5A-9268-E8F20B3BA1DE}"/>
              </a:ext>
            </a:extLst>
          </p:cNvPr>
          <p:cNvSpPr/>
          <p:nvPr/>
        </p:nvSpPr>
        <p:spPr>
          <a:xfrm>
            <a:off x="46990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5823BAF3-B51E-4E17-98ED-1E3F51FD3279}"/>
              </a:ext>
            </a:extLst>
          </p:cNvPr>
          <p:cNvSpPr/>
          <p:nvPr/>
        </p:nvSpPr>
        <p:spPr>
          <a:xfrm>
            <a:off x="10642600" y="304800"/>
            <a:ext cx="787400" cy="330200"/>
          </a:xfrm>
          <a:prstGeom prst="round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altLang="zh-TW" sz="1200" b="1">
                <a:solidFill>
                  <a:srgbClr val="FFFFFF"/>
                </a:solidFill>
                <a:latin typeface="Arial"/>
                <a:ea typeface="Microsoft JhengHei"/>
                <a:cs typeface="Arial"/>
              </a:rPr>
              <a:t>CH 3</a:t>
            </a:r>
            <a:endParaRPr lang="zh-TW" altLang="en-US" sz="1200" b="1">
              <a:solidFill>
                <a:srgbClr val="FFFFFF"/>
              </a:solidFill>
              <a:latin typeface="Arial"/>
              <a:ea typeface="Microsoft JhengHei"/>
              <a:cs typeface="Arial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F10988D7-612D-4511-816E-6AC05382C013}"/>
              </a:ext>
            </a:extLst>
          </p:cNvPr>
          <p:cNvSpPr txBox="1"/>
          <p:nvPr/>
        </p:nvSpPr>
        <p:spPr>
          <a:xfrm>
            <a:off x="11404600" y="6451600"/>
            <a:ext cx="584200" cy="3048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altLang="zh-TW" sz="1100">
                <a:solidFill>
                  <a:srgbClr val="A8A6A0"/>
                </a:solidFill>
                <a:latin typeface="Arial"/>
                <a:ea typeface="Microsoft JhengHei"/>
                <a:cs typeface="Arial"/>
              </a:rPr>
              <a:t>33</a:t>
            </a:r>
            <a:endParaRPr lang="zh-TW" altLang="en-US" sz="1100">
              <a:solidFill>
                <a:srgbClr val="A8A6A0"/>
              </a:solidFill>
              <a:latin typeface="Arial"/>
              <a:ea typeface="Microsoft JhengHei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0340038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4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182880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C96442"/>
                </a:solidFill>
                <a:latin typeface="Arial"/>
                <a:ea typeface="Microsoft JhengHei"/>
              </a:rPr>
              <a:t>第 3 輪（快速）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65176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141413"/>
                </a:solidFill>
                <a:latin typeface="Georgia"/>
                <a:ea typeface="Microsoft JhengHei"/>
              </a:rPr>
              <a:t>修 Bug — /build-fix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36EE8028-070E-4EC7-AE7E-CDBFD236965B}"/>
              </a:ext>
            </a:extLst>
          </p:cNvPr>
          <p:cNvSpPr/>
          <p:nvPr/>
        </p:nvSpPr>
        <p:spPr>
          <a:xfrm>
            <a:off x="914400" y="508000"/>
            <a:ext cx="889000" cy="635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67002EC-2F03-402C-B36C-496E970ABDC6}"/>
              </a:ext>
            </a:extLst>
          </p:cNvPr>
          <p:cNvSpPr/>
          <p:nvPr/>
        </p:nvSpPr>
        <p:spPr>
          <a:xfrm>
            <a:off x="1905000" y="508000"/>
            <a:ext cx="889000" cy="635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451CEA9D-FDF8-4D0D-9C9A-451E729EA1FD}"/>
              </a:ext>
            </a:extLst>
          </p:cNvPr>
          <p:cNvSpPr/>
          <p:nvPr/>
        </p:nvSpPr>
        <p:spPr>
          <a:xfrm>
            <a:off x="2895600" y="508000"/>
            <a:ext cx="889000" cy="63500"/>
          </a:xfrm>
          <a:prstGeom prst="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1E293B30-8CEA-4107-9E6D-10AA3C3A7E49}"/>
              </a:ext>
            </a:extLst>
          </p:cNvPr>
          <p:cNvSpPr/>
          <p:nvPr/>
        </p:nvSpPr>
        <p:spPr>
          <a:xfrm>
            <a:off x="3886200" y="508000"/>
            <a:ext cx="889000" cy="635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EB30042-DC96-4AA6-B341-1264CCB9C030}"/>
              </a:ext>
            </a:extLst>
          </p:cNvPr>
          <p:cNvSpPr/>
          <p:nvPr/>
        </p:nvSpPr>
        <p:spPr>
          <a:xfrm>
            <a:off x="4876800" y="508000"/>
            <a:ext cx="889000" cy="635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2AD8DEF7-CED5-4A76-A43E-3FB0C3CBF8E9}"/>
              </a:ext>
            </a:extLst>
          </p:cNvPr>
          <p:cNvSpPr/>
          <p:nvPr/>
        </p:nvSpPr>
        <p:spPr>
          <a:xfrm>
            <a:off x="5689600" y="1651000"/>
            <a:ext cx="812800" cy="50800"/>
          </a:xfrm>
          <a:prstGeom prst="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232C1EDD-0131-4468-8209-04D402F849C4}"/>
              </a:ext>
            </a:extLst>
          </p:cNvPr>
          <p:cNvSpPr/>
          <p:nvPr/>
        </p:nvSpPr>
        <p:spPr>
          <a:xfrm>
            <a:off x="10642600" y="304800"/>
            <a:ext cx="787400" cy="330200"/>
          </a:xfrm>
          <a:prstGeom prst="round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altLang="zh-TW" sz="1200" b="1">
                <a:solidFill>
                  <a:srgbClr val="FFFFFF"/>
                </a:solidFill>
                <a:latin typeface="Arial"/>
                <a:ea typeface="Microsoft JhengHei"/>
                <a:cs typeface="Arial"/>
              </a:rPr>
              <a:t>CH 3</a:t>
            </a:r>
            <a:endParaRPr lang="zh-TW" altLang="en-US" sz="1200" b="1">
              <a:solidFill>
                <a:srgbClr val="FFFFFF"/>
              </a:solidFill>
              <a:latin typeface="Arial"/>
              <a:ea typeface="Microsoft JhengHei"/>
              <a:cs typeface="Arial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D31E43AB-C3C3-46C1-A377-0F7DCDBAC5E6}"/>
              </a:ext>
            </a:extLst>
          </p:cNvPr>
          <p:cNvSpPr txBox="1"/>
          <p:nvPr/>
        </p:nvSpPr>
        <p:spPr>
          <a:xfrm>
            <a:off x="11404600" y="6451600"/>
            <a:ext cx="584200" cy="3048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altLang="zh-TW" sz="1100">
                <a:solidFill>
                  <a:srgbClr val="A8A6A0"/>
                </a:solidFill>
                <a:latin typeface="Arial"/>
                <a:ea typeface="Microsoft JhengHei"/>
                <a:cs typeface="Arial"/>
              </a:rPr>
              <a:t>34</a:t>
            </a:r>
            <a:endParaRPr lang="zh-TW" altLang="en-US" sz="1100">
              <a:solidFill>
                <a:srgbClr val="A8A6A0"/>
              </a:solidFill>
              <a:latin typeface="Arial"/>
              <a:ea typeface="Microsoft JhengHei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11784344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4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41413"/>
                </a:solidFill>
                <a:latin typeface="Georgia"/>
                <a:ea typeface="Microsoft JhengHei"/>
              </a:rPr>
              <a:t>/build-fix — 出錯不可怕</a:t>
            </a:r>
          </a:p>
        </p:txBody>
      </p:sp>
      <p:sp>
        <p:nvSpPr>
          <p:cNvPr id="3" name="Rectangle 2"/>
          <p:cNvSpPr/>
          <p:nvPr/>
        </p:nvSpPr>
        <p:spPr>
          <a:xfrm>
            <a:off x="736600" y="1168400"/>
            <a:ext cx="812800" cy="50800"/>
          </a:xfrm>
          <a:prstGeom prst="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ea typeface="Microsoft JhengHe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>
              <a:ea typeface="Microsoft JhengHei"/>
            </a:endParaRP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141413"/>
                </a:solidFill>
                <a:latin typeface="Arial"/>
                <a:ea typeface="Microsoft JhengHei"/>
              </a:rPr>
              <a:t>⚡ 刻意引入一個 bug，讓建置失敗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endParaRPr sz="2200" b="0" i="0">
              <a:solidFill>
                <a:srgbClr val="141413"/>
              </a:solidFill>
              <a:latin typeface="Arial"/>
              <a:ea typeface="Microsoft JhengHei"/>
            </a:endParaRP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1" i="0">
                <a:solidFill>
                  <a:srgbClr val="C96442"/>
                </a:solidFill>
                <a:latin typeface="Arial"/>
                <a:ea typeface="Microsoft JhengHei"/>
              </a:rPr>
              <a:t>/build-fix 啟動 build-error-resolver agent (Haiku)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endParaRPr sz="2200" b="1" i="0">
              <a:solidFill>
                <a:srgbClr val="C96442"/>
              </a:solidFill>
              <a:latin typeface="Arial"/>
              <a:ea typeface="Microsoft JhengHei"/>
            </a:endParaRP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41413"/>
                </a:solidFill>
                <a:latin typeface="Arial"/>
                <a:ea typeface="Microsoft JhengHei"/>
              </a:rPr>
              <a:t>  1.  讀取錯誤訊息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41413"/>
                </a:solidFill>
                <a:latin typeface="Arial"/>
                <a:ea typeface="Microsoft JhengHei"/>
              </a:rPr>
              <a:t>  2.  定位問題檔案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41413"/>
                </a:solidFill>
                <a:latin typeface="Arial"/>
                <a:ea typeface="Microsoft JhengHei"/>
              </a:rPr>
              <a:t>  3.  用最小差異修復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41413"/>
                </a:solidFill>
                <a:latin typeface="Arial"/>
                <a:ea typeface="Microsoft JhengHei"/>
              </a:rPr>
              <a:t>  4.  驗證修復成功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endParaRPr sz="2000" b="0" i="0">
              <a:solidFill>
                <a:srgbClr val="141413"/>
              </a:solidFill>
              <a:latin typeface="Arial"/>
              <a:ea typeface="Microsoft JhengHei"/>
            </a:endParaRP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6B7A3F"/>
                </a:solidFill>
                <a:latin typeface="Arial"/>
                <a:ea typeface="Microsoft JhengHei"/>
              </a:rPr>
              <a:t>變更: 1 file, 1 line    測試: ✅ all passed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endParaRPr sz="2000" b="0" i="0">
              <a:solidFill>
                <a:srgbClr val="6B7A3F"/>
              </a:solidFill>
              <a:latin typeface="Arial"/>
              <a:ea typeface="Microsoft JhengHei"/>
            </a:endParaRP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5E5D59"/>
                </a:solidFill>
                <a:latin typeface="Arial"/>
                <a:ea typeface="Microsoft JhengHei"/>
              </a:rPr>
              <a:t>→  用最輕量的 Haiku 模型，快速修復，省成本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08FD253E-9BDA-4683-9E5A-843EF914C3AC}"/>
              </a:ext>
            </a:extLst>
          </p:cNvPr>
          <p:cNvSpPr/>
          <p:nvPr/>
        </p:nvSpPr>
        <p:spPr>
          <a:xfrm>
            <a:off x="7366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01872F33-B35A-4527-BDA3-C5E86DAD3DEE}"/>
              </a:ext>
            </a:extLst>
          </p:cNvPr>
          <p:cNvSpPr/>
          <p:nvPr/>
        </p:nvSpPr>
        <p:spPr>
          <a:xfrm>
            <a:off x="17272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64DE80A1-07A9-45FF-BE98-2723D7E557AC}"/>
              </a:ext>
            </a:extLst>
          </p:cNvPr>
          <p:cNvSpPr/>
          <p:nvPr/>
        </p:nvSpPr>
        <p:spPr>
          <a:xfrm>
            <a:off x="2717800" y="203200"/>
            <a:ext cx="889000" cy="50800"/>
          </a:xfrm>
          <a:prstGeom prst="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567B2E0F-C66E-4095-9874-A9BF18AB3A0C}"/>
              </a:ext>
            </a:extLst>
          </p:cNvPr>
          <p:cNvSpPr/>
          <p:nvPr/>
        </p:nvSpPr>
        <p:spPr>
          <a:xfrm>
            <a:off x="37084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53869BD7-58C5-4182-A4EE-CFE43F20A29B}"/>
              </a:ext>
            </a:extLst>
          </p:cNvPr>
          <p:cNvSpPr/>
          <p:nvPr/>
        </p:nvSpPr>
        <p:spPr>
          <a:xfrm>
            <a:off x="46990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2F50CD81-AC10-4FDB-9F25-C87EBB70DCD8}"/>
              </a:ext>
            </a:extLst>
          </p:cNvPr>
          <p:cNvSpPr/>
          <p:nvPr/>
        </p:nvSpPr>
        <p:spPr>
          <a:xfrm>
            <a:off x="10642600" y="304800"/>
            <a:ext cx="787400" cy="330200"/>
          </a:xfrm>
          <a:prstGeom prst="round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altLang="zh-TW" sz="1200" b="1" dirty="0">
                <a:solidFill>
                  <a:srgbClr val="FFFFFF"/>
                </a:solidFill>
                <a:latin typeface="Arial"/>
                <a:ea typeface="Microsoft JhengHei"/>
                <a:cs typeface="Arial"/>
              </a:rPr>
              <a:t>CH 3</a:t>
            </a:r>
            <a:endParaRPr lang="zh-TW" altLang="en-US" sz="1200" b="1" dirty="0">
              <a:solidFill>
                <a:srgbClr val="FFFFFF"/>
              </a:solidFill>
              <a:latin typeface="Arial"/>
              <a:ea typeface="Microsoft JhengHei"/>
              <a:cs typeface="Arial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43E83170-5E5F-4B50-9BCA-563492BC6A08}"/>
              </a:ext>
            </a:extLst>
          </p:cNvPr>
          <p:cNvSpPr txBox="1"/>
          <p:nvPr/>
        </p:nvSpPr>
        <p:spPr>
          <a:xfrm>
            <a:off x="11404600" y="6451600"/>
            <a:ext cx="584200" cy="3048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altLang="zh-TW" sz="1100">
                <a:solidFill>
                  <a:srgbClr val="A8A6A0"/>
                </a:solidFill>
                <a:latin typeface="Arial"/>
                <a:ea typeface="Microsoft JhengHei"/>
                <a:cs typeface="Arial"/>
              </a:rPr>
              <a:t>35</a:t>
            </a:r>
            <a:endParaRPr lang="zh-TW" altLang="en-US" sz="1100">
              <a:solidFill>
                <a:srgbClr val="A8A6A0"/>
              </a:solidFill>
              <a:latin typeface="Arial"/>
              <a:ea typeface="Microsoft JhengHei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11384272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4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41413"/>
                </a:solidFill>
                <a:latin typeface="Georgia"/>
                <a:ea typeface="Microsoft JhengHei"/>
              </a:rPr>
              <a:t>Chapter 3 小結 — 3 種 Lane 完成</a:t>
            </a:r>
          </a:p>
        </p:txBody>
      </p:sp>
      <p:sp>
        <p:nvSpPr>
          <p:cNvPr id="3" name="Rectangle 2"/>
          <p:cNvSpPr/>
          <p:nvPr/>
        </p:nvSpPr>
        <p:spPr>
          <a:xfrm>
            <a:off x="736600" y="1168400"/>
            <a:ext cx="812800" cy="50800"/>
          </a:xfrm>
          <a:prstGeom prst="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ea typeface="Microsoft JhengHe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>
              <a:ea typeface="Microsoft JhengHei"/>
            </a:endParaRP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141413"/>
                </a:solidFill>
                <a:latin typeface="Arial"/>
                <a:ea typeface="Microsoft JhengHei"/>
              </a:rPr>
              <a:t>第 1 輪:  後端 API    (standard) FastAPI + Gemini SSE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141413"/>
                </a:solidFill>
                <a:latin typeface="Arial"/>
                <a:ea typeface="Microsoft JhengHei"/>
              </a:rPr>
              <a:t>第 2 輪:  前端 UI     (standard) 原生單頁 + 逐字串流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141413"/>
                </a:solidFill>
                <a:latin typeface="Arial"/>
                <a:ea typeface="Microsoft JhengHei"/>
              </a:rPr>
              <a:t>第 3 輪:  換人設+修Bug (quick) 直接寫 + /verify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endParaRPr sz="2200" b="0" i="0">
              <a:solidFill>
                <a:srgbClr val="141413"/>
              </a:solidFill>
              <a:latin typeface="Arial"/>
              <a:ea typeface="Microsoft JhengHei"/>
            </a:endParaRP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1" i="0">
                <a:solidFill>
                  <a:srgbClr val="C96442"/>
                </a:solidFill>
                <a:latin typeface="Arial"/>
                <a:ea typeface="Microsoft JhengHei"/>
              </a:rPr>
              <a:t>核心流程（依模式分流）：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6B7A3F"/>
                </a:solidFill>
                <a:latin typeface="Arial"/>
                <a:ea typeface="Microsoft JhengHei"/>
              </a:rPr>
              <a:t>quick     →  直接寫 → /verify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41413"/>
                </a:solidFill>
                <a:latin typeface="Arial"/>
                <a:ea typeface="Microsoft JhengHei"/>
              </a:rPr>
              <a:t>standard  →  /plan → /tdd (80%) → /review-code → /verify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D97757"/>
                </a:solidFill>
                <a:latin typeface="Arial"/>
                <a:ea typeface="Microsoft JhengHei"/>
              </a:rPr>
              <a:t>critical  →  /plan → /tdd (100%) → /review-code → /verify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endParaRPr sz="2000" b="0" i="0">
              <a:solidFill>
                <a:srgbClr val="D97757"/>
              </a:solidFill>
              <a:latin typeface="Arial"/>
              <a:ea typeface="Microsoft JhengHei"/>
            </a:endParaRP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1" i="0">
                <a:solidFill>
                  <a:srgbClr val="6B7A3F"/>
                </a:solidFill>
                <a:latin typeface="Arial"/>
                <a:ea typeface="Microsoft JhengHei"/>
              </a:rPr>
              <a:t>Agent 協作：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3D3D3A"/>
                </a:solidFill>
                <a:latin typeface="Arial"/>
                <a:ea typeface="Microsoft JhengHei"/>
              </a:rPr>
              <a:t>  planner (Opus) → tdd-guide (Sonnet) → code-quality (Sonnet) → build-resolver (Haiku)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872E17C-C716-41A4-B9E5-8B6671ADAEAA}"/>
              </a:ext>
            </a:extLst>
          </p:cNvPr>
          <p:cNvSpPr/>
          <p:nvPr/>
        </p:nvSpPr>
        <p:spPr>
          <a:xfrm>
            <a:off x="7366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A94348F2-DD7A-4965-A836-76C86B96A140}"/>
              </a:ext>
            </a:extLst>
          </p:cNvPr>
          <p:cNvSpPr/>
          <p:nvPr/>
        </p:nvSpPr>
        <p:spPr>
          <a:xfrm>
            <a:off x="17272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08387568-7804-4B6C-A826-7BB48597399C}"/>
              </a:ext>
            </a:extLst>
          </p:cNvPr>
          <p:cNvSpPr/>
          <p:nvPr/>
        </p:nvSpPr>
        <p:spPr>
          <a:xfrm>
            <a:off x="2717800" y="203200"/>
            <a:ext cx="889000" cy="50800"/>
          </a:xfrm>
          <a:prstGeom prst="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32791369-C5AB-468E-B797-53995F432074}"/>
              </a:ext>
            </a:extLst>
          </p:cNvPr>
          <p:cNvSpPr/>
          <p:nvPr/>
        </p:nvSpPr>
        <p:spPr>
          <a:xfrm>
            <a:off x="37084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EAD4C3AF-FC43-4E0C-9699-4A4856366B34}"/>
              </a:ext>
            </a:extLst>
          </p:cNvPr>
          <p:cNvSpPr/>
          <p:nvPr/>
        </p:nvSpPr>
        <p:spPr>
          <a:xfrm>
            <a:off x="46990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70BCAB4B-E85F-4EB7-8CB4-A8A2A6DA2E33}"/>
              </a:ext>
            </a:extLst>
          </p:cNvPr>
          <p:cNvSpPr/>
          <p:nvPr/>
        </p:nvSpPr>
        <p:spPr>
          <a:xfrm>
            <a:off x="10642600" y="304800"/>
            <a:ext cx="787400" cy="330200"/>
          </a:xfrm>
          <a:prstGeom prst="round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altLang="zh-TW" sz="1200" b="1">
                <a:solidFill>
                  <a:srgbClr val="FFFFFF"/>
                </a:solidFill>
                <a:latin typeface="Arial"/>
                <a:ea typeface="Microsoft JhengHei"/>
                <a:cs typeface="Arial"/>
              </a:rPr>
              <a:t>CH 3</a:t>
            </a:r>
            <a:endParaRPr lang="zh-TW" altLang="en-US" sz="1200" b="1">
              <a:solidFill>
                <a:srgbClr val="FFFFFF"/>
              </a:solidFill>
              <a:latin typeface="Arial"/>
              <a:ea typeface="Microsoft JhengHei"/>
              <a:cs typeface="Arial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FBF296BF-A96D-4A6B-9629-094358E025E1}"/>
              </a:ext>
            </a:extLst>
          </p:cNvPr>
          <p:cNvSpPr txBox="1"/>
          <p:nvPr/>
        </p:nvSpPr>
        <p:spPr>
          <a:xfrm>
            <a:off x="11404600" y="6451600"/>
            <a:ext cx="584200" cy="3048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altLang="zh-TW" sz="1100">
                <a:solidFill>
                  <a:srgbClr val="A8A6A0"/>
                </a:solidFill>
                <a:latin typeface="Arial"/>
                <a:ea typeface="Microsoft JhengHei"/>
                <a:cs typeface="Arial"/>
              </a:rPr>
              <a:t>36</a:t>
            </a:r>
            <a:endParaRPr lang="zh-TW" altLang="en-US" sz="1100">
              <a:solidFill>
                <a:srgbClr val="A8A6A0"/>
              </a:solidFill>
              <a:latin typeface="Arial"/>
              <a:ea typeface="Microsoft JhengHei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1942655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4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文字方塊 8">
            <a:extLst>
              <a:ext uri="{FF2B5EF4-FFF2-40B4-BE49-F238E27FC236}">
                <a16:creationId xmlns:a16="http://schemas.microsoft.com/office/drawing/2014/main" id="{A732B10B-68DD-4EA6-8C19-0528B0BF80E2}"/>
              </a:ext>
            </a:extLst>
          </p:cNvPr>
          <p:cNvSpPr txBox="1"/>
          <p:nvPr/>
        </p:nvSpPr>
        <p:spPr>
          <a:xfrm>
            <a:off x="6604000" y="1524000"/>
            <a:ext cx="4826000" cy="4318000"/>
          </a:xfrm>
          <a:prstGeom prst="rect">
            <a:avLst/>
          </a:prstGeom>
          <a:noFill/>
        </p:spPr>
        <p:txBody>
          <a:bodyPr vertOverflow="overflow" vert="horz" wrap="none" rtlCol="0" anchor="t" anchorCtr="0">
            <a:noAutofit/>
          </a:bodyPr>
          <a:lstStyle/>
          <a:p>
            <a:pPr algn="r"/>
            <a:r>
              <a:rPr lang="en-US" sz="20000" b="1">
                <a:solidFill>
                  <a:srgbClr val="F0E9E0"/>
                </a:solidFill>
                <a:latin typeface="Georgia"/>
                <a:ea typeface="Microsoft JhengHei"/>
              </a:rPr>
              <a:t>04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1219200" y="2540000"/>
            <a:ext cx="7620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C96442"/>
                </a:solidFill>
                <a:latin typeface="Arial"/>
                <a:ea typeface="Microsoft JhengHei"/>
              </a:rPr>
              <a:t>CHAPTER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19200" y="3022600"/>
            <a:ext cx="8890000" cy="10823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141413"/>
                </a:solidFill>
                <a:latin typeface="Georgia"/>
                <a:ea typeface="Microsoft JhengHei"/>
              </a:rPr>
              <a:t>品質驗證</a:t>
            </a:r>
          </a:p>
          <a:p>
            <a:pPr algn="l">
              <a:spcBef>
                <a:spcPts val="1000"/>
              </a:spcBef>
            </a:pPr>
            <a:r>
              <a:rPr sz="1600" b="0" i="0">
                <a:solidFill>
                  <a:srgbClr val="5E5D59"/>
                </a:solidFill>
                <a:latin typeface="Arial"/>
                <a:ea typeface="Microsoft JhengHei"/>
              </a:rPr>
              <a:t>verify、e2e、time-log — 自動把關品質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CB96F9EC-8A1A-4C03-8351-BEDA951FA3E8}"/>
              </a:ext>
            </a:extLst>
          </p:cNvPr>
          <p:cNvSpPr/>
          <p:nvPr/>
        </p:nvSpPr>
        <p:spPr>
          <a:xfrm>
            <a:off x="914400" y="508000"/>
            <a:ext cx="889000" cy="635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2B0ABFDF-4C73-41EA-9B0C-C7060F58DECD}"/>
              </a:ext>
            </a:extLst>
          </p:cNvPr>
          <p:cNvSpPr/>
          <p:nvPr/>
        </p:nvSpPr>
        <p:spPr>
          <a:xfrm>
            <a:off x="1905000" y="508000"/>
            <a:ext cx="889000" cy="635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461176B9-FB6A-49F7-8719-E1A9DCEBD08A}"/>
              </a:ext>
            </a:extLst>
          </p:cNvPr>
          <p:cNvSpPr/>
          <p:nvPr/>
        </p:nvSpPr>
        <p:spPr>
          <a:xfrm>
            <a:off x="2895600" y="508000"/>
            <a:ext cx="889000" cy="635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B6CC8C83-F810-49E9-89D7-E861F9B43E9C}"/>
              </a:ext>
            </a:extLst>
          </p:cNvPr>
          <p:cNvSpPr/>
          <p:nvPr/>
        </p:nvSpPr>
        <p:spPr>
          <a:xfrm>
            <a:off x="3886200" y="508000"/>
            <a:ext cx="889000" cy="63500"/>
          </a:xfrm>
          <a:prstGeom prst="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DFA17687-FBE5-4E4D-93CF-2304CC7BC921}"/>
              </a:ext>
            </a:extLst>
          </p:cNvPr>
          <p:cNvSpPr/>
          <p:nvPr/>
        </p:nvSpPr>
        <p:spPr>
          <a:xfrm>
            <a:off x="4876800" y="508000"/>
            <a:ext cx="889000" cy="635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8E953768-D606-412B-AEFE-74AF0561D13D}"/>
              </a:ext>
            </a:extLst>
          </p:cNvPr>
          <p:cNvSpPr/>
          <p:nvPr/>
        </p:nvSpPr>
        <p:spPr>
          <a:xfrm>
            <a:off x="914400" y="2603500"/>
            <a:ext cx="76200" cy="1168400"/>
          </a:xfrm>
          <a:prstGeom prst="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2AE7703B-3614-4597-8640-9CA1A5DB2802}"/>
              </a:ext>
            </a:extLst>
          </p:cNvPr>
          <p:cNvSpPr txBox="1"/>
          <p:nvPr/>
        </p:nvSpPr>
        <p:spPr>
          <a:xfrm>
            <a:off x="11404600" y="6451600"/>
            <a:ext cx="584200" cy="3048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altLang="zh-TW" sz="1100">
                <a:solidFill>
                  <a:srgbClr val="A8A6A0"/>
                </a:solidFill>
                <a:latin typeface="Arial"/>
                <a:ea typeface="Microsoft JhengHei"/>
                <a:cs typeface="Arial"/>
              </a:rPr>
              <a:t>37</a:t>
            </a:r>
            <a:endParaRPr lang="zh-TW" altLang="en-US" sz="1100">
              <a:solidFill>
                <a:srgbClr val="A8A6A0"/>
              </a:solidFill>
              <a:latin typeface="Arial"/>
              <a:ea typeface="Microsoft JhengHei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99413194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4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41413"/>
                </a:solidFill>
                <a:latin typeface="Georgia"/>
                <a:ea typeface="Microsoft JhengHei"/>
              </a:rPr>
              <a:t>/verify — 三道品質門（依模式自動）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736600" y="1168400"/>
            <a:ext cx="812800" cy="50800"/>
          </a:xfrm>
          <a:prstGeom prst="rect">
            <a:avLst/>
          </a:prstGeom>
          <a:solidFill>
            <a:srgbClr val="C96442"/>
          </a:solidFill>
          <a:ln w="12700" cap="flat" cmpd="sng" algn="ctr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ea typeface="Microsoft JhengHe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C96442"/>
                </a:solidFill>
                <a:latin typeface="Consolas"/>
                <a:ea typeface="Microsoft JhengHei"/>
              </a:rPr>
              <a:t>🔍 全面驗證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endParaRPr sz="1600" b="0" i="0">
              <a:solidFill>
                <a:srgbClr val="C96442"/>
              </a:solidFill>
              <a:latin typeface="Consolas"/>
              <a:ea typeface="Microsoft JhengHei"/>
            </a:endParaRP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41413"/>
                </a:solidFill>
                <a:latin typeface="Consolas"/>
                <a:ea typeface="Microsoft JhengHei"/>
              </a:rPr>
              <a:t>Gate 1: 型別檢查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6B7A3F"/>
                </a:solidFill>
                <a:latin typeface="Consolas"/>
                <a:ea typeface="Microsoft JhengHei"/>
              </a:rPr>
              <a:t>  mypy --strict             ✅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5E5D59"/>
                </a:solidFill>
                <a:latin typeface="Consolas"/>
                <a:ea typeface="Microsoft JhengHei"/>
              </a:rPr>
              <a:t>  (Gemini 全程 mock，不打真 API)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endParaRPr sz="1600" b="0" i="0">
              <a:solidFill>
                <a:srgbClr val="5E5D59"/>
              </a:solidFill>
              <a:latin typeface="Consolas"/>
              <a:ea typeface="Microsoft JhengHei"/>
            </a:endParaRP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41413"/>
                </a:solidFill>
                <a:latin typeface="Consolas"/>
                <a:ea typeface="Microsoft JhengHei"/>
              </a:rPr>
              <a:t>Gate 2: 測試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6B7A3F"/>
                </a:solidFill>
                <a:latin typeface="Consolas"/>
                <a:ea typeface="Microsoft JhengHei"/>
              </a:rPr>
              <a:t>  pytest     → 9/9 passed✅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6B7A3F"/>
                </a:solidFill>
                <a:latin typeface="Consolas"/>
                <a:ea typeface="Microsoft JhengHei"/>
              </a:rPr>
              <a:t>  stream→  8/8  passed  ✅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6B7A3F"/>
                </a:solidFill>
                <a:latin typeface="Consolas"/>
                <a:ea typeface="Microsoft JhengHei"/>
              </a:rPr>
              <a:t>  coverage   →  86%✅ (&gt;80%)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endParaRPr sz="1600" b="0" i="0">
              <a:solidFill>
                <a:srgbClr val="6B7A3F"/>
              </a:solidFill>
              <a:latin typeface="Consolas"/>
              <a:ea typeface="Microsoft JhengHei"/>
            </a:endParaRP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41413"/>
                </a:solidFill>
                <a:latin typeface="Consolas"/>
                <a:ea typeface="Microsoft JhengHei"/>
              </a:rPr>
              <a:t>Gate 3: Lint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6B7A3F"/>
                </a:solidFill>
                <a:latin typeface="Consolas"/>
                <a:ea typeface="Microsoft JhengHei"/>
              </a:rPr>
              <a:t>  ruff       →  0 errors     ✅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6B7A3F"/>
                </a:solidFill>
                <a:latin typeface="Consolas"/>
                <a:ea typeface="Microsoft JhengHei"/>
              </a:rPr>
              <a:t>  format→  0 errors     ✅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endParaRPr sz="1600" b="0" i="0">
              <a:solidFill>
                <a:srgbClr val="6B7A3F"/>
              </a:solidFill>
              <a:latin typeface="Consolas"/>
              <a:ea typeface="Microsoft JhengHei"/>
            </a:endParaRP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6B7A3F"/>
                </a:solidFill>
                <a:latin typeface="Consolas"/>
                <a:ea typeface="Microsoft JhengHei"/>
              </a:rPr>
              <a:t>結果: ✅ 全部通過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B2C5D323-DE77-4D44-AC45-CCC7BAEF766A}"/>
              </a:ext>
            </a:extLst>
          </p:cNvPr>
          <p:cNvSpPr/>
          <p:nvPr/>
        </p:nvSpPr>
        <p:spPr>
          <a:xfrm>
            <a:off x="7366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5C7C9F57-5614-4013-BFDF-0A405BB8139E}"/>
              </a:ext>
            </a:extLst>
          </p:cNvPr>
          <p:cNvSpPr/>
          <p:nvPr/>
        </p:nvSpPr>
        <p:spPr>
          <a:xfrm>
            <a:off x="17272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B76BE7C5-D2AF-4AAC-904E-3C5D3181D120}"/>
              </a:ext>
            </a:extLst>
          </p:cNvPr>
          <p:cNvSpPr/>
          <p:nvPr/>
        </p:nvSpPr>
        <p:spPr>
          <a:xfrm>
            <a:off x="27178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1E5CB463-30DF-4B8C-A878-025373B9D24C}"/>
              </a:ext>
            </a:extLst>
          </p:cNvPr>
          <p:cNvSpPr/>
          <p:nvPr/>
        </p:nvSpPr>
        <p:spPr>
          <a:xfrm>
            <a:off x="3708400" y="203200"/>
            <a:ext cx="889000" cy="50800"/>
          </a:xfrm>
          <a:prstGeom prst="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4A788F23-8DDC-4498-A81E-DA2512F0770D}"/>
              </a:ext>
            </a:extLst>
          </p:cNvPr>
          <p:cNvSpPr/>
          <p:nvPr/>
        </p:nvSpPr>
        <p:spPr>
          <a:xfrm>
            <a:off x="46990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5364BC31-3BAA-4A02-90CC-1C8A186D8CB9}"/>
              </a:ext>
            </a:extLst>
          </p:cNvPr>
          <p:cNvSpPr/>
          <p:nvPr/>
        </p:nvSpPr>
        <p:spPr>
          <a:xfrm>
            <a:off x="10642600" y="304800"/>
            <a:ext cx="787400" cy="330200"/>
          </a:xfrm>
          <a:prstGeom prst="round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altLang="zh-TW" sz="1200" b="1">
                <a:solidFill>
                  <a:srgbClr val="FFFFFF"/>
                </a:solidFill>
                <a:latin typeface="Arial"/>
                <a:ea typeface="Microsoft JhengHei"/>
                <a:cs typeface="Arial"/>
              </a:rPr>
              <a:t>CH 4</a:t>
            </a:r>
            <a:endParaRPr lang="zh-TW" altLang="en-US" sz="1200" b="1">
              <a:solidFill>
                <a:srgbClr val="FFFFFF"/>
              </a:solidFill>
              <a:latin typeface="Arial"/>
              <a:ea typeface="Microsoft JhengHei"/>
              <a:cs typeface="Arial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F65EC2B4-15D1-4BD6-A253-91C191494899}"/>
              </a:ext>
            </a:extLst>
          </p:cNvPr>
          <p:cNvSpPr txBox="1"/>
          <p:nvPr/>
        </p:nvSpPr>
        <p:spPr>
          <a:xfrm>
            <a:off x="11404600" y="6451600"/>
            <a:ext cx="584200" cy="3048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altLang="zh-TW" sz="1100">
                <a:solidFill>
                  <a:srgbClr val="A8A6A0"/>
                </a:solidFill>
                <a:latin typeface="Arial"/>
                <a:ea typeface="Microsoft JhengHei"/>
                <a:cs typeface="Arial"/>
              </a:rPr>
              <a:t>38</a:t>
            </a:r>
            <a:endParaRPr lang="zh-TW" altLang="en-US" sz="1100">
              <a:solidFill>
                <a:srgbClr val="A8A6A0"/>
              </a:solidFill>
              <a:latin typeface="Arial"/>
              <a:ea typeface="Microsoft JhengHei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64438122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4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41413"/>
                </a:solidFill>
                <a:latin typeface="Georgia"/>
                <a:ea typeface="Microsoft JhengHei"/>
              </a:rPr>
              <a:t>/e2e — Playwright 自動操作瀏覽器</a:t>
            </a:r>
          </a:p>
        </p:txBody>
      </p:sp>
      <p:sp>
        <p:nvSpPr>
          <p:cNvPr id="3" name="Rectangle 2"/>
          <p:cNvSpPr/>
          <p:nvPr/>
        </p:nvSpPr>
        <p:spPr>
          <a:xfrm>
            <a:off x="736600" y="1168400"/>
            <a:ext cx="812800" cy="50800"/>
          </a:xfrm>
          <a:prstGeom prst="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ea typeface="Microsoft JhengHe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>
              <a:ea typeface="Microsoft JhengHei"/>
            </a:endParaRP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5E5D59"/>
                </a:solidFill>
                <a:latin typeface="Arial"/>
                <a:ea typeface="Microsoft JhengHei"/>
              </a:rPr>
              <a:t>e2e-validation-specialist agent 會：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endParaRPr sz="1800" b="0" i="0">
              <a:solidFill>
                <a:srgbClr val="5E5D59"/>
              </a:solidFill>
              <a:latin typeface="Arial"/>
              <a:ea typeface="Microsoft JhengHei"/>
            </a:endParaRP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41413"/>
                </a:solidFill>
                <a:latin typeface="Arial"/>
                <a:ea typeface="Microsoft JhengHei"/>
              </a:rPr>
              <a:t>  1.  啟動 Playwright 瀏覽器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41413"/>
                </a:solidFill>
                <a:latin typeface="Arial"/>
                <a:ea typeface="Microsoft JhengHei"/>
              </a:rPr>
              <a:t>  2.  自動執行使用者流程：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endParaRPr sz="2000" b="0" i="0">
              <a:solidFill>
                <a:srgbClr val="141413"/>
              </a:solidFill>
              <a:latin typeface="Arial"/>
              <a:ea typeface="Microsoft JhengHei"/>
            </a:endParaRP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3D3D3A"/>
                </a:solidFill>
                <a:latin typeface="Arial"/>
                <a:ea typeface="Microsoft JhengHei"/>
              </a:rPr>
              <a:t>        打開聊天頁 → 看到空的對話視窗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3D3D3A"/>
                </a:solidFill>
                <a:latin typeface="Arial"/>
                <a:ea typeface="Microsoft JhengHei"/>
              </a:rPr>
              <a:t>        送出「你好」 → AI 開始串流回覆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3D3D3A"/>
                </a:solidFill>
                <a:latin typeface="Arial"/>
                <a:ea typeface="Microsoft JhengHei"/>
              </a:rPr>
              <a:t>        等待串流完成 → 氣泡顯示完整回覆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3D3D3A"/>
                </a:solidFill>
                <a:latin typeface="Arial"/>
                <a:ea typeface="Microsoft JhengHei"/>
              </a:rPr>
              <a:t>        再追問一句 → 多輪 context 生效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3D3D3A"/>
                </a:solidFill>
                <a:latin typeface="Arial"/>
                <a:ea typeface="Microsoft JhengHei"/>
              </a:rPr>
              <a:t>        清除對話 → 回到空白視窗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endParaRPr sz="1800" b="0" i="0">
              <a:solidFill>
                <a:srgbClr val="3D3D3A"/>
              </a:solidFill>
              <a:latin typeface="Arial"/>
              <a:ea typeface="Microsoft JhengHei"/>
            </a:endParaRP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6B7A3F"/>
                </a:solidFill>
                <a:latin typeface="Arial"/>
                <a:ea typeface="Microsoft JhengHei"/>
              </a:rPr>
              <a:t>  3.  產出截圖 + 測試報告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C450D3E5-B94D-4114-B1CC-C46908C64B24}"/>
              </a:ext>
            </a:extLst>
          </p:cNvPr>
          <p:cNvSpPr/>
          <p:nvPr/>
        </p:nvSpPr>
        <p:spPr>
          <a:xfrm>
            <a:off x="7366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47DA29B5-101F-4C66-B083-3C0C363C817D}"/>
              </a:ext>
            </a:extLst>
          </p:cNvPr>
          <p:cNvSpPr/>
          <p:nvPr/>
        </p:nvSpPr>
        <p:spPr>
          <a:xfrm>
            <a:off x="17272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5EB8CAFB-74F6-468E-8882-B6BD53F60A67}"/>
              </a:ext>
            </a:extLst>
          </p:cNvPr>
          <p:cNvSpPr/>
          <p:nvPr/>
        </p:nvSpPr>
        <p:spPr>
          <a:xfrm>
            <a:off x="27178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761B0708-2317-4C1E-AAA6-7F60B89FA445}"/>
              </a:ext>
            </a:extLst>
          </p:cNvPr>
          <p:cNvSpPr/>
          <p:nvPr/>
        </p:nvSpPr>
        <p:spPr>
          <a:xfrm>
            <a:off x="3708400" y="203200"/>
            <a:ext cx="889000" cy="50800"/>
          </a:xfrm>
          <a:prstGeom prst="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3147A59A-A329-4B2F-BF6F-5C767CD6B948}"/>
              </a:ext>
            </a:extLst>
          </p:cNvPr>
          <p:cNvSpPr/>
          <p:nvPr/>
        </p:nvSpPr>
        <p:spPr>
          <a:xfrm>
            <a:off x="46990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673CBBDF-0F14-4C02-AFAB-4EFA599DA512}"/>
              </a:ext>
            </a:extLst>
          </p:cNvPr>
          <p:cNvSpPr/>
          <p:nvPr/>
        </p:nvSpPr>
        <p:spPr>
          <a:xfrm>
            <a:off x="10642600" y="304800"/>
            <a:ext cx="787400" cy="330200"/>
          </a:xfrm>
          <a:prstGeom prst="round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altLang="zh-TW" sz="1200" b="1">
                <a:solidFill>
                  <a:srgbClr val="FFFFFF"/>
                </a:solidFill>
                <a:latin typeface="Arial"/>
                <a:ea typeface="Microsoft JhengHei"/>
                <a:cs typeface="Arial"/>
              </a:rPr>
              <a:t>CH 4</a:t>
            </a:r>
            <a:endParaRPr lang="zh-TW" altLang="en-US" sz="1200" b="1">
              <a:solidFill>
                <a:srgbClr val="FFFFFF"/>
              </a:solidFill>
              <a:latin typeface="Arial"/>
              <a:ea typeface="Microsoft JhengHei"/>
              <a:cs typeface="Arial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301815A9-E292-4FAC-82FD-FB961055C6DE}"/>
              </a:ext>
            </a:extLst>
          </p:cNvPr>
          <p:cNvSpPr txBox="1"/>
          <p:nvPr/>
        </p:nvSpPr>
        <p:spPr>
          <a:xfrm>
            <a:off x="11404600" y="6451600"/>
            <a:ext cx="584200" cy="3048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altLang="zh-TW" sz="1100">
                <a:solidFill>
                  <a:srgbClr val="A8A6A0"/>
                </a:solidFill>
                <a:latin typeface="Arial"/>
                <a:ea typeface="Microsoft JhengHei"/>
                <a:cs typeface="Arial"/>
              </a:rPr>
              <a:t>39</a:t>
            </a:r>
            <a:endParaRPr lang="zh-TW" altLang="en-US" sz="1100">
              <a:solidFill>
                <a:srgbClr val="A8A6A0"/>
              </a:solidFill>
              <a:latin typeface="Arial"/>
              <a:ea typeface="Microsoft JhengHei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34075221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4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41413"/>
                </a:solidFill>
                <a:latin typeface="Georgia"/>
                <a:ea typeface="Microsoft JhengHei"/>
              </a:rPr>
              <a:t>/time-log — 自動時間追蹤</a:t>
            </a:r>
          </a:p>
        </p:txBody>
      </p:sp>
      <p:sp>
        <p:nvSpPr>
          <p:cNvPr id="3" name="Rectangle 2"/>
          <p:cNvSpPr/>
          <p:nvPr/>
        </p:nvSpPr>
        <p:spPr>
          <a:xfrm>
            <a:off x="736600" y="1168400"/>
            <a:ext cx="812800" cy="50800"/>
          </a:xfrm>
          <a:prstGeom prst="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ea typeface="Microsoft JhengHe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>
              <a:ea typeface="Microsoft JhengHei"/>
            </a:endParaRP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400" b="1" i="0">
                <a:solidFill>
                  <a:srgbClr val="C96442"/>
                </a:solidFill>
                <a:latin typeface="Arial"/>
                <a:ea typeface="Microsoft JhengHei"/>
              </a:rPr>
              <a:t>你沒有手動記過任何時間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endParaRPr sz="2400" b="1" i="0">
              <a:solidFill>
                <a:srgbClr val="C96442"/>
              </a:solidFill>
              <a:latin typeface="Arial"/>
              <a:ea typeface="Microsoft JhengHei"/>
            </a:endParaRP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141413"/>
                </a:solidFill>
                <a:latin typeface="Arial"/>
                <a:ea typeface="Microsoft JhengHei"/>
              </a:rPr>
              <a:t>  2.1  Gemini 架構           4 min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141413"/>
                </a:solidFill>
                <a:latin typeface="Arial"/>
                <a:ea typeface="Microsoft JhengHei"/>
              </a:rPr>
              <a:t>  2.2  串流端點 /api/chat    8 min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141413"/>
                </a:solidFill>
                <a:latin typeface="Arial"/>
                <a:ea typeface="Microsoft JhengHei"/>
              </a:rPr>
              <a:t>  3.1  單頁 + CSS            2 min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141413"/>
                </a:solidFill>
                <a:latin typeface="Arial"/>
                <a:ea typeface="Microsoft JhengHei"/>
              </a:rPr>
              <a:t>  3.2  SSE 逐字串流顯示      4 min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141413"/>
                </a:solidFill>
                <a:latin typeface="Arial"/>
                <a:ea typeface="Microsoft JhengHei"/>
              </a:rPr>
              <a:t>  4.1  換人設 + 修 Bug       2 min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87867F"/>
                </a:solidFill>
                <a:latin typeface="Arial"/>
                <a:ea typeface="Microsoft JhengHei"/>
              </a:rPr>
              <a:t>  ───────────────────────────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1" i="0">
                <a:solidFill>
                  <a:srgbClr val="6B7A3F"/>
                </a:solidFill>
                <a:latin typeface="Arial"/>
                <a:ea typeface="Microsoft JhengHei"/>
              </a:rPr>
              <a:t>  合計                          ~20 min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endParaRPr sz="2200" b="1" i="0">
              <a:solidFill>
                <a:srgbClr val="6B7A3F"/>
              </a:solidFill>
              <a:latin typeface="Arial"/>
              <a:ea typeface="Microsoft JhengHei"/>
            </a:endParaRP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5E5D59"/>
                </a:solidFill>
                <a:latin typeface="Arial"/>
                <a:ea typeface="Microsoft JhengHei"/>
              </a:rPr>
              <a:t>→  全部由 Hook 自動追蹤，對回顧和未來估算非常有用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9FA9D87-4237-49A1-BA1A-97428CE72318}"/>
              </a:ext>
            </a:extLst>
          </p:cNvPr>
          <p:cNvSpPr/>
          <p:nvPr/>
        </p:nvSpPr>
        <p:spPr>
          <a:xfrm>
            <a:off x="7366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9D45830E-1B77-4A94-9FE1-2F8A332E9CE5}"/>
              </a:ext>
            </a:extLst>
          </p:cNvPr>
          <p:cNvSpPr/>
          <p:nvPr/>
        </p:nvSpPr>
        <p:spPr>
          <a:xfrm>
            <a:off x="17272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71F47292-7FF3-4D05-B21C-35DC776B9F28}"/>
              </a:ext>
            </a:extLst>
          </p:cNvPr>
          <p:cNvSpPr/>
          <p:nvPr/>
        </p:nvSpPr>
        <p:spPr>
          <a:xfrm>
            <a:off x="27178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8D6F2E6-B571-4D97-854E-484885C222AA}"/>
              </a:ext>
            </a:extLst>
          </p:cNvPr>
          <p:cNvSpPr/>
          <p:nvPr/>
        </p:nvSpPr>
        <p:spPr>
          <a:xfrm>
            <a:off x="3708400" y="203200"/>
            <a:ext cx="889000" cy="50800"/>
          </a:xfrm>
          <a:prstGeom prst="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4DE5C165-938F-4FC4-87B6-22D416D2B821}"/>
              </a:ext>
            </a:extLst>
          </p:cNvPr>
          <p:cNvSpPr/>
          <p:nvPr/>
        </p:nvSpPr>
        <p:spPr>
          <a:xfrm>
            <a:off x="46990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698CAE01-85A4-4EAB-96B9-44D77448172A}"/>
              </a:ext>
            </a:extLst>
          </p:cNvPr>
          <p:cNvSpPr/>
          <p:nvPr/>
        </p:nvSpPr>
        <p:spPr>
          <a:xfrm>
            <a:off x="10642600" y="304800"/>
            <a:ext cx="787400" cy="330200"/>
          </a:xfrm>
          <a:prstGeom prst="round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altLang="zh-TW" sz="1200" b="1">
                <a:solidFill>
                  <a:srgbClr val="FFFFFF"/>
                </a:solidFill>
                <a:latin typeface="Arial"/>
                <a:ea typeface="Microsoft JhengHei"/>
                <a:cs typeface="Arial"/>
              </a:rPr>
              <a:t>CH 4</a:t>
            </a:r>
            <a:endParaRPr lang="zh-TW" altLang="en-US" sz="1200" b="1">
              <a:solidFill>
                <a:srgbClr val="FFFFFF"/>
              </a:solidFill>
              <a:latin typeface="Arial"/>
              <a:ea typeface="Microsoft JhengHei"/>
              <a:cs typeface="Arial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2372D532-7953-41F6-BEAB-21FBDDC91947}"/>
              </a:ext>
            </a:extLst>
          </p:cNvPr>
          <p:cNvSpPr txBox="1"/>
          <p:nvPr/>
        </p:nvSpPr>
        <p:spPr>
          <a:xfrm>
            <a:off x="11404600" y="6451600"/>
            <a:ext cx="584200" cy="3048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altLang="zh-TW" sz="1100">
                <a:solidFill>
                  <a:srgbClr val="A8A6A0"/>
                </a:solidFill>
                <a:latin typeface="Arial"/>
                <a:ea typeface="Microsoft JhengHei"/>
                <a:cs typeface="Arial"/>
              </a:rPr>
              <a:t>40</a:t>
            </a:r>
            <a:endParaRPr lang="zh-TW" altLang="en-US" sz="1100">
              <a:solidFill>
                <a:srgbClr val="A8A6A0"/>
              </a:solidFill>
              <a:latin typeface="Arial"/>
              <a:ea typeface="Microsoft JhengHei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08395679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4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文字方塊 8">
            <a:extLst>
              <a:ext uri="{FF2B5EF4-FFF2-40B4-BE49-F238E27FC236}">
                <a16:creationId xmlns:a16="http://schemas.microsoft.com/office/drawing/2014/main" id="{F525A881-E928-4437-8D37-7034E5166636}"/>
              </a:ext>
            </a:extLst>
          </p:cNvPr>
          <p:cNvSpPr txBox="1"/>
          <p:nvPr/>
        </p:nvSpPr>
        <p:spPr>
          <a:xfrm>
            <a:off x="6604000" y="1524000"/>
            <a:ext cx="4826000" cy="4318000"/>
          </a:xfrm>
          <a:prstGeom prst="rect">
            <a:avLst/>
          </a:prstGeom>
          <a:noFill/>
        </p:spPr>
        <p:txBody>
          <a:bodyPr vertOverflow="overflow" vert="horz" wrap="none" rtlCol="0" anchor="t" anchorCtr="0">
            <a:noAutofit/>
          </a:bodyPr>
          <a:lstStyle/>
          <a:p>
            <a:pPr algn="r"/>
            <a:r>
              <a:rPr lang="en-US" sz="20000" b="1">
                <a:solidFill>
                  <a:srgbClr val="F0E9E0"/>
                </a:solidFill>
                <a:latin typeface="Georgia"/>
                <a:ea typeface="Microsoft JhengHei"/>
              </a:rPr>
              <a:t>05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1219200" y="2540000"/>
            <a:ext cx="7620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C96442"/>
                </a:solidFill>
                <a:latin typeface="Arial"/>
                <a:ea typeface="Microsoft JhengHei"/>
              </a:rPr>
              <a:t>CHAPTER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19200" y="3022600"/>
            <a:ext cx="8890000" cy="10823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141413"/>
                </a:solidFill>
                <a:latin typeface="Georgia"/>
                <a:ea typeface="Microsoft JhengHei"/>
              </a:rPr>
              <a:t>進階技巧與收尾</a:t>
            </a:r>
          </a:p>
          <a:p>
            <a:pPr algn="l">
              <a:spcBef>
                <a:spcPts val="1000"/>
              </a:spcBef>
            </a:pPr>
            <a:r>
              <a:rPr sz="1600" b="0" i="0">
                <a:solidFill>
                  <a:srgbClr val="5E5D59"/>
                </a:solidFill>
                <a:latin typeface="Arial"/>
                <a:ea typeface="Microsoft JhengHei"/>
              </a:rPr>
              <a:t>更多功能、流程回顧與課後練習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8DD1DCB7-0540-40CC-8223-3B29E47DBF25}"/>
              </a:ext>
            </a:extLst>
          </p:cNvPr>
          <p:cNvSpPr/>
          <p:nvPr/>
        </p:nvSpPr>
        <p:spPr>
          <a:xfrm>
            <a:off x="914400" y="508000"/>
            <a:ext cx="889000" cy="635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675DF9D1-63BC-4C2D-8B77-AA576DD4B14A}"/>
              </a:ext>
            </a:extLst>
          </p:cNvPr>
          <p:cNvSpPr/>
          <p:nvPr/>
        </p:nvSpPr>
        <p:spPr>
          <a:xfrm>
            <a:off x="1905000" y="508000"/>
            <a:ext cx="889000" cy="635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AB0DF050-21E3-498E-9CF5-D46BB513CD06}"/>
              </a:ext>
            </a:extLst>
          </p:cNvPr>
          <p:cNvSpPr/>
          <p:nvPr/>
        </p:nvSpPr>
        <p:spPr>
          <a:xfrm>
            <a:off x="2895600" y="508000"/>
            <a:ext cx="889000" cy="635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16B1B62F-3362-4AE4-AD3F-AE1D23B5897C}"/>
              </a:ext>
            </a:extLst>
          </p:cNvPr>
          <p:cNvSpPr/>
          <p:nvPr/>
        </p:nvSpPr>
        <p:spPr>
          <a:xfrm>
            <a:off x="3886200" y="508000"/>
            <a:ext cx="889000" cy="635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1AF2F41E-AFBA-4284-92AA-F4477D0B9CF4}"/>
              </a:ext>
            </a:extLst>
          </p:cNvPr>
          <p:cNvSpPr/>
          <p:nvPr/>
        </p:nvSpPr>
        <p:spPr>
          <a:xfrm>
            <a:off x="4876800" y="508000"/>
            <a:ext cx="889000" cy="63500"/>
          </a:xfrm>
          <a:prstGeom prst="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07661B24-CBFD-4E07-9918-F0A261B81F1C}"/>
              </a:ext>
            </a:extLst>
          </p:cNvPr>
          <p:cNvSpPr/>
          <p:nvPr/>
        </p:nvSpPr>
        <p:spPr>
          <a:xfrm>
            <a:off x="914400" y="2603500"/>
            <a:ext cx="76200" cy="1168400"/>
          </a:xfrm>
          <a:prstGeom prst="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57EE01EB-3B7B-4F5C-AD63-E8D3FEFE713B}"/>
              </a:ext>
            </a:extLst>
          </p:cNvPr>
          <p:cNvSpPr txBox="1"/>
          <p:nvPr/>
        </p:nvSpPr>
        <p:spPr>
          <a:xfrm>
            <a:off x="11404600" y="6451600"/>
            <a:ext cx="584200" cy="3048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altLang="zh-TW" sz="1100">
                <a:solidFill>
                  <a:srgbClr val="A8A6A0"/>
                </a:solidFill>
                <a:latin typeface="Arial"/>
                <a:ea typeface="Microsoft JhengHei"/>
                <a:cs typeface="Arial"/>
              </a:rPr>
              <a:t>41</a:t>
            </a:r>
            <a:endParaRPr lang="zh-TW" altLang="en-US" sz="1100">
              <a:solidFill>
                <a:srgbClr val="A8A6A0"/>
              </a:solidFill>
              <a:latin typeface="Arial"/>
              <a:ea typeface="Microsoft JhengHei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69213571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4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41413"/>
                </a:solidFill>
                <a:latin typeface="Georgia"/>
                <a:ea typeface="Microsoft JhengHei"/>
              </a:rPr>
              <a:t>更多可以探索的功能</a:t>
            </a:r>
          </a:p>
        </p:txBody>
      </p:sp>
      <p:sp>
        <p:nvSpPr>
          <p:cNvPr id="3" name="Rectangle 2"/>
          <p:cNvSpPr/>
          <p:nvPr/>
        </p:nvSpPr>
        <p:spPr>
          <a:xfrm>
            <a:off x="736600" y="1168400"/>
            <a:ext cx="812800" cy="50800"/>
          </a:xfrm>
          <a:prstGeom prst="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ea typeface="Microsoft JhengHe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>
              <a:ea typeface="Microsoft JhengHei"/>
            </a:endParaRP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141413"/>
                </a:solidFill>
                <a:latin typeface="Arial"/>
                <a:ea typeface="Microsoft JhengHei"/>
              </a:rPr>
              <a:t>/suggest-mode      調整建議密度（新手 high、熟練 low/off）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141413"/>
                </a:solidFill>
                <a:latin typeface="Arial"/>
                <a:ea typeface="Microsoft JhengHei"/>
              </a:rPr>
              <a:t>/agent-log           看 subagent 軌跡與 handoff 交接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141413"/>
                </a:solidFill>
                <a:latin typeface="Arial"/>
                <a:ea typeface="Microsoft JhengHei"/>
              </a:rPr>
              <a:t>/save-session      保存會話狀態，下次接續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5E5D59"/>
                </a:solidFill>
                <a:latin typeface="Arial"/>
                <a:ea typeface="Microsoft JhengHei"/>
              </a:rPr>
              <a:t>                             → 每次下班前執行，隔天無縫接續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endParaRPr sz="1600" b="0" i="0">
              <a:solidFill>
                <a:srgbClr val="5E5D59"/>
              </a:solidFill>
              <a:latin typeface="Arial"/>
              <a:ea typeface="Microsoft JhengHei"/>
            </a:endParaRP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141413"/>
                </a:solidFill>
                <a:latin typeface="Arial"/>
                <a:ea typeface="Microsoft JhengHei"/>
              </a:rPr>
              <a:t>/hub-delegate       手動點名 Agent 執行任務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5E5D59"/>
                </a:solidFill>
                <a:latin typeface="Arial"/>
                <a:ea typeface="Microsoft JhengHei"/>
              </a:rPr>
              <a:t>                             → 例如直接請 security-auditor 掃描安全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endParaRPr sz="1600" b="0" i="0">
              <a:solidFill>
                <a:srgbClr val="5E5D59"/>
              </a:solidFill>
              <a:latin typeface="Arial"/>
              <a:ea typeface="Microsoft JhengHei"/>
            </a:endParaRP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141413"/>
                </a:solidFill>
                <a:latin typeface="Arial"/>
                <a:ea typeface="Microsoft JhengHei"/>
              </a:rPr>
              <a:t>/learn                   萃取可複用模式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5E5D59"/>
                </a:solidFill>
                <a:latin typeface="Arial"/>
                <a:ea typeface="Microsoft JhengHei"/>
              </a:rPr>
              <a:t>                             → 教 AI 學會你的開發偏好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endParaRPr sz="1600" b="0" i="0">
              <a:solidFill>
                <a:srgbClr val="5E5D59"/>
              </a:solidFill>
              <a:latin typeface="Arial"/>
              <a:ea typeface="Microsoft JhengHei"/>
            </a:endParaRP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141413"/>
                </a:solidFill>
                <a:latin typeface="Arial"/>
                <a:ea typeface="Microsoft JhengHei"/>
              </a:rPr>
              <a:t>94+ 備用技能包  custom-rule&amp;skill/skills/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5E5D59"/>
                </a:solidFill>
                <a:latin typeface="Arial"/>
                <a:ea typeface="Microsoft JhengHei"/>
              </a:rPr>
              <a:t>                             → 複製過來就能用，涵蓋各種語言框架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092DF9F1-E636-451F-8F3B-B4D27EC50394}"/>
              </a:ext>
            </a:extLst>
          </p:cNvPr>
          <p:cNvSpPr/>
          <p:nvPr/>
        </p:nvSpPr>
        <p:spPr>
          <a:xfrm>
            <a:off x="7366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5A3FDB73-9E72-40F6-B6EF-A2BF2D39570B}"/>
              </a:ext>
            </a:extLst>
          </p:cNvPr>
          <p:cNvSpPr/>
          <p:nvPr/>
        </p:nvSpPr>
        <p:spPr>
          <a:xfrm>
            <a:off x="17272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286C5F55-F12A-4F7F-90D4-48D4715D9FCB}"/>
              </a:ext>
            </a:extLst>
          </p:cNvPr>
          <p:cNvSpPr/>
          <p:nvPr/>
        </p:nvSpPr>
        <p:spPr>
          <a:xfrm>
            <a:off x="27178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4D952886-EEF5-49EE-A499-2A534C2BDF84}"/>
              </a:ext>
            </a:extLst>
          </p:cNvPr>
          <p:cNvSpPr/>
          <p:nvPr/>
        </p:nvSpPr>
        <p:spPr>
          <a:xfrm>
            <a:off x="37084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1853DB3F-D8F5-4854-B4BC-D2DA71269C6C}"/>
              </a:ext>
            </a:extLst>
          </p:cNvPr>
          <p:cNvSpPr/>
          <p:nvPr/>
        </p:nvSpPr>
        <p:spPr>
          <a:xfrm>
            <a:off x="4699000" y="203200"/>
            <a:ext cx="889000" cy="50800"/>
          </a:xfrm>
          <a:prstGeom prst="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964FBB33-20C7-4CCF-B986-E4BB4EFF1B01}"/>
              </a:ext>
            </a:extLst>
          </p:cNvPr>
          <p:cNvSpPr/>
          <p:nvPr/>
        </p:nvSpPr>
        <p:spPr>
          <a:xfrm>
            <a:off x="10642600" y="304800"/>
            <a:ext cx="787400" cy="330200"/>
          </a:xfrm>
          <a:prstGeom prst="round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altLang="zh-TW" sz="1200" b="1">
                <a:solidFill>
                  <a:srgbClr val="FFFFFF"/>
                </a:solidFill>
                <a:latin typeface="Arial"/>
                <a:ea typeface="Microsoft JhengHei"/>
                <a:cs typeface="Arial"/>
              </a:rPr>
              <a:t>CH 5</a:t>
            </a:r>
            <a:endParaRPr lang="zh-TW" altLang="en-US" sz="1200" b="1">
              <a:solidFill>
                <a:srgbClr val="FFFFFF"/>
              </a:solidFill>
              <a:latin typeface="Arial"/>
              <a:ea typeface="Microsoft JhengHei"/>
              <a:cs typeface="Arial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FD188464-D8B9-47D4-9652-22D6C08F9D3D}"/>
              </a:ext>
            </a:extLst>
          </p:cNvPr>
          <p:cNvSpPr txBox="1"/>
          <p:nvPr/>
        </p:nvSpPr>
        <p:spPr>
          <a:xfrm>
            <a:off x="11404600" y="6451600"/>
            <a:ext cx="584200" cy="3048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altLang="zh-TW" sz="1100">
                <a:solidFill>
                  <a:srgbClr val="A8A6A0"/>
                </a:solidFill>
                <a:latin typeface="Arial"/>
                <a:ea typeface="Microsoft JhengHei"/>
                <a:cs typeface="Arial"/>
              </a:rPr>
              <a:t>42</a:t>
            </a:r>
            <a:endParaRPr lang="zh-TW" altLang="en-US" sz="1100">
              <a:solidFill>
                <a:srgbClr val="A8A6A0"/>
              </a:solidFill>
              <a:latin typeface="Arial"/>
              <a:ea typeface="Microsoft JhengHei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75129421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4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41413"/>
                </a:solidFill>
                <a:latin typeface="Georgia"/>
                <a:ea typeface="Microsoft JhengHei"/>
              </a:rPr>
              <a:t>完整流程回顧</a:t>
            </a:r>
          </a:p>
        </p:txBody>
      </p:sp>
      <p:sp>
        <p:nvSpPr>
          <p:cNvPr id="3" name="Rectangle 2"/>
          <p:cNvSpPr/>
          <p:nvPr/>
        </p:nvSpPr>
        <p:spPr>
          <a:xfrm>
            <a:off x="736600" y="1168400"/>
            <a:ext cx="812800" cy="50800"/>
          </a:xfrm>
          <a:prstGeom prst="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ea typeface="Microsoft JhengHe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>
              <a:ea typeface="Microsoft JhengHei"/>
            </a:endParaRP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5E5D59"/>
                </a:solidFill>
                <a:latin typeface="Arial"/>
                <a:ea typeface="Microsoft JhengHei"/>
              </a:rPr>
              <a:t>Ch1   認識模板         .claude 6 大觀念、14 Agent、編排劇本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5E5D59"/>
                </a:solidFill>
                <a:latin typeface="Arial"/>
                <a:ea typeface="Microsoft JhengHei"/>
              </a:rPr>
              <a:t>Ch2   /task-init           專案初始化 → CLAUDE.md + WBS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41413"/>
                </a:solidFill>
                <a:latin typeface="Arial"/>
                <a:ea typeface="Microsoft JhengHei"/>
              </a:rPr>
              <a:t>Ch3   開發循環 x3       /task-next → /plan → /tdd → /review-code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41413"/>
                </a:solidFill>
                <a:latin typeface="Arial"/>
                <a:ea typeface="Microsoft JhengHei"/>
              </a:rPr>
              <a:t>Ch4   品質驗證           /verify → /e2e → /agent-log → /time-log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5E5D59"/>
                </a:solidFill>
                <a:latin typeface="Arial"/>
                <a:ea typeface="Microsoft JhengHei"/>
              </a:rPr>
              <a:t>Ch5   進階技巧           /save-session、/learn、擴充技能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endParaRPr sz="2000" b="0" i="0">
              <a:solidFill>
                <a:srgbClr val="5E5D59"/>
              </a:solidFill>
              <a:latin typeface="Arial"/>
              <a:ea typeface="Microsoft JhengHei"/>
            </a:endParaRP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1" i="0">
                <a:solidFill>
                  <a:srgbClr val="6B7A3F"/>
                </a:solidFill>
                <a:latin typeface="Arial"/>
                <a:ea typeface="Microsoft JhengHei"/>
              </a:rPr>
              <a:t>→  ~60 min 完成一個有測試、有文檔、有品質門的 AI 聊天機器人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9694349B-77AE-450B-8B27-B4B365193168}"/>
              </a:ext>
            </a:extLst>
          </p:cNvPr>
          <p:cNvSpPr/>
          <p:nvPr/>
        </p:nvSpPr>
        <p:spPr>
          <a:xfrm>
            <a:off x="7366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DC84B1F5-1671-4C88-8DBA-9DA8A68FCF65}"/>
              </a:ext>
            </a:extLst>
          </p:cNvPr>
          <p:cNvSpPr/>
          <p:nvPr/>
        </p:nvSpPr>
        <p:spPr>
          <a:xfrm>
            <a:off x="17272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344708D2-FD23-4879-BD39-9C5C0E1B3B6B}"/>
              </a:ext>
            </a:extLst>
          </p:cNvPr>
          <p:cNvSpPr/>
          <p:nvPr/>
        </p:nvSpPr>
        <p:spPr>
          <a:xfrm>
            <a:off x="27178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3764DDA2-E7E2-4941-BA41-DD637209427D}"/>
              </a:ext>
            </a:extLst>
          </p:cNvPr>
          <p:cNvSpPr/>
          <p:nvPr/>
        </p:nvSpPr>
        <p:spPr>
          <a:xfrm>
            <a:off x="37084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12C8FF23-8335-432C-AB03-FE7D068452B8}"/>
              </a:ext>
            </a:extLst>
          </p:cNvPr>
          <p:cNvSpPr/>
          <p:nvPr/>
        </p:nvSpPr>
        <p:spPr>
          <a:xfrm>
            <a:off x="4699000" y="203200"/>
            <a:ext cx="889000" cy="50800"/>
          </a:xfrm>
          <a:prstGeom prst="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0C1F9A0B-994F-4951-9092-65E5365AEB82}"/>
              </a:ext>
            </a:extLst>
          </p:cNvPr>
          <p:cNvSpPr/>
          <p:nvPr/>
        </p:nvSpPr>
        <p:spPr>
          <a:xfrm>
            <a:off x="10642600" y="304800"/>
            <a:ext cx="787400" cy="330200"/>
          </a:xfrm>
          <a:prstGeom prst="round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altLang="zh-TW" sz="1200" b="1">
                <a:solidFill>
                  <a:srgbClr val="FFFFFF"/>
                </a:solidFill>
                <a:latin typeface="Arial"/>
                <a:ea typeface="Microsoft JhengHei"/>
                <a:cs typeface="Arial"/>
              </a:rPr>
              <a:t>CH 5</a:t>
            </a:r>
            <a:endParaRPr lang="zh-TW" altLang="en-US" sz="1200" b="1">
              <a:solidFill>
                <a:srgbClr val="FFFFFF"/>
              </a:solidFill>
              <a:latin typeface="Arial"/>
              <a:ea typeface="Microsoft JhengHei"/>
              <a:cs typeface="Arial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A833DB3B-BDD8-4C2B-AC88-7576964E9D97}"/>
              </a:ext>
            </a:extLst>
          </p:cNvPr>
          <p:cNvSpPr txBox="1"/>
          <p:nvPr/>
        </p:nvSpPr>
        <p:spPr>
          <a:xfrm>
            <a:off x="11404600" y="6451600"/>
            <a:ext cx="584200" cy="3048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altLang="zh-TW" sz="1100">
                <a:solidFill>
                  <a:srgbClr val="A8A6A0"/>
                </a:solidFill>
                <a:latin typeface="Arial"/>
                <a:ea typeface="Microsoft JhengHei"/>
                <a:cs typeface="Arial"/>
              </a:rPr>
              <a:t>43</a:t>
            </a:r>
            <a:endParaRPr lang="zh-TW" altLang="en-US" sz="1100">
              <a:solidFill>
                <a:srgbClr val="A8A6A0"/>
              </a:solidFill>
              <a:latin typeface="Arial"/>
              <a:ea typeface="Microsoft JhengHei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05995890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4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41413"/>
                </a:solidFill>
                <a:latin typeface="Georgia"/>
                <a:ea typeface="Microsoft JhengHei"/>
              </a:rPr>
              <a:t>課後作業 — 選一個挑戰</a:t>
            </a:r>
          </a:p>
        </p:txBody>
      </p:sp>
      <p:sp>
        <p:nvSpPr>
          <p:cNvPr id="3" name="Rectangle 2"/>
          <p:cNvSpPr/>
          <p:nvPr/>
        </p:nvSpPr>
        <p:spPr>
          <a:xfrm>
            <a:off x="736600" y="1168400"/>
            <a:ext cx="812800" cy="50800"/>
          </a:xfrm>
          <a:prstGeom prst="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ea typeface="Microsoft JhengHe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>
              <a:ea typeface="Microsoft JhengHei"/>
            </a:endParaRP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400" b="1" i="0">
                <a:solidFill>
                  <a:srgbClr val="6B7A3F"/>
                </a:solidFill>
                <a:latin typeface="Arial"/>
                <a:ea typeface="Microsoft JhengHei"/>
              </a:rPr>
              <a:t>初級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141413"/>
                </a:solidFill>
                <a:latin typeface="Arial"/>
                <a:ea typeface="Microsoft JhengHei"/>
              </a:rPr>
              <a:t>  用模板建立一個「翻譯小幫手」chatbot，跑完 /task-init → /task-next → /tdd 循環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endParaRPr sz="1800" b="0" i="0">
              <a:solidFill>
                <a:srgbClr val="141413"/>
              </a:solidFill>
              <a:latin typeface="Arial"/>
              <a:ea typeface="Microsoft JhengHei"/>
            </a:endParaRP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400" b="1" i="0">
                <a:solidFill>
                  <a:srgbClr val="C96442"/>
                </a:solidFill>
                <a:latin typeface="Arial"/>
                <a:ea typeface="Microsoft JhengHei"/>
              </a:rPr>
              <a:t>中級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141413"/>
                </a:solidFill>
                <a:latin typeface="Arial"/>
                <a:ea typeface="Microsoft JhengHei"/>
              </a:rPr>
              <a:t>  為 GeminiChat 加「對話持久化（SQLite）+ 多角色切換」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endParaRPr sz="1800" b="0" i="0">
              <a:solidFill>
                <a:srgbClr val="141413"/>
              </a:solidFill>
              <a:latin typeface="Arial"/>
              <a:ea typeface="Microsoft JhengHei"/>
            </a:endParaRP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400" b="1" i="0">
                <a:solidFill>
                  <a:srgbClr val="D97757"/>
                </a:solidFill>
                <a:latin typeface="Arial"/>
                <a:ea typeface="Microsoft JhengHei"/>
              </a:rPr>
              <a:t>進階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141413"/>
                </a:solidFill>
                <a:latin typeface="Arial"/>
                <a:ea typeface="Microsoft JhengHei"/>
              </a:rPr>
              <a:t>  為 GeminiChat 加 RAG（讀 PDF 問答）或用 mcp-builder 包成 MCP tool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3FAFA08F-D233-456F-89D9-7BA15AB7B803}"/>
              </a:ext>
            </a:extLst>
          </p:cNvPr>
          <p:cNvSpPr/>
          <p:nvPr/>
        </p:nvSpPr>
        <p:spPr>
          <a:xfrm>
            <a:off x="7366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08013AB2-95F4-40F3-AC00-9C22A76C2F79}"/>
              </a:ext>
            </a:extLst>
          </p:cNvPr>
          <p:cNvSpPr/>
          <p:nvPr/>
        </p:nvSpPr>
        <p:spPr>
          <a:xfrm>
            <a:off x="17272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EC92688-ADC4-4890-B532-FF572CD8C307}"/>
              </a:ext>
            </a:extLst>
          </p:cNvPr>
          <p:cNvSpPr/>
          <p:nvPr/>
        </p:nvSpPr>
        <p:spPr>
          <a:xfrm>
            <a:off x="27178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2A28B6D8-7BA1-4F3C-AC48-D3B4BA673F56}"/>
              </a:ext>
            </a:extLst>
          </p:cNvPr>
          <p:cNvSpPr/>
          <p:nvPr/>
        </p:nvSpPr>
        <p:spPr>
          <a:xfrm>
            <a:off x="37084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B0803117-718D-47A2-81F1-71F89A531B0F}"/>
              </a:ext>
            </a:extLst>
          </p:cNvPr>
          <p:cNvSpPr/>
          <p:nvPr/>
        </p:nvSpPr>
        <p:spPr>
          <a:xfrm>
            <a:off x="4699000" y="203200"/>
            <a:ext cx="889000" cy="50800"/>
          </a:xfrm>
          <a:prstGeom prst="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DBBCCE9B-5FFE-48A2-B0CF-5578AB5BAB8F}"/>
              </a:ext>
            </a:extLst>
          </p:cNvPr>
          <p:cNvSpPr/>
          <p:nvPr/>
        </p:nvSpPr>
        <p:spPr>
          <a:xfrm>
            <a:off x="10642600" y="304800"/>
            <a:ext cx="787400" cy="330200"/>
          </a:xfrm>
          <a:prstGeom prst="round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altLang="zh-TW" sz="1200" b="1">
                <a:solidFill>
                  <a:srgbClr val="FFFFFF"/>
                </a:solidFill>
                <a:latin typeface="Arial"/>
                <a:ea typeface="Microsoft JhengHei"/>
                <a:cs typeface="Arial"/>
              </a:rPr>
              <a:t>CH 5</a:t>
            </a:r>
            <a:endParaRPr lang="zh-TW" altLang="en-US" sz="1200" b="1">
              <a:solidFill>
                <a:srgbClr val="FFFFFF"/>
              </a:solidFill>
              <a:latin typeface="Arial"/>
              <a:ea typeface="Microsoft JhengHei"/>
              <a:cs typeface="Arial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AFA14DB8-0288-462D-B1C3-62D4C8987C25}"/>
              </a:ext>
            </a:extLst>
          </p:cNvPr>
          <p:cNvSpPr txBox="1"/>
          <p:nvPr/>
        </p:nvSpPr>
        <p:spPr>
          <a:xfrm>
            <a:off x="11404600" y="6451600"/>
            <a:ext cx="584200" cy="3048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altLang="zh-TW" sz="1100">
                <a:solidFill>
                  <a:srgbClr val="A8A6A0"/>
                </a:solidFill>
                <a:latin typeface="Arial"/>
                <a:ea typeface="Microsoft JhengHei"/>
                <a:cs typeface="Arial"/>
              </a:rPr>
              <a:t>44</a:t>
            </a:r>
            <a:endParaRPr lang="zh-TW" altLang="en-US" sz="1100">
              <a:solidFill>
                <a:srgbClr val="A8A6A0"/>
              </a:solidFill>
              <a:latin typeface="Arial"/>
              <a:ea typeface="Microsoft JhengHei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74293821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4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41413"/>
                </a:solidFill>
                <a:latin typeface="Georgia"/>
                <a:ea typeface="Microsoft JhengHei"/>
              </a:rPr>
              <a:t>推薦探索路徑</a:t>
            </a:r>
          </a:p>
        </p:txBody>
      </p:sp>
      <p:sp>
        <p:nvSpPr>
          <p:cNvPr id="3" name="Rectangle 2"/>
          <p:cNvSpPr/>
          <p:nvPr/>
        </p:nvSpPr>
        <p:spPr>
          <a:xfrm>
            <a:off x="736600" y="1168400"/>
            <a:ext cx="812800" cy="50800"/>
          </a:xfrm>
          <a:prstGeom prst="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ea typeface="Microsoft JhengHe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>
              <a:ea typeface="Microsoft JhengHei"/>
            </a:endParaRP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41413"/>
                </a:solidFill>
                <a:latin typeface="Arial"/>
                <a:ea typeface="Microsoft JhengHei"/>
              </a:rPr>
              <a:t>想深入 Agent 機制     →  .claude/agents/ (14 個定義檔)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41413"/>
                </a:solidFill>
                <a:latin typeface="Arial"/>
                <a:ea typeface="Microsoft JhengHei"/>
              </a:rPr>
              <a:t>想客製化規則        →  .claude/rules/ (15 條，可改可加)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41413"/>
                </a:solidFill>
                <a:latin typeface="Arial"/>
                <a:ea typeface="Microsoft JhengHei"/>
              </a:rPr>
              <a:t>想擴充技能            →  custom-rule&amp;skill/skills/ (94+)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41413"/>
                </a:solidFill>
                <a:latin typeface="Arial"/>
                <a:ea typeface="Microsoft JhengHei"/>
              </a:rPr>
              <a:t>想做完整專案文件  →  /project-docs + 16 個模板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41413"/>
                </a:solidFill>
                <a:latin typeface="Arial"/>
                <a:ea typeface="Microsoft JhengHei"/>
              </a:rPr>
              <a:t>想建 MCP Server     →  mcp-builder skill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41413"/>
                </a:solidFill>
                <a:latin typeface="Arial"/>
                <a:ea typeface="Microsoft JhengHei"/>
              </a:rPr>
              <a:t>想瞭解運作原理     →  .claude/guides/MECHANISMS.md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endParaRPr sz="2000" b="0" i="0">
              <a:solidFill>
                <a:srgbClr val="141413"/>
              </a:solidFill>
              <a:latin typeface="Arial"/>
              <a:ea typeface="Microsoft JhengHei"/>
            </a:endParaRP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C96442"/>
                </a:solidFill>
                <a:latin typeface="Arial"/>
                <a:ea typeface="Microsoft JhengHei"/>
              </a:rPr>
              <a:t>速查卡： workshop/docs/03_command_cheatsheet.md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1D2A72B6-55BE-46F8-AD1C-48E5486AED91}"/>
              </a:ext>
            </a:extLst>
          </p:cNvPr>
          <p:cNvSpPr/>
          <p:nvPr/>
        </p:nvSpPr>
        <p:spPr>
          <a:xfrm>
            <a:off x="7366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1A5F4A16-925C-4E22-989F-390429A6F2DF}"/>
              </a:ext>
            </a:extLst>
          </p:cNvPr>
          <p:cNvSpPr/>
          <p:nvPr/>
        </p:nvSpPr>
        <p:spPr>
          <a:xfrm>
            <a:off x="17272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57786674-18F5-4974-BE17-919B85E28E1E}"/>
              </a:ext>
            </a:extLst>
          </p:cNvPr>
          <p:cNvSpPr/>
          <p:nvPr/>
        </p:nvSpPr>
        <p:spPr>
          <a:xfrm>
            <a:off x="27178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247DEF8B-6AE2-4D74-9D34-A586BBD397A7}"/>
              </a:ext>
            </a:extLst>
          </p:cNvPr>
          <p:cNvSpPr/>
          <p:nvPr/>
        </p:nvSpPr>
        <p:spPr>
          <a:xfrm>
            <a:off x="37084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314E59F2-4B8B-426F-BB5B-65AA9DD1B96B}"/>
              </a:ext>
            </a:extLst>
          </p:cNvPr>
          <p:cNvSpPr/>
          <p:nvPr/>
        </p:nvSpPr>
        <p:spPr>
          <a:xfrm>
            <a:off x="4699000" y="203200"/>
            <a:ext cx="889000" cy="50800"/>
          </a:xfrm>
          <a:prstGeom prst="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4B958522-B816-48F3-B9CE-D40A27ED52F5}"/>
              </a:ext>
            </a:extLst>
          </p:cNvPr>
          <p:cNvSpPr/>
          <p:nvPr/>
        </p:nvSpPr>
        <p:spPr>
          <a:xfrm>
            <a:off x="10642600" y="304800"/>
            <a:ext cx="787400" cy="330200"/>
          </a:xfrm>
          <a:prstGeom prst="round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altLang="zh-TW" sz="1200" b="1">
                <a:solidFill>
                  <a:srgbClr val="FFFFFF"/>
                </a:solidFill>
                <a:latin typeface="Arial"/>
                <a:ea typeface="Microsoft JhengHei"/>
                <a:cs typeface="Arial"/>
              </a:rPr>
              <a:t>CH 5</a:t>
            </a:r>
            <a:endParaRPr lang="zh-TW" altLang="en-US" sz="1200" b="1">
              <a:solidFill>
                <a:srgbClr val="FFFFFF"/>
              </a:solidFill>
              <a:latin typeface="Arial"/>
              <a:ea typeface="Microsoft JhengHei"/>
              <a:cs typeface="Arial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55BC7133-0696-4383-9286-ADA31D055718}"/>
              </a:ext>
            </a:extLst>
          </p:cNvPr>
          <p:cNvSpPr txBox="1"/>
          <p:nvPr/>
        </p:nvSpPr>
        <p:spPr>
          <a:xfrm>
            <a:off x="11404600" y="6451600"/>
            <a:ext cx="584200" cy="3048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altLang="zh-TW" sz="1100">
                <a:solidFill>
                  <a:srgbClr val="A8A6A0"/>
                </a:solidFill>
                <a:latin typeface="Arial"/>
                <a:ea typeface="Microsoft JhengHei"/>
                <a:cs typeface="Arial"/>
              </a:rPr>
              <a:t>45</a:t>
            </a:r>
            <a:endParaRPr lang="zh-TW" altLang="en-US" sz="1100">
              <a:solidFill>
                <a:srgbClr val="A8A6A0"/>
              </a:solidFill>
              <a:latin typeface="Arial"/>
              <a:ea typeface="Microsoft JhengHei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27498140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4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0116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141413"/>
                </a:solidFill>
                <a:latin typeface="Georgia"/>
                <a:ea typeface="Microsoft JhengHei"/>
              </a:rPr>
              <a:t>Q &amp; A</a:t>
            </a:r>
          </a:p>
          <a:p>
            <a:pPr algn="ctr">
              <a:spcBef>
                <a:spcPts val="1600"/>
              </a:spcBef>
              <a:spcAft>
                <a:spcPts val="600"/>
              </a:spcAft>
            </a:pPr>
            <a:r>
              <a:rPr sz="2200" b="0" i="0">
                <a:solidFill>
                  <a:srgbClr val="5E5D59"/>
                </a:solidFill>
                <a:latin typeface="Arial"/>
                <a:ea typeface="Microsoft JhengHei"/>
              </a:rPr>
              <a:t>問任何關於模板、工作流、Claude Code 的問題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3383280"/>
            <a:ext cx="4846320" cy="38100"/>
          </a:xfrm>
          <a:prstGeom prst="rect">
            <a:avLst/>
          </a:prstGeom>
          <a:solidFill>
            <a:srgbClr val="C964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ea typeface="Microsoft JhengHei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A7783A4F-3A25-48B0-9237-E90DBF6E2C7E}"/>
              </a:ext>
            </a:extLst>
          </p:cNvPr>
          <p:cNvSpPr/>
          <p:nvPr/>
        </p:nvSpPr>
        <p:spPr>
          <a:xfrm>
            <a:off x="5689600" y="1630680"/>
            <a:ext cx="812800" cy="63500"/>
          </a:xfrm>
          <a:prstGeom prst="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1F5B920A-BB60-4917-8906-8CAC91E108B2}"/>
              </a:ext>
            </a:extLst>
          </p:cNvPr>
          <p:cNvSpPr txBox="1"/>
          <p:nvPr/>
        </p:nvSpPr>
        <p:spPr>
          <a:xfrm>
            <a:off x="11404600" y="6451600"/>
            <a:ext cx="584200" cy="3048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altLang="zh-TW" sz="1100">
                <a:solidFill>
                  <a:srgbClr val="A8A6A0"/>
                </a:solidFill>
                <a:latin typeface="Arial"/>
                <a:ea typeface="Microsoft JhengHei"/>
                <a:cs typeface="Arial"/>
              </a:rPr>
              <a:t>46</a:t>
            </a:r>
            <a:endParaRPr lang="zh-TW" altLang="en-US" sz="1100">
              <a:solidFill>
                <a:srgbClr val="A8A6A0"/>
              </a:solidFill>
              <a:latin typeface="Arial"/>
              <a:ea typeface="Microsoft JhengHei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5906935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4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0116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141413"/>
                </a:solidFill>
                <a:latin typeface="Georgia"/>
                <a:ea typeface="Microsoft JhengHei"/>
              </a:rPr>
              <a:t>Thank You</a:t>
            </a:r>
          </a:p>
          <a:p>
            <a:pPr algn="ctr">
              <a:spcBef>
                <a:spcPts val="1600"/>
              </a:spcBef>
              <a:spcAft>
                <a:spcPts val="600"/>
              </a:spcAft>
            </a:pPr>
            <a:r>
              <a:rPr sz="2200" b="0" i="0">
                <a:solidFill>
                  <a:srgbClr val="5E5D59"/>
                </a:solidFill>
                <a:latin typeface="Arial"/>
                <a:ea typeface="Microsoft JhengHei"/>
              </a:rPr>
              <a:t>速查卡在 workshop/docs/ — 有問題隨時在內部頻道問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3383280"/>
            <a:ext cx="4846320" cy="38100"/>
          </a:xfrm>
          <a:prstGeom prst="rect">
            <a:avLst/>
          </a:prstGeom>
          <a:solidFill>
            <a:srgbClr val="C964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ea typeface="Microsoft JhengHei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F6027A34-720C-47D9-A11E-80F8284F754C}"/>
              </a:ext>
            </a:extLst>
          </p:cNvPr>
          <p:cNvSpPr/>
          <p:nvPr/>
        </p:nvSpPr>
        <p:spPr>
          <a:xfrm>
            <a:off x="5689600" y="1630680"/>
            <a:ext cx="812800" cy="63500"/>
          </a:xfrm>
          <a:prstGeom prst="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3B8B8AEC-768E-4852-B045-72854F429DB1}"/>
              </a:ext>
            </a:extLst>
          </p:cNvPr>
          <p:cNvSpPr txBox="1"/>
          <p:nvPr/>
        </p:nvSpPr>
        <p:spPr>
          <a:xfrm>
            <a:off x="11404600" y="6451600"/>
            <a:ext cx="584200" cy="3048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altLang="zh-TW" sz="1100">
                <a:solidFill>
                  <a:srgbClr val="A8A6A0"/>
                </a:solidFill>
                <a:latin typeface="Arial"/>
                <a:ea typeface="Microsoft JhengHei"/>
                <a:cs typeface="Arial"/>
              </a:rPr>
              <a:t>47</a:t>
            </a:r>
            <a:endParaRPr lang="zh-TW" altLang="en-US" sz="1100">
              <a:solidFill>
                <a:srgbClr val="A8A6A0"/>
              </a:solidFill>
              <a:latin typeface="Arial"/>
              <a:ea typeface="Microsoft JhengHei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3098714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EDDC4027-C483-4291-B2FC-FBA641425F29}">
  <we:reference id="wa200010001" version="1.0.0.1" store="en-US" storeType="OMEX"/>
  <we:alternateReferences>
    <we:reference id="wa200010001" version="1.0.0.1" store="" storeType="OMEX"/>
  </we:alternateReferences>
  <we:properties>
    <we:property name="claude.fileId" value="&quot;5c42bc57-a5a7-49dc-adec-19a8805d6d43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58</TotalTime>
  <Words>2815</Words>
  <Application>Microsoft Office PowerPoint</Application>
  <PresentationFormat>寬螢幕</PresentationFormat>
  <Paragraphs>664</Paragraphs>
  <Slides>47</Slides>
  <Notes>19</Notes>
  <HiddenSlides>0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47</vt:i4>
      </vt:variant>
    </vt:vector>
  </HeadingPairs>
  <TitlesOfParts>
    <vt:vector size="54" baseType="lpstr">
      <vt:lpstr>Microsoft JhengHei</vt:lpstr>
      <vt:lpstr>Aptos</vt:lpstr>
      <vt:lpstr>Arial</vt:lpstr>
      <vt:lpstr>Calibri</vt:lpstr>
      <vt:lpstr>Consolas</vt:lpstr>
      <vt:lpstr>Georgia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陳冠瑋(KuanWei Chen)</cp:lastModifiedBy>
  <cp:revision>3</cp:revision>
  <dcterms:created xsi:type="dcterms:W3CDTF">2013-01-27T09:14:16Z</dcterms:created>
  <dcterms:modified xsi:type="dcterms:W3CDTF">2026-06-08T10:05:28Z</dcterms:modified>
  <cp:category/>
</cp:coreProperties>
</file>