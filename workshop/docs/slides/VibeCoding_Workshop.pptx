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375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2" r:id="rId29"/>
    <p:sldId id="403" r:id="rId30"/>
    <p:sldId id="404" r:id="rId31"/>
    <p:sldId id="405" r:id="rId32"/>
    <p:sldId id="406" r:id="rId33"/>
    <p:sldId id="407" r:id="rId34"/>
    <p:sldId id="408" r:id="rId35"/>
    <p:sldId id="409" r:id="rId36"/>
    <p:sldId id="410" r:id="rId37"/>
    <p:sldId id="411" r:id="rId38"/>
    <p:sldId id="412" r:id="rId39"/>
    <p:sldId id="413" r:id="rId40"/>
    <p:sldId id="414" r:id="rId41"/>
    <p:sldId id="415" r:id="rId42"/>
    <p:sldId id="416" r:id="rId43"/>
    <p:sldId id="417" r:id="rId44"/>
    <p:sldId id="418" r:id="rId45"/>
    <p:sldId id="419" r:id="rId46"/>
    <p:sldId id="420" r:id="rId47"/>
    <p:sldId id="421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BD87F5-AAD7-41CE-BFF1-C9AFDC013224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DC154-63BA-46A2-9D96-8F494F7A2E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38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互動：請學員舉手看看遇過幾個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核心訊息：差別在流程，不在 AI 模型本身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這是今天最關鍵的一張。所有 AI 行為都來自這 6 種設定。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/task-init 會幫你產一份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rules 是橫切通則，CLAUDE.md 是專案專屬。分開讓規則可跨專案複用。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今天密集用到 commands 和 agents，其他在背景幫你工作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Agent 像接力賽：一棒留報告 + 交接單，hook 提示主 AI 接手下一棒。Ch4 的 /agent-log 會攤開整條軌跡。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不需要背，知道去哪找就好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重點：uv 和 Gemini API Key（Google AI Studio 取得，放 .env 別 commit）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這是最關鍵的 Aha Moment — AI 先問問題、理解需求，再產文件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讓學員跟著做。注意 AI 一次只問一題。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v5.3 新增任務分級。小修改走 quick 不被綡住，核心邏輯走 critical 加倍嚴謹。/verify 依模式自動選 profile。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暫停讓學員讀計畫。強調：AI 不是直接寫 code，而是先用 Opus 做規劃。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看到紅色不要緊張。先定義期望（測試），再寫滿足期望的 code。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Aha Moment：讓學員打開 /docs 頁面，點 Try it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寫的 code，再讓另一個 AI 審查。依模板的 9 條規則打分。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教學效果：刻意犯錯比完美示範更有記憶點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視覺衝擊最強的 demo — 瀏覽器自己在動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用數據收尾：我們花了 X 分鐘約 20 分鐘做出一個會串流的 AI 聊天機器人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 err="1">
                <a:solidFill>
                  <a:srgbClr val="141413"/>
                </a:solidFill>
                <a:latin typeface="Georgia"/>
                <a:ea typeface="Microsoft JhengHei"/>
              </a:rPr>
              <a:t>VibeCoding</a:t>
            </a:r>
            <a:r>
              <a:rPr sz="4400" b="1" i="0" dirty="0">
                <a:solidFill>
                  <a:srgbClr val="141413"/>
                </a:solidFill>
                <a:latin typeface="Georgia"/>
                <a:ea typeface="Microsoft JhengHei"/>
              </a:rPr>
              <a:t> </a:t>
            </a:r>
            <a:r>
              <a:rPr sz="4400" b="1" i="0" dirty="0" err="1">
                <a:solidFill>
                  <a:srgbClr val="141413"/>
                </a:solidFill>
                <a:latin typeface="Georgia"/>
                <a:ea typeface="Microsoft JhengHei"/>
              </a:rPr>
              <a:t>模板實戰</a:t>
            </a:r>
            <a:r>
              <a:rPr sz="4400" b="1" i="0" dirty="0">
                <a:solidFill>
                  <a:srgbClr val="141413"/>
                </a:solidFill>
                <a:latin typeface="Georgia"/>
                <a:ea typeface="Microsoft JhengHei"/>
              </a:rPr>
              <a:t> Workshop</a:t>
            </a:r>
          </a:p>
          <a:p>
            <a:pPr algn="ctr">
              <a:spcBef>
                <a:spcPts val="1600"/>
              </a:spcBef>
              <a:spcAft>
                <a:spcPts val="600"/>
              </a:spcAft>
            </a:pPr>
            <a:r>
              <a:rPr sz="2200" b="0" i="0" dirty="0">
                <a:solidFill>
                  <a:srgbClr val="5E5D59"/>
                </a:solidFill>
                <a:latin typeface="Arial"/>
                <a:ea typeface="Microsoft JhengHei"/>
              </a:rPr>
              <a:t>用 Claude Code </a:t>
            </a:r>
            <a:r>
              <a:rPr sz="22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做出一個會串流回覆的</a:t>
            </a:r>
            <a:r>
              <a:rPr sz="2200" b="0" i="0" dirty="0">
                <a:solidFill>
                  <a:srgbClr val="5E5D59"/>
                </a:solidFill>
                <a:latin typeface="Arial"/>
                <a:ea typeface="Microsoft JhengHei"/>
              </a:rPr>
              <a:t> AI </a:t>
            </a:r>
            <a:r>
              <a:rPr sz="22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聊天機器人</a:t>
            </a:r>
            <a:endParaRPr sz="2200" b="0" i="0" dirty="0">
              <a:solidFill>
                <a:srgbClr val="5E5D59"/>
              </a:solidFill>
              <a:latin typeface="Arial"/>
              <a:ea typeface="Microsoft Jheng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0" y="3383280"/>
            <a:ext cx="484632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C78604-1767-4530-B9C2-0402DD69E509}"/>
              </a:ext>
            </a:extLst>
          </p:cNvPr>
          <p:cNvSpPr/>
          <p:nvPr/>
        </p:nvSpPr>
        <p:spPr>
          <a:xfrm>
            <a:off x="5689600" y="1498600"/>
            <a:ext cx="812800" cy="635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2C8A94B-570E-4D38-A345-63D6866766E5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205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2540000"/>
            <a:ext cx="76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6442"/>
                </a:solidFill>
                <a:latin typeface="Arial"/>
                <a:ea typeface="Microsoft JhengHei"/>
              </a:rP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3022600"/>
            <a:ext cx="889000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1413"/>
                </a:solidFill>
                <a:latin typeface="Georgia"/>
                <a:ea typeface="Microsoft JhengHei"/>
              </a:rPr>
              <a:t>認識 VibeCoding 模板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為什麼需要模板，以及 .claude/ 裡有什麼</a:t>
            </a:r>
          </a:p>
        </p:txBody>
      </p:sp>
      <p:sp>
        <p:nvSpPr>
          <p:cNvPr id="200" name="Prog0"/>
          <p:cNvSpPr/>
          <p:nvPr/>
        </p:nvSpPr>
        <p:spPr>
          <a:xfrm>
            <a:off x="914400" y="508000"/>
            <a:ext cx="889000" cy="635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01" name="Prog1"/>
          <p:cNvSpPr/>
          <p:nvPr/>
        </p:nvSpPr>
        <p:spPr>
          <a:xfrm>
            <a:off x="1905000" y="508000"/>
            <a:ext cx="889000" cy="63500"/>
          </a:xfrm>
          <a:prstGeom prst="rect">
            <a:avLst/>
          </a:prstGeom>
          <a:solidFill>
            <a:srgbClr val="E5E0D8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02" name="Prog2"/>
          <p:cNvSpPr/>
          <p:nvPr/>
        </p:nvSpPr>
        <p:spPr>
          <a:xfrm>
            <a:off x="2895600" y="508000"/>
            <a:ext cx="889000" cy="63500"/>
          </a:xfrm>
          <a:prstGeom prst="rect">
            <a:avLst/>
          </a:prstGeom>
          <a:solidFill>
            <a:srgbClr val="E5E0D8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03" name="Prog3"/>
          <p:cNvSpPr/>
          <p:nvPr/>
        </p:nvSpPr>
        <p:spPr>
          <a:xfrm>
            <a:off x="3886200" y="508000"/>
            <a:ext cx="889000" cy="63500"/>
          </a:xfrm>
          <a:prstGeom prst="rect">
            <a:avLst/>
          </a:prstGeom>
          <a:solidFill>
            <a:srgbClr val="E5E0D8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04" name="Prog4"/>
          <p:cNvSpPr/>
          <p:nvPr/>
        </p:nvSpPr>
        <p:spPr>
          <a:xfrm>
            <a:off x="4876800" y="508000"/>
            <a:ext cx="889000" cy="63500"/>
          </a:xfrm>
          <a:prstGeom prst="rect">
            <a:avLst/>
          </a:prstGeom>
          <a:solidFill>
            <a:srgbClr val="E5E0D8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10" name="Watermark"/>
          <p:cNvSpPr txBox="1"/>
          <p:nvPr/>
        </p:nvSpPr>
        <p:spPr>
          <a:xfrm>
            <a:off x="6604000" y="1524000"/>
            <a:ext cx="4826000" cy="431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en-US" sz="20000" b="1">
                <a:solidFill>
                  <a:srgbClr val="F0E9E0"/>
                </a:solidFill>
                <a:latin typeface="Georgia"/>
                <a:ea typeface="Microsoft JhengHei"/>
              </a:rPr>
              <a:t>01</a:t>
            </a:r>
          </a:p>
        </p:txBody>
      </p:sp>
      <p:sp>
        <p:nvSpPr>
          <p:cNvPr id="211" name="AccentBar"/>
          <p:cNvSpPr/>
          <p:nvPr/>
        </p:nvSpPr>
        <p:spPr>
          <a:xfrm>
            <a:off x="914400" y="2603500"/>
            <a:ext cx="76200" cy="11684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E441EB-B2AD-4060-A8F3-4FDD094E103D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309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用 AI 寫程式的 5 個痛點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 dirty="0">
                <a:solidFill>
                  <a:srgbClr val="B53333"/>
                </a:solidFill>
                <a:latin typeface="Arial"/>
                <a:ea typeface="Microsoft JhengHei"/>
              </a:rPr>
              <a:t>1.  </a:t>
            </a:r>
            <a:r>
              <a:rPr sz="2200" b="0" i="0" dirty="0" err="1">
                <a:solidFill>
                  <a:srgbClr val="B53333"/>
                </a:solidFill>
                <a:latin typeface="Arial"/>
                <a:ea typeface="Microsoft JhengHei"/>
              </a:rPr>
              <a:t>每次對話都要重新解釋專案背景</a:t>
            </a:r>
            <a:endParaRPr sz="2200" b="0" i="0" dirty="0">
              <a:solidFill>
                <a:srgbClr val="B5333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 dirty="0">
                <a:solidFill>
                  <a:srgbClr val="B53333"/>
                </a:solidFill>
                <a:latin typeface="Arial"/>
                <a:ea typeface="Microsoft JhengHei"/>
              </a:rPr>
              <a:t>2.  AI </a:t>
            </a:r>
            <a:r>
              <a:rPr sz="2200" b="0" i="0" dirty="0" err="1">
                <a:solidFill>
                  <a:srgbClr val="B53333"/>
                </a:solidFill>
                <a:latin typeface="Arial"/>
                <a:ea typeface="Microsoft JhengHei"/>
              </a:rPr>
              <a:t>產出的程式碼品質不穩定</a:t>
            </a:r>
            <a:endParaRPr sz="2200" b="0" i="0" dirty="0">
              <a:solidFill>
                <a:srgbClr val="B5333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 dirty="0">
                <a:solidFill>
                  <a:srgbClr val="B53333"/>
                </a:solidFill>
                <a:latin typeface="Arial"/>
                <a:ea typeface="Microsoft JhengHei"/>
              </a:rPr>
              <a:t>3.  </a:t>
            </a:r>
            <a:r>
              <a:rPr sz="2200" b="0" i="0" dirty="0" err="1">
                <a:solidFill>
                  <a:srgbClr val="B53333"/>
                </a:solidFill>
                <a:latin typeface="Arial"/>
                <a:ea typeface="Microsoft JhengHei"/>
              </a:rPr>
              <a:t>沒有測試、沒有審查，直接上線</a:t>
            </a:r>
            <a:endParaRPr sz="2200" b="0" i="0" dirty="0">
              <a:solidFill>
                <a:srgbClr val="B5333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 dirty="0">
                <a:solidFill>
                  <a:srgbClr val="B53333"/>
                </a:solidFill>
                <a:latin typeface="Arial"/>
                <a:ea typeface="Microsoft JhengHei"/>
              </a:rPr>
              <a:t>4.  </a:t>
            </a:r>
            <a:r>
              <a:rPr sz="2200" b="0" i="0" dirty="0" err="1">
                <a:solidFill>
                  <a:srgbClr val="B53333"/>
                </a:solidFill>
                <a:latin typeface="Arial"/>
                <a:ea typeface="Microsoft JhengHei"/>
              </a:rPr>
              <a:t>需求</a:t>
            </a:r>
            <a:r>
              <a:rPr sz="2200" b="0" i="0" dirty="0">
                <a:solidFill>
                  <a:srgbClr val="B53333"/>
                </a:solidFill>
                <a:latin typeface="Arial"/>
                <a:ea typeface="Microsoft JhengHei"/>
              </a:rPr>
              <a:t> → </a:t>
            </a:r>
            <a:r>
              <a:rPr sz="2200" b="0" i="0" dirty="0" err="1">
                <a:solidFill>
                  <a:srgbClr val="B53333"/>
                </a:solidFill>
                <a:latin typeface="Arial"/>
                <a:ea typeface="Microsoft JhengHei"/>
              </a:rPr>
              <a:t>設計</a:t>
            </a:r>
            <a:r>
              <a:rPr sz="2200" b="0" i="0" dirty="0">
                <a:solidFill>
                  <a:srgbClr val="B53333"/>
                </a:solidFill>
                <a:latin typeface="Arial"/>
                <a:ea typeface="Microsoft JhengHei"/>
              </a:rPr>
              <a:t> → </a:t>
            </a:r>
            <a:r>
              <a:rPr sz="2200" b="0" i="0" dirty="0" err="1">
                <a:solidFill>
                  <a:srgbClr val="B53333"/>
                </a:solidFill>
                <a:latin typeface="Arial"/>
                <a:ea typeface="Microsoft JhengHei"/>
              </a:rPr>
              <a:t>實作之間斷裂</a:t>
            </a:r>
            <a:endParaRPr sz="2200" b="0" i="0" dirty="0">
              <a:solidFill>
                <a:srgbClr val="B5333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 dirty="0">
                <a:solidFill>
                  <a:srgbClr val="B53333"/>
                </a:solidFill>
                <a:latin typeface="Arial"/>
                <a:ea typeface="Microsoft JhengHei"/>
              </a:rPr>
              <a:t>5.  </a:t>
            </a:r>
            <a:r>
              <a:rPr sz="2200" b="0" i="0" dirty="0" err="1">
                <a:solidFill>
                  <a:srgbClr val="B53333"/>
                </a:solidFill>
                <a:latin typeface="Arial"/>
                <a:ea typeface="Microsoft JhengHei"/>
              </a:rPr>
              <a:t>換個專案又從零開始設定</a:t>
            </a:r>
            <a:endParaRPr sz="2200" b="0" i="0" dirty="0">
              <a:solidFill>
                <a:srgbClr val="B5333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200" b="0" i="0" dirty="0">
              <a:solidFill>
                <a:srgbClr val="B5333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 dirty="0">
                <a:solidFill>
                  <a:srgbClr val="5E5D59"/>
                </a:solidFill>
                <a:latin typeface="Arial"/>
                <a:ea typeface="Microsoft JhengHei"/>
              </a:rPr>
              <a:t>→  </a:t>
            </a:r>
            <a:r>
              <a:rPr sz="18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問題不在</a:t>
            </a:r>
            <a:r>
              <a:rPr sz="1800" b="0" i="0" dirty="0">
                <a:solidFill>
                  <a:srgbClr val="5E5D59"/>
                </a:solidFill>
                <a:latin typeface="Arial"/>
                <a:ea typeface="Microsoft JhengHei"/>
              </a:rPr>
              <a:t> AI </a:t>
            </a:r>
            <a:r>
              <a:rPr sz="18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不夠聰明，而是缺乏系統化工作流</a:t>
            </a:r>
            <a:endParaRPr sz="1800" b="0" i="0" dirty="0">
              <a:solidFill>
                <a:srgbClr val="5E5D59"/>
              </a:solidFill>
              <a:latin typeface="Arial"/>
              <a:ea typeface="Microsoft JhengHei"/>
            </a:endParaRPr>
          </a:p>
        </p:txBody>
      </p:sp>
      <p:sp>
        <p:nvSpPr>
          <p:cNvPr id="200" name="Prog0"/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01" name="Prog1"/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02" name="Prog2"/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03" name="Prog3"/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04" name="Prog4"/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>
            <a:noFill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73FD338-F398-4A2E-A208-A27EFE99BBF5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 dirty="0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 dirty="0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315CE53-12A2-451C-84BE-529A4C8BE9E9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33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VibeCoding 模板 = AI 開發的標準作業程序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📋  16 份文件模板        規範從需求到部署的每個階段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🤖  14 個 AI Agent        各司其職、自動協作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⚡  25 個快捷指令        一行啟動完整流程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📏  15 條自動規則         品質底線自動守護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🔧   7 個領域技能         按需載入專業知識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🪝   系統 Hook              事件自動化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96442"/>
                </a:solidFill>
                <a:latin typeface="Arial"/>
                <a:ea typeface="Microsoft JhengHei"/>
              </a:rPr>
              <a:t>→  複製到任何新專案，立即可用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E69219-2C16-4E31-9DFF-12DA5BD21103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E2C48F-6ADC-4824-B083-5F6E5E9AB745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94CE9F-83BA-401D-B2BC-C6CA634E33B6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30EB38-A790-4902-B62C-76035A3D4049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5AF1B1-0725-4A86-B6F5-5ABDDCBB34FF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466DA2A-B018-48A3-AF69-1929FFC5328A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5E54353-6A11-4654-8500-28428CD75E35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4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0599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04FA5A9-D27B-44E4-B441-ED2EC207AA90}"/>
              </a:ext>
            </a:extLst>
          </p:cNvPr>
          <p:cNvSpPr/>
          <p:nvPr/>
        </p:nvSpPr>
        <p:spPr>
          <a:xfrm>
            <a:off x="6273800" y="1371600"/>
            <a:ext cx="5308600" cy="4749800"/>
          </a:xfrm>
          <a:prstGeom prst="roundRect">
            <a:avLst/>
          </a:prstGeom>
          <a:solidFill>
            <a:srgbClr val="F4F5EC"/>
          </a:solidFill>
          <a:ln w="12700" cap="flat" cmpd="sng" algn="ctr">
            <a:solidFill>
              <a:srgbClr val="D2D8B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A8C2423-111F-4208-A6A6-9D9313FCAEBF}"/>
              </a:ext>
            </a:extLst>
          </p:cNvPr>
          <p:cNvSpPr/>
          <p:nvPr/>
        </p:nvSpPr>
        <p:spPr>
          <a:xfrm>
            <a:off x="609600" y="1371600"/>
            <a:ext cx="5308600" cy="4749800"/>
          </a:xfrm>
          <a:prstGeom prst="roundRect">
            <a:avLst/>
          </a:prstGeom>
          <a:solidFill>
            <a:srgbClr val="FBF1ED"/>
          </a:solidFill>
          <a:ln w="12700" cap="flat" cmpd="sng" algn="ctr">
            <a:solidFill>
              <a:srgbClr val="E8C9B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對比 — 沒模板 vs 有模板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51000"/>
            <a:ext cx="4826000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C96442"/>
                </a:solidFill>
                <a:latin typeface="Arial"/>
                <a:ea typeface="Microsoft JhengHei"/>
              </a:rPr>
              <a:t>❌  沒有模板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"幫我寫一個聊天機器人"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→ AI 直接寫一大段程式碼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→ 沒測試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→ 沒文件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→ 沒品質把關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→ 出問題才發現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0" y="1651000"/>
            <a:ext cx="4826000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6B7A3F"/>
                </a:solidFill>
                <a:latin typeface="Arial"/>
                <a:ea typeface="Microsoft JhengHei"/>
              </a:rPr>
              <a:t>✅  有模板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/task-init  → 互動式 Q&amp;A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/task-next  → 拆好的任務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/plan       → 先規劃再動手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/tdd        → 先寫測試再實作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/review-code → AI 審查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/verify     → 品質門把關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C51C8E-718A-411C-B540-1EC41DD8B667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4556E1-DDA6-450B-A356-D5B3784F23FC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BD6A9A-2AEE-4A9B-B790-30C8DD0A820F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B5AA28-2EA8-44AD-AB44-AD74ED3F1E59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17B5D9-67E3-4A43-8015-AD4338ACA2AE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11F8B24-CCDA-41CC-9D42-E0FBEFA60D92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2B7CB9F-A67C-416C-A671-394354683387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5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7D35B5-5836-4C7D-952F-D586093E5244}"/>
              </a:ext>
            </a:extLst>
          </p:cNvPr>
          <p:cNvSpPr/>
          <p:nvPr/>
        </p:nvSpPr>
        <p:spPr>
          <a:xfrm>
            <a:off x="6070600" y="1778000"/>
            <a:ext cx="38100" cy="3937000"/>
          </a:xfrm>
          <a:prstGeom prst="rect">
            <a:avLst/>
          </a:prstGeom>
          <a:solidFill>
            <a:srgbClr val="D8D3C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3B0C09E-6070-4DCB-B996-5446FE84A05D}"/>
              </a:ext>
            </a:extLst>
          </p:cNvPr>
          <p:cNvSpPr/>
          <p:nvPr/>
        </p:nvSpPr>
        <p:spPr>
          <a:xfrm>
            <a:off x="5803900" y="3556000"/>
            <a:ext cx="584200" cy="584200"/>
          </a:xfrm>
          <a:prstGeom prst="ellipse">
            <a:avLst/>
          </a:prstGeom>
          <a:solidFill>
            <a:srgbClr val="C96442"/>
          </a:solidFill>
          <a:ln w="25400" cap="flat" cmpd="sng" algn="ctr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4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VS</a:t>
            </a:r>
            <a:endParaRPr lang="zh-TW" altLang="en-US" sz="14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6378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.claude/ 是專案的「AI 大腦」 — 6 大設定觀念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207000"/>
            <a:ext cx="1069848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 i="0">
                <a:solidFill>
                  <a:srgbClr val="5E5D59"/>
                </a:solidFill>
                <a:latin typeface="Arial"/>
                <a:ea typeface="Microsoft JhengHei"/>
              </a:rPr>
              <a:t>→  接下來一張投影片介紹一個觀念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81CA4E6-FE4A-4978-9A99-62E4EB9D8AC1}"/>
              </a:ext>
            </a:extLst>
          </p:cNvPr>
          <p:cNvGraphicFramePr>
            <a:graphicFrameLocks noGrp="1"/>
          </p:cNvGraphicFramePr>
          <p:nvPr/>
        </p:nvGraphicFramePr>
        <p:xfrm>
          <a:off x="736600" y="1524000"/>
          <a:ext cx="1069340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467">
                  <a:extLst>
                    <a:ext uri="{9D8B030D-6E8A-4147-A177-3AD203B41FA5}">
                      <a16:colId xmlns:a16="http://schemas.microsoft.com/office/drawing/2014/main" val="3967376813"/>
                    </a:ext>
                  </a:extLst>
                </a:gridCol>
                <a:gridCol w="3564467">
                  <a:extLst>
                    <a:ext uri="{9D8B030D-6E8A-4147-A177-3AD203B41FA5}">
                      <a16:colId xmlns:a16="http://schemas.microsoft.com/office/drawing/2014/main" val="2026594820"/>
                    </a:ext>
                  </a:extLst>
                </a:gridCol>
                <a:gridCol w="3564467">
                  <a:extLst>
                    <a:ext uri="{9D8B030D-6E8A-4147-A177-3AD203B41FA5}">
                      <a16:colId xmlns:a16="http://schemas.microsoft.com/office/drawing/2014/main" val="417067633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觀念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角色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載入時機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5854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CLAUDE.md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專案說明書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每次對話自動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1883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rules/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行為準則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每次對話自動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5045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commands/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快捷指令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使用者 /xxx 觸發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3162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agents/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專業 AI 同事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主 AI 委派時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517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skills/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領域知識包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語意偵測自動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7656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hooks/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事件觸發器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系統事件發生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7427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93359D1-97CB-49FE-B02F-D2011C1ADED9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1AE264-0C94-409A-8B79-A975EACF28BC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C91F12-734B-4D4A-9116-8F322A2B75C9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C880D-3DCE-4832-8F44-FC140B597613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F93917-96FF-4CCB-A366-CA3B663BA023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1D46C33-166C-4B73-A5BF-EAE4FC26D8DB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4ACC08B-8D17-4B4F-9634-D0322AB3D3DA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6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7327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CLAUDE.md — 專案說明書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6600" y="1422400"/>
            <a:ext cx="5080000" cy="3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>
                <a:solidFill>
                  <a:srgbClr val="C96442"/>
                </a:solidFill>
                <a:latin typeface="Arial"/>
                <a:ea typeface="Microsoft JhengHei"/>
              </a:rPr>
              <a:t>專案的「身分證 + 說明書」</a:t>
            </a:r>
          </a:p>
          <a:p>
            <a:pPr algn="l">
              <a:spcAft>
                <a:spcPts val="1000"/>
              </a:spcAft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每次對話一開始就自動載入，讓 AI 立刻知道「這是什麼專案、怎麼動工」。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專案在做什麼、技術棧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目錄結構、開發流程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嚴禁事項（不准碰的東西）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DF7B81-DB18-48CA-8CB4-028CA7EFDE68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599484-6270-4BE8-B879-76C8EB1B46AF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BC8812-2DB1-46FF-85BB-241E539E3A2F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163D54-6322-4D01-A8ED-F3386DC33748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A53E4-4504-44AF-80E6-22693F0B8A74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1063855-6FF0-4772-8D5C-BD797494D148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3A0936A-4DA3-4254-B211-7847953EF32C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7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F09155-B90C-4F65-BE3E-9644D66C2790}"/>
              </a:ext>
            </a:extLst>
          </p:cNvPr>
          <p:cNvSpPr/>
          <p:nvPr/>
        </p:nvSpPr>
        <p:spPr>
          <a:xfrm>
            <a:off x="736600" y="4800600"/>
            <a:ext cx="5080000" cy="1320800"/>
          </a:xfrm>
          <a:prstGeom prst="rect">
            <a:avLst/>
          </a:prstGeom>
          <a:solidFill>
            <a:srgbClr val="F0EDE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lIns="228600" tIns="152400" rIns="177800" bIns="152400" rtlCol="0" anchor="ctr" anchorCtr="0"/>
          <a:lstStyle/>
          <a:p>
            <a:pPr algn="l">
              <a:spcAft>
                <a:spcPts val="300"/>
              </a:spcAft>
            </a:pPr>
            <a:r>
              <a:rPr lang="en-US" sz="1400" b="1" dirty="0">
                <a:solidFill>
                  <a:srgbClr val="6B7A3F"/>
                </a:solidFill>
                <a:latin typeface="Arial"/>
                <a:ea typeface="Microsoft JhengHei"/>
              </a:rPr>
              <a:t>🏢 </a:t>
            </a:r>
            <a:r>
              <a:rPr lang="en-US" sz="1400" b="1" dirty="0" err="1">
                <a:solidFill>
                  <a:srgbClr val="6B7A3F"/>
                </a:solidFill>
                <a:latin typeface="Arial"/>
                <a:ea typeface="Microsoft JhengHei"/>
              </a:rPr>
              <a:t>生活比喻</a:t>
            </a:r>
            <a:endParaRPr lang="en-US" sz="1400" b="1" dirty="0">
              <a:solidFill>
                <a:srgbClr val="6B7A3F"/>
              </a:solidFill>
              <a:latin typeface="Arial"/>
              <a:ea typeface="Microsoft JhengHei"/>
            </a:endParaRPr>
          </a:p>
          <a:p>
            <a:pPr algn="l"/>
            <a:r>
              <a:rPr lang="en-US" sz="1500" dirty="0" err="1">
                <a:solidFill>
                  <a:srgbClr val="3D3D3A"/>
                </a:solidFill>
                <a:latin typeface="Arial"/>
                <a:ea typeface="Microsoft JhengHei"/>
              </a:rPr>
              <a:t>就像新員工的「報到手冊</a:t>
            </a:r>
            <a:r>
              <a:rPr lang="en-US" sz="1500" dirty="0">
                <a:solidFill>
                  <a:srgbClr val="3D3D3A"/>
                </a:solidFill>
                <a:latin typeface="Arial"/>
                <a:ea typeface="Microsoft JhengHei"/>
              </a:rPr>
              <a:t>」——</a:t>
            </a:r>
            <a:r>
              <a:rPr lang="en-US" sz="1500" dirty="0" err="1">
                <a:solidFill>
                  <a:srgbClr val="3D3D3A"/>
                </a:solidFill>
                <a:latin typeface="Arial"/>
                <a:ea typeface="Microsoft JhengHei"/>
              </a:rPr>
              <a:t>進公司第一天先看它，就知道公司在做什麼、規矩是什麼</a:t>
            </a:r>
            <a:r>
              <a:rPr lang="en-US" sz="1500" dirty="0">
                <a:solidFill>
                  <a:srgbClr val="3D3D3A"/>
                </a:solidFill>
                <a:latin typeface="Arial"/>
                <a:ea typeface="Microsoft JhengHei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7E5AFF-2EDC-4F8D-9109-D22773E4E304}"/>
              </a:ext>
            </a:extLst>
          </p:cNvPr>
          <p:cNvSpPr/>
          <p:nvPr/>
        </p:nvSpPr>
        <p:spPr>
          <a:xfrm>
            <a:off x="736600" y="4800600"/>
            <a:ext cx="76200" cy="1320800"/>
          </a:xfrm>
          <a:prstGeom prst="rect">
            <a:avLst/>
          </a:prstGeom>
          <a:solidFill>
            <a:srgbClr val="6B7A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9CF7333-8444-4BCA-A098-45520941E483}"/>
              </a:ext>
            </a:extLst>
          </p:cNvPr>
          <p:cNvSpPr/>
          <p:nvPr/>
        </p:nvSpPr>
        <p:spPr>
          <a:xfrm>
            <a:off x="6324600" y="1422400"/>
            <a:ext cx="5105400" cy="469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E5E0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>
                <a:solidFill>
                  <a:srgbClr val="5E5D59"/>
                </a:solidFill>
                <a:latin typeface="Consolas"/>
                <a:ea typeface="Microsoft JhengHei"/>
              </a:rPr>
              <a:t>📄 CLAUDE.md 範例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1">
                <a:solidFill>
                  <a:srgbClr val="C96442"/>
                </a:solidFill>
                <a:latin typeface="Consolas"/>
                <a:ea typeface="Microsoft JhengHei"/>
              </a:rPr>
              <a:t># 專案：線上書店 API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>
                <a:solidFill>
                  <a:srgbClr val="141413"/>
                </a:solidFill>
                <a:latin typeface="Consolas"/>
                <a:ea typeface="Microsoft JhengHei"/>
              </a:rPr>
              <a:t>技術棧：FastAPI + PostgreSQL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>
                <a:solidFill>
                  <a:srgbClr val="141413"/>
                </a:solidFill>
                <a:latin typeface="Consolas"/>
                <a:ea typeface="Microsoft JhengHei"/>
              </a:rPr>
              <a:t>啟動：uvicorn app.main:app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>
                <a:solidFill>
                  <a:srgbClr val="141413"/>
                </a:solidFill>
                <a:latin typeface="Consolas"/>
                <a:ea typeface="Microsoft JhengHei"/>
              </a:rPr>
              <a:t>測試：pytest（覆蓋率 ≥ 80%）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1">
                <a:solidFill>
                  <a:srgbClr val="B0392A"/>
                </a:solidFill>
                <a:latin typeface="Consolas"/>
                <a:ea typeface="Microsoft JhengHei"/>
              </a:rPr>
              <a:t>⛔ 嚴禁：直接改 production DB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US" sz="1400" b="1">
                <a:solidFill>
                  <a:srgbClr val="6B7A3F"/>
                </a:solidFill>
                <a:latin typeface="Arial"/>
                <a:ea typeface="Microsoft JhengHei"/>
              </a:rPr>
              <a:t>→ AI 一進來就懂規矩，不亂猜</a:t>
            </a:r>
          </a:p>
        </p:txBody>
      </p:sp>
    </p:spTree>
    <p:extLst>
      <p:ext uri="{BB962C8B-B14F-4D97-AF65-F5344CB8AC3E}">
        <p14:creationId xmlns:p14="http://schemas.microsoft.com/office/powerpoint/2010/main" val="497554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rules/ — 永遠載入的規則（15 條）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6600" y="1422400"/>
            <a:ext cx="5080000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>
                <a:solidFill>
                  <a:srgbClr val="C96442"/>
                </a:solidFill>
                <a:latin typeface="Arial"/>
                <a:ea typeface="Microsoft JhengHei"/>
              </a:rPr>
              <a:t>每次對話都遵守的「行為準則」</a:t>
            </a:r>
          </a:p>
          <a:p>
            <a:pPr algn="l">
              <a:spcAft>
                <a:spcPts val="1000"/>
              </a:spcAft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把「橫切關注點」拆成一條條小規則，每次都自動載入。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粒度小、好維護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可組合、跨專案複用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CA1650-FA7B-4B84-BF39-8ED1D2F29EE0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FF7DF2-F599-436D-85B9-B4083ACB948F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4561A0-D994-4479-876D-7BC4D43EE0BF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B04BFB-C75D-49DB-8560-23B56D8FDC85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EE8D4E-9F94-4D5F-B4FD-00654EDF3885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2C6ED10-100F-45C8-A138-595A741D3D02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01F9D16-9E76-4C6B-A01F-7E8C9331334A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8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0B19EA-1FF5-4ADB-8787-D689D3E2FD35}"/>
              </a:ext>
            </a:extLst>
          </p:cNvPr>
          <p:cNvSpPr/>
          <p:nvPr/>
        </p:nvSpPr>
        <p:spPr>
          <a:xfrm>
            <a:off x="736600" y="4419600"/>
            <a:ext cx="5080000" cy="1701800"/>
          </a:xfrm>
          <a:prstGeom prst="rect">
            <a:avLst/>
          </a:prstGeom>
          <a:solidFill>
            <a:srgbClr val="F0EDE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lIns="228600" tIns="152400" rIns="177800" bIns="152400" rtlCol="0" anchor="ctr" anchorCtr="0"/>
          <a:lstStyle/>
          <a:p>
            <a:pPr algn="l">
              <a:spcAft>
                <a:spcPts val="500"/>
              </a:spcAft>
            </a:pPr>
            <a:r>
              <a:rPr lang="en-US" sz="1400" b="1">
                <a:solidFill>
                  <a:srgbClr val="6B7A3F"/>
                </a:solidFill>
                <a:latin typeface="Arial"/>
                <a:ea typeface="Microsoft JhengHei"/>
              </a:rPr>
              <a:t>🏢 生活比喻 ｜ 公司員工守則</a:t>
            </a:r>
          </a:p>
          <a:p>
            <a:pPr algn="l"/>
            <a:r>
              <a:rPr lang="en-US" sz="1500">
                <a:solidFill>
                  <a:srgbClr val="3D3D3A"/>
                </a:solidFill>
                <a:latin typeface="Arial"/>
                <a:ea typeface="Microsoft JhengHei"/>
              </a:rPr>
              <a:t>不管你做哪個專案，「上班不遲到、程式要寫測試」這些守則永遠生效——不必每次重講。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530B86-E709-4CC9-9B27-64E4638B1062}"/>
              </a:ext>
            </a:extLst>
          </p:cNvPr>
          <p:cNvSpPr/>
          <p:nvPr/>
        </p:nvSpPr>
        <p:spPr>
          <a:xfrm>
            <a:off x="736600" y="4419600"/>
            <a:ext cx="76200" cy="1701800"/>
          </a:xfrm>
          <a:prstGeom prst="rect">
            <a:avLst/>
          </a:prstGeom>
          <a:solidFill>
            <a:srgbClr val="6B7A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9E7FF85-A181-40C4-B036-1CA33CBC8F62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1422400"/>
          <a:ext cx="51054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156017443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85379614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檔案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作用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16319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coding-style.md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編碼風格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13858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testing.md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測試覆蓋率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75165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security.md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安全規範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97741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git-workflow.md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提交規範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1738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task-mode.md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任務分級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748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840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commands/ — 你的快捷指令（25 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6600" y="1422400"/>
            <a:ext cx="5080000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>
                <a:solidFill>
                  <a:srgbClr val="C96442"/>
                </a:solidFill>
                <a:latin typeface="Arial"/>
                <a:ea typeface="Microsoft JhengHei"/>
              </a:rPr>
              <a:t>把常用流程封裝成「一句指令」</a:t>
            </a:r>
          </a:p>
          <a:p>
            <a:pPr algn="l">
              <a:spcAft>
                <a:spcPts val="1000"/>
              </a:spcAft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輸入 /xxx 就能觸發一段事先寫好的工作流程。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不用每次重打長提示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團隊用同一套標準動作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C985B3-DF89-422F-BC45-2995EB9AAD1C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255689-C7AE-4728-8C5B-F9FA62D89296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2DC0AB-1AF2-4E5F-A83E-20CFF6C066BE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4A0538-575A-4F7A-B8C2-F2489D69A4C7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614BBA-6880-46BE-B15C-81A4D3F6BD7D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E5FB685-C10C-4580-81D4-6C7150075F5F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15E51EE-246D-4CF1-896E-51CB03FB00B9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9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29AA15-A9C4-425A-B120-704E694A5A9C}"/>
              </a:ext>
            </a:extLst>
          </p:cNvPr>
          <p:cNvSpPr/>
          <p:nvPr/>
        </p:nvSpPr>
        <p:spPr>
          <a:xfrm>
            <a:off x="736600" y="4419600"/>
            <a:ext cx="5080000" cy="1701800"/>
          </a:xfrm>
          <a:prstGeom prst="rect">
            <a:avLst/>
          </a:prstGeom>
          <a:solidFill>
            <a:srgbClr val="F0EDE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lIns="228600" tIns="152400" rIns="177800" bIns="152400" rtlCol="0" anchor="ctr" anchorCtr="0"/>
          <a:lstStyle/>
          <a:p>
            <a:pPr algn="l">
              <a:spcAft>
                <a:spcPts val="500"/>
              </a:spcAft>
            </a:pPr>
            <a:r>
              <a:rPr lang="en-US" sz="1400" b="1">
                <a:solidFill>
                  <a:srgbClr val="6B7A3F"/>
                </a:solidFill>
                <a:latin typeface="Arial"/>
                <a:ea typeface="Microsoft JhengHei"/>
              </a:rPr>
              <a:t>📱 生活比喻 ｜ 手機捷徑／巨集</a:t>
            </a:r>
          </a:p>
          <a:p>
            <a:pPr algn="l"/>
            <a:r>
              <a:rPr lang="en-US" sz="1500">
                <a:solidFill>
                  <a:srgbClr val="3D3D3A"/>
                </a:solidFill>
                <a:latin typeface="Arial"/>
                <a:ea typeface="Microsoft JhengHei"/>
              </a:rPr>
              <a:t>就像手機「捷徑」按一下就自動：開導航、傳訊息、播音樂——一個指令完成整串動作。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A52DCC-831A-4147-8BF6-61FBF931F405}"/>
              </a:ext>
            </a:extLst>
          </p:cNvPr>
          <p:cNvSpPr/>
          <p:nvPr/>
        </p:nvSpPr>
        <p:spPr>
          <a:xfrm>
            <a:off x="736600" y="4419600"/>
            <a:ext cx="76200" cy="1701800"/>
          </a:xfrm>
          <a:prstGeom prst="rect">
            <a:avLst/>
          </a:prstGeom>
          <a:solidFill>
            <a:srgbClr val="6B7A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F0FA768-BDD3-4A33-9F0E-5A89336867AE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1422400"/>
          <a:ext cx="51054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871606048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408713424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指令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做什麼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36991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/task-init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初始化專案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67387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/plan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先規劃再動手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25942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/tdd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測試先行開發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97909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/review-code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AI 審查程式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53227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/build-fix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自動修錯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1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157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agents/ — 專業 AI 同事（14 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6600" y="1422400"/>
            <a:ext cx="5080000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>
                <a:solidFill>
                  <a:srgbClr val="C96442"/>
                </a:solidFill>
                <a:latin typeface="Arial"/>
                <a:ea typeface="Microsoft JhengHei"/>
              </a:rPr>
              <a:t>專業分工的 AI 同事</a:t>
            </a:r>
          </a:p>
          <a:p>
            <a:pPr algn="l">
              <a:spcAft>
                <a:spcPts val="1000"/>
              </a:spcAft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主 AI 遇到專業任務時，委派給對應領域的 agent 處理。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各司其職、品質更高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按模型分級、控制成本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112750-FD9F-4E8C-BA90-D85BE784470A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FFD019-2D0E-475D-9BB1-CA0AF906F83D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7B9CDF-2E05-4FF2-AA93-516AFEAA7D81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80917A-D6A4-4E8E-89DF-AA13C67EFB00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E0627C-A0BC-48A0-B114-E76A17BCDC8E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A019B9F-FC7D-46E2-8A1A-21582AB5582A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422B4B-69F9-4166-96F7-B3117D6803D7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10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C9B5AC-CB35-4D6E-87E3-B9645DB1F3C0}"/>
              </a:ext>
            </a:extLst>
          </p:cNvPr>
          <p:cNvSpPr/>
          <p:nvPr/>
        </p:nvSpPr>
        <p:spPr>
          <a:xfrm>
            <a:off x="736600" y="4419600"/>
            <a:ext cx="5080000" cy="1701800"/>
          </a:xfrm>
          <a:prstGeom prst="rect">
            <a:avLst/>
          </a:prstGeom>
          <a:solidFill>
            <a:srgbClr val="F0EDE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lIns="228600" tIns="152400" rIns="177800" bIns="152400" rtlCol="0" anchor="ctr" anchorCtr="0"/>
          <a:lstStyle/>
          <a:p>
            <a:pPr algn="l">
              <a:spcAft>
                <a:spcPts val="500"/>
              </a:spcAft>
            </a:pPr>
            <a:r>
              <a:rPr lang="en-US" sz="1400" b="1">
                <a:solidFill>
                  <a:srgbClr val="6B7A3F"/>
                </a:solidFill>
                <a:latin typeface="Arial"/>
                <a:ea typeface="Microsoft JhengHei"/>
              </a:rPr>
              <a:t>🏥 生活比喻 ｜ 醫院專科團隊</a:t>
            </a:r>
          </a:p>
          <a:p>
            <a:pPr algn="l"/>
            <a:r>
              <a:rPr lang="en-US" sz="1500">
                <a:solidFill>
                  <a:srgbClr val="3D3D3A"/>
                </a:solidFill>
                <a:latin typeface="Arial"/>
                <a:ea typeface="Microsoft JhengHei"/>
              </a:rPr>
              <a:t>家醫科先看診，需要時轉介給心臟科、骨科。主 AI 就是家醫科，agent 就是各專科醫師。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767D46-A92D-4D96-86DE-9B02284CCD6E}"/>
              </a:ext>
            </a:extLst>
          </p:cNvPr>
          <p:cNvSpPr/>
          <p:nvPr/>
        </p:nvSpPr>
        <p:spPr>
          <a:xfrm>
            <a:off x="736600" y="4419600"/>
            <a:ext cx="76200" cy="1701800"/>
          </a:xfrm>
          <a:prstGeom prst="rect">
            <a:avLst/>
          </a:prstGeom>
          <a:solidFill>
            <a:srgbClr val="6B7A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3FA8A7DE-07E0-4D4C-B7E2-79B733F44F30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1422400"/>
          <a:ext cx="51054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609479813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388524020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Agent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專長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00704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planner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任務規劃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9622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coder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實作開發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37639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reviewer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程式審查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11845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tester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測試撰寫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28877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debugger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除錯修復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385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707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skills/ — 領域知識按需載入（7 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6600" y="1422400"/>
            <a:ext cx="5080000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>
                <a:solidFill>
                  <a:srgbClr val="C96442"/>
                </a:solidFill>
                <a:latin typeface="Arial"/>
                <a:ea typeface="Microsoft JhengHei"/>
              </a:rPr>
              <a:t>需要時才載入的領域知識</a:t>
            </a:r>
          </a:p>
          <a:p>
            <a:pPr algn="l">
              <a:spcAft>
                <a:spcPts val="1000"/>
              </a:spcAft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AI 偵測到語意相關，才自動把對應知識包讀進來。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不佔平時的記憶空間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用到才取，按需擴充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AA2D8A-13E6-4C17-8AA4-FD599A775CF2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DCAE88-ED3A-4338-97A9-B3B4A8FE0DA2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99AC12-D6FE-4A53-802B-65C7726DDFAB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9FB5CD-6D87-4D70-B5EE-A44F8970BD41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4B15DD-E176-492C-90A6-4180F1DB3024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6657B6D-7449-4050-ABF3-D314DCC73D4C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A6304A-F68D-4CAA-B3DD-8CB280CE5EBB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11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373B11-3B7D-452A-BF5A-FE4962DDF06B}"/>
              </a:ext>
            </a:extLst>
          </p:cNvPr>
          <p:cNvSpPr/>
          <p:nvPr/>
        </p:nvSpPr>
        <p:spPr>
          <a:xfrm>
            <a:off x="736600" y="4419600"/>
            <a:ext cx="5080000" cy="1701800"/>
          </a:xfrm>
          <a:prstGeom prst="rect">
            <a:avLst/>
          </a:prstGeom>
          <a:solidFill>
            <a:srgbClr val="F0EDE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spcAft>
                <a:spcPts val="500"/>
              </a:spcAft>
            </a:pPr>
            <a:r>
              <a:rPr lang="en-US" sz="1400" b="1">
                <a:solidFill>
                  <a:srgbClr val="6B7A3F"/>
                </a:solidFill>
                <a:latin typeface="Arial"/>
                <a:ea typeface="Microsoft JhengHei"/>
              </a:rPr>
              <a:t>📚 生活比喻 ── 工具書櫃</a:t>
            </a:r>
          </a:p>
          <a:p>
            <a:pPr algn="l"/>
            <a:r>
              <a:rPr lang="en-US" sz="1500">
                <a:solidFill>
                  <a:srgbClr val="3D3D3A"/>
                </a:solidFill>
                <a:latin typeface="Arial"/>
                <a:ea typeface="Microsoft JhengHei"/>
              </a:rPr>
              <a:t>書櫃上擺滿專業工具書，平常不用翻；遇到特定問題，才抽出對應那本來查。skills 就是這樣按需取用。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1840CC-5CC3-4EE9-8152-EFEB44B4D887}"/>
              </a:ext>
            </a:extLst>
          </p:cNvPr>
          <p:cNvSpPr/>
          <p:nvPr/>
        </p:nvSpPr>
        <p:spPr>
          <a:xfrm>
            <a:off x="736600" y="4419600"/>
            <a:ext cx="76200" cy="1701800"/>
          </a:xfrm>
          <a:prstGeom prst="rect">
            <a:avLst/>
          </a:prstGeom>
          <a:solidFill>
            <a:srgbClr val="6B7A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62DD777-DDFA-4151-91C5-420D377DAB5F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1422400"/>
          <a:ext cx="51054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112175986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1620502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技能包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什麼時候自動載入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7426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competitive-analysis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要做競品/市場分析時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60443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pdf-processing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需要解析 PDF 文件時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99724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excel-reporting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產生 Excel 報表時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2731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ib-check-deck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做投資簡報品質檢查時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63024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deck-refresh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批次更新簡報數字時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853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926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141413"/>
                </a:solidFill>
                <a:latin typeface="Georgia"/>
                <a:ea typeface="Microsoft JhengHei"/>
              </a:rPr>
              <a:t>hooks/ — 事件自動化（6 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6600" y="1422400"/>
            <a:ext cx="5080000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>
                <a:solidFill>
                  <a:srgbClr val="C96442"/>
                </a:solidFill>
                <a:latin typeface="Arial"/>
                <a:ea typeface="Microsoft JhengHei"/>
              </a:rPr>
              <a:t>事件發生就自動執行</a:t>
            </a:r>
          </a:p>
          <a:p>
            <a:pPr algn="l">
              <a:spcAft>
                <a:spcPts val="1000"/>
              </a:spcAft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不用你開口，特定事件一觸發，hook 就自動做事。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把重複動作交給系統自動跑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latin typeface="Arial"/>
                <a:ea typeface="Microsoft JhengHei"/>
              </a:rPr>
              <a:t>確保每次流程一致、不漏步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04A754-6FBE-48A0-A752-EB0218C79893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CB15EA-2A97-480A-B207-D129C0B34E33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A63EE1-C610-41D5-9212-F7C128FABF05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A9C230-0EAC-410E-82F3-9A43B3A635DB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913A7B-4E25-4EDF-9B65-9018D5965BAB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7F84CB7-0F88-4634-8935-FCCF8B921EA8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2DB7D38-AF75-4A98-809B-36CE746D0913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12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9D3626-A800-44AE-BB2D-36C138D01AC1}"/>
              </a:ext>
            </a:extLst>
          </p:cNvPr>
          <p:cNvSpPr/>
          <p:nvPr/>
        </p:nvSpPr>
        <p:spPr>
          <a:xfrm>
            <a:off x="736600" y="4419600"/>
            <a:ext cx="5080000" cy="1701800"/>
          </a:xfrm>
          <a:prstGeom prst="rect">
            <a:avLst/>
          </a:prstGeom>
          <a:solidFill>
            <a:srgbClr val="F0EDE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spcAft>
                <a:spcPts val="500"/>
              </a:spcAft>
            </a:pPr>
            <a:r>
              <a:rPr lang="en-US" sz="1400" b="1">
                <a:solidFill>
                  <a:srgbClr val="6B7A3F"/>
                </a:solidFill>
                <a:latin typeface="Arial"/>
                <a:ea typeface="Microsoft JhengHei"/>
              </a:rPr>
              <a:t>💡 生活比喻 ── 自動感應燈</a:t>
            </a:r>
          </a:p>
          <a:p>
            <a:pPr algn="l"/>
            <a:r>
              <a:rPr lang="en-US" sz="1500">
                <a:solidFill>
                  <a:srgbClr val="3D3D3A"/>
                </a:solidFill>
                <a:latin typeface="Arial"/>
                <a:ea typeface="Microsoft JhengHei"/>
              </a:rPr>
              <a:t>走進房間，燈自己亮；離開就自己關。你不必去按開關 ── hooks 就是這種「事件一到、自動反應」的機制。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60C362-7C54-481C-AD10-FF268FDC6514}"/>
              </a:ext>
            </a:extLst>
          </p:cNvPr>
          <p:cNvSpPr/>
          <p:nvPr/>
        </p:nvSpPr>
        <p:spPr>
          <a:xfrm>
            <a:off x="736600" y="4419600"/>
            <a:ext cx="76200" cy="1701800"/>
          </a:xfrm>
          <a:prstGeom prst="rect">
            <a:avLst/>
          </a:prstGeom>
          <a:solidFill>
            <a:srgbClr val="6B7A3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D43AB7F2-21D5-4838-8FA1-2E86F0D1CD71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1422400"/>
          <a:ext cx="51054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399834253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23189209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觸發事件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自動做的事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88250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檔案儲存後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自動跑格式化 / lint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90558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送出提交前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自動執行測試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22797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對話開始時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自動載入專案狀態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55848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指令執行後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自動記錄時間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5054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任務完成時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自動更新進度清單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88144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</a:rPr>
                        <a:t>工具呼叫前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</a:rPr>
                        <a:t>自動檢查權限 / 攔截危險操作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77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969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6 大觀念對照表 — 一張記住差異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23C8BF-DCBF-4800-9B1D-CA1F35057D95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CE96AD-657F-4A15-AB46-B450AE1DA8A6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2161D6-0F23-4738-AC9E-AC7F1C0576F4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096539-1380-448C-ADC5-A7231626CD2F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38324E-6044-4B99-B109-387945AFC232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0D6C2BE-E84B-4005-AEE0-920FF466E025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3044789-CE99-4011-964F-8F356888780F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13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FD44B1D-B1AD-4593-B4B4-16B366E6755C}"/>
              </a:ext>
            </a:extLst>
          </p:cNvPr>
          <p:cNvGraphicFramePr>
            <a:graphicFrameLocks noGrp="1"/>
          </p:cNvGraphicFramePr>
          <p:nvPr/>
        </p:nvGraphicFramePr>
        <p:xfrm>
          <a:off x="736600" y="1524000"/>
          <a:ext cx="10693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350">
                  <a:extLst>
                    <a:ext uri="{9D8B030D-6E8A-4147-A177-3AD203B41FA5}">
                      <a16:colId xmlns:a16="http://schemas.microsoft.com/office/drawing/2014/main" val="2169677054"/>
                    </a:ext>
                  </a:extLst>
                </a:gridCol>
                <a:gridCol w="2673350">
                  <a:extLst>
                    <a:ext uri="{9D8B030D-6E8A-4147-A177-3AD203B41FA5}">
                      <a16:colId xmlns:a16="http://schemas.microsoft.com/office/drawing/2014/main" val="998833643"/>
                    </a:ext>
                  </a:extLst>
                </a:gridCol>
                <a:gridCol w="2673350">
                  <a:extLst>
                    <a:ext uri="{9D8B030D-6E8A-4147-A177-3AD203B41FA5}">
                      <a16:colId xmlns:a16="http://schemas.microsoft.com/office/drawing/2014/main" val="4200646789"/>
                    </a:ext>
                  </a:extLst>
                </a:gridCol>
                <a:gridCol w="2673350">
                  <a:extLst>
                    <a:ext uri="{9D8B030D-6E8A-4147-A177-3AD203B41FA5}">
                      <a16:colId xmlns:a16="http://schemas.microsoft.com/office/drawing/2014/main" val="21948429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觀念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觸發方式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生命週期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Arial"/>
                        </a:rPr>
                        <a:t>主要用途</a:t>
                      </a:r>
                    </a:p>
                  </a:txBody>
                  <a:tcPr anchor="ctr">
                    <a:solidFill>
                      <a:srgbClr val="C96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44497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CLAUDE.md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自動載入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長駐 ctx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專案說明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4379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rules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自動載入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長駐 ctx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跨專案通則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9964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commands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使用者 /xxx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單次調用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封裝常用 prompt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3641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agents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AI 委派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隔離 ctx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專業分工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2831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skills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語意偵測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按需載入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領域知識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1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41413"/>
                          </a:solidFill>
                          <a:latin typeface="Consolas"/>
                          <a:ea typeface="Microsoft JhengHei"/>
                        </a:rPr>
                        <a:t>hooks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系統事件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無 AI 介入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141413"/>
                          </a:solidFill>
                          <a:latin typeface="Arial"/>
                          <a:ea typeface="Microsoft JhengHei"/>
                          <a:cs typeface="Arial"/>
                        </a:rPr>
                        <a:t>副作用 / 自動化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384073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5ECBDD66-BBCB-4E4B-816E-015F583F5CF1}"/>
              </a:ext>
            </a:extLst>
          </p:cNvPr>
          <p:cNvSpPr txBox="1"/>
          <p:nvPr/>
        </p:nvSpPr>
        <p:spPr>
          <a:xfrm>
            <a:off x="736600" y="5562600"/>
            <a:ext cx="10693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600">
                <a:solidFill>
                  <a:srgbClr val="5E5D59"/>
                </a:solidFill>
                <a:latin typeface="Arial"/>
                <a:ea typeface="Microsoft JhengHei"/>
                <a:cs typeface="Arial"/>
              </a:rPr>
              <a:t>三條軸：自動 </a:t>
            </a:r>
            <a:r>
              <a:rPr lang="en-US" altLang="zh-TW" sz="1600">
                <a:solidFill>
                  <a:srgbClr val="5E5D59"/>
                </a:solidFill>
                <a:latin typeface="Arial"/>
                <a:ea typeface="Microsoft JhengHei"/>
                <a:cs typeface="Arial"/>
              </a:rPr>
              <a:t>vs </a:t>
            </a:r>
            <a:r>
              <a:rPr lang="zh-TW" altLang="en-US" sz="1600">
                <a:solidFill>
                  <a:srgbClr val="5E5D59"/>
                </a:solidFill>
                <a:latin typeface="Arial"/>
                <a:ea typeface="Microsoft JhengHei"/>
                <a:cs typeface="Arial"/>
              </a:rPr>
              <a:t>觸發、長駐 </a:t>
            </a:r>
            <a:r>
              <a:rPr lang="en-US" altLang="zh-TW" sz="1600">
                <a:solidFill>
                  <a:srgbClr val="5E5D59"/>
                </a:solidFill>
                <a:latin typeface="Arial"/>
                <a:ea typeface="Microsoft JhengHei"/>
                <a:cs typeface="Arial"/>
              </a:rPr>
              <a:t>vs </a:t>
            </a:r>
            <a:r>
              <a:rPr lang="zh-TW" altLang="en-US" sz="1600">
                <a:solidFill>
                  <a:srgbClr val="5E5D59"/>
                </a:solidFill>
                <a:latin typeface="Arial"/>
                <a:ea typeface="Microsoft JhengHei"/>
                <a:cs typeface="Arial"/>
              </a:rPr>
              <a:t>按需、</a:t>
            </a:r>
            <a:r>
              <a:rPr lang="en-US" altLang="zh-TW" sz="1600">
                <a:solidFill>
                  <a:srgbClr val="5E5D59"/>
                </a:solidFill>
                <a:latin typeface="Arial"/>
                <a:ea typeface="Microsoft JhengHei"/>
                <a:cs typeface="Arial"/>
              </a:rPr>
              <a:t>AI </a:t>
            </a:r>
            <a:r>
              <a:rPr lang="zh-TW" altLang="en-US" sz="1600">
                <a:solidFill>
                  <a:srgbClr val="5E5D59"/>
                </a:solidFill>
                <a:latin typeface="Arial"/>
                <a:ea typeface="Microsoft JhengHei"/>
                <a:cs typeface="Arial"/>
              </a:rPr>
              <a:t>內 </a:t>
            </a:r>
            <a:r>
              <a:rPr lang="en-US" altLang="zh-TW" sz="1600">
                <a:solidFill>
                  <a:srgbClr val="5E5D59"/>
                </a:solidFill>
                <a:latin typeface="Arial"/>
                <a:ea typeface="Microsoft JhengHei"/>
                <a:cs typeface="Arial"/>
              </a:rPr>
              <a:t>vs AI </a:t>
            </a:r>
            <a:r>
              <a:rPr lang="zh-TW" altLang="en-US" sz="1600">
                <a:solidFill>
                  <a:srgbClr val="5E5D59"/>
                </a:solidFill>
                <a:latin typeface="Arial"/>
                <a:ea typeface="Microsoft JhengHei"/>
                <a:cs typeface="Arial"/>
              </a:rPr>
              <a:t>外</a:t>
            </a:r>
          </a:p>
        </p:txBody>
      </p:sp>
    </p:spTree>
    <p:extLst>
      <p:ext uri="{BB962C8B-B14F-4D97-AF65-F5344CB8AC3E}">
        <p14:creationId xmlns:p14="http://schemas.microsoft.com/office/powerpoint/2010/main" val="307505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14 個 Agent — 按模型分級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C96442"/>
                </a:solidFill>
                <a:latin typeface="Arial"/>
                <a:ea typeface="Microsoft JhengHei"/>
              </a:rPr>
              <a:t>Opus  (重量級推理)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  planner • architect • security-auditor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8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6B7A3F"/>
                </a:solidFill>
                <a:latin typeface="Arial"/>
                <a:ea typeface="Microsoft JhengHei"/>
              </a:rPr>
              <a:t>Sonnet  (一般開發)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  code-quality • tdd-guide • e2e-specialist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  test-engineer • refactor-cleaner • deployment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  ui-builder • general-purpose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8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D97757"/>
                </a:solidFill>
                <a:latin typeface="Arial"/>
                <a:ea typeface="Microsoft JhengHei"/>
              </a:rPr>
              <a:t>Haiku  (輕量快速)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  build-resolver • doc-specialist • template-mgr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8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→  模板自動分配，不需要手動選擇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042E5E-19E9-4EA2-8295-34F89BAFEF95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D9B0E8-CCBE-4471-9278-2FC979D1D4BD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9F3F49-DA1E-4A53-A429-690B47EABFFC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4AC2FF-0BD7-4297-90D3-2BABFD88BC11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96B73D-5B48-456C-8388-6358B374AEA0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B6507DC-D681-41F9-B55A-FDA4866AF98A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76B6A42-CB3B-4AC7-BB5D-FFADDFA0CED4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14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089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Agent 編排劇本 — 主動委派 + 接力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96442"/>
                </a:solidFill>
                <a:latin typeface="Arial"/>
                <a:ea typeface="Microsoft JhengHei"/>
              </a:rPr>
              <a:t>原則：有專家就委派，交棒靠 handoff 不靠記憶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1" i="0">
              <a:solidFill>
                <a:srgbClr val="C96442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41413"/>
                </a:solidFill>
                <a:latin typeface="Arial"/>
                <a:ea typeface="Microsoft JhengHei"/>
              </a:rPr>
              <a:t>新功能的標準鏈：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  planner → tdd-guide → code-quality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     → test-automation →（critical）security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8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41413"/>
                </a:solidFill>
                <a:latin typeface="Arial"/>
                <a:ea typeface="Microsoft JhengHei"/>
              </a:rPr>
              <a:t>每棒做完會：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1. 寫報告到 .claude/context/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2. 對下一棒建 handoff（coordination/handoffs）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3. hook 注入提示 → 主 AI 接手下一棒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8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6B7A3F"/>
                </a:solidFill>
                <a:latin typeface="Arial"/>
                <a:ea typeface="Microsoft JhengHei"/>
              </a:rPr>
              <a:t>→  用 /agent-log 看：誰跑過、留了什麼、交給誰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D23456-113F-44DB-8BE4-20C5F119AB1D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69D51C-4C87-4883-95DE-C4292D0BF710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6072C0-BB95-45E2-B2BB-D13ADF32490F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993057-B451-450B-BA92-50345AFED54F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C185AC-9B11-4758-B9D8-92D179A07367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5E6D6F7-C1BB-485D-8091-42A77B2D71CC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3C82CF9-5FC4-41B9-B9C6-264E72185AA6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15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3895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413"/>
                </a:solidFill>
                <a:latin typeface="Georgia"/>
                <a:ea typeface="Microsoft JhengHei"/>
              </a:rPr>
              <a:t>目錄結構 — .claude/ 下的關鍵目錄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1270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96442"/>
                </a:solidFill>
                <a:latin typeface="Consolas"/>
                <a:ea typeface="Microsoft JhengHei"/>
              </a:rPr>
              <a:t>CLAUDE.md           ← 專案說明書（根目錄）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96442"/>
                </a:solidFill>
                <a:latin typeface="Consolas"/>
                <a:ea typeface="Microsoft JhengHei"/>
              </a:rPr>
              <a:t>.claude/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├── agents/          ← 14 個 Agent 定義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├── commands/        ← 25 個快捷指令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├── rules/           ← 15 條自動規則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├── skills/          ← 7 個領域技能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├── hooks/           ← 系統事件腳本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├── ui/              ← UI 風格目錄（lovable / nvidia / ...）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├── context/         ← Agent 報告共享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├── coordination/    ← Agent 間的 handoff 交接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├── logs/            ← subagent 軌跡（/agent-log）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87867F"/>
                </a:solidFill>
                <a:latin typeface="Consolas"/>
                <a:ea typeface="Microsoft JhengHei"/>
              </a:rPr>
              <a:t>├── guides/          ← 參考文件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96442"/>
                </a:solidFill>
                <a:latin typeface="Consolas"/>
                <a:ea typeface="Microsoft JhengHei"/>
              </a:rPr>
              <a:t>└── taskmaster-data/ ← WBS 任務 + 時間追蹤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4C3AC2-3EF7-4B1D-8139-9CE898489DF0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A1F015-54C5-491C-9256-45B1DE815ED9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1C99D5-37D8-42D8-BA6F-83E4563E995C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2C38B4-4212-4672-A963-459695CC1DEF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FE647C-D485-43E7-B3CD-AA4A6FAF69FA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91DA2F1-FECE-4B9D-B4E6-545763A2F567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65F60-AB51-465A-8A51-7B21D511D1B6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16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5202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環境準備檢查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3D3D3A"/>
                </a:solidFill>
                <a:latin typeface="Arial"/>
                <a:ea typeface="Microsoft JhengHei"/>
              </a:rPr>
              <a:t>  ☐  Claude Code CLI 已安裝    → claude --version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3D3D3A"/>
                </a:solidFill>
                <a:latin typeface="Arial"/>
                <a:ea typeface="Microsoft JhengHei"/>
              </a:rPr>
              <a:t>  ☐  Python 3.11+ 與 uv 已安裝  → uv --version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3D3D3A"/>
                </a:solidFill>
                <a:latin typeface="Arial"/>
                <a:ea typeface="Microsoft JhengHei"/>
              </a:rPr>
              <a:t>  ☐  Python 直譯器→ python --version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3D3D3A"/>
                </a:solidFill>
                <a:latin typeface="Arial"/>
                <a:ea typeface="Microsoft JhengHei"/>
              </a:rPr>
              <a:t>  ☐  Node.js 18+（僅 /e2e 需要）→ node --version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3D3D3A"/>
                </a:solidFill>
                <a:latin typeface="Arial"/>
                <a:ea typeface="Microsoft JhengHei"/>
              </a:rPr>
              <a:t>  ☐  Git 已設定                          → git config user.name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3D3D3A"/>
                </a:solidFill>
                <a:latin typeface="Arial"/>
                <a:ea typeface="Microsoft JhengHei"/>
              </a:rPr>
              <a:t>  ☐  模板已複製到工作目錄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3D3D3A"/>
                </a:solidFill>
                <a:latin typeface="Arial"/>
                <a:ea typeface="Microsoft JhengHei"/>
              </a:rPr>
              <a:t>  ☐  Gemini API Key 已放入 .env  → GEMINI_API_KEY=...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E949DA-53DF-42D5-ACE1-98D627FC38C0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555179-B234-46FD-8B92-8C8DC5A0EB5B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919CB9-BAF5-4D37-9C08-DEB1E125D3B0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FCAA2E-0E83-46BD-86E7-88FF71657472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30FE84-B53A-48F6-9E33-6C314235D2D3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7431ED9-558E-4653-A57A-C82F307C1A4B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B9A0112-1F63-4776-A5FD-CB2A554E14D0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17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1749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今天的旅程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C96442"/>
                </a:solidFill>
                <a:latin typeface="Arial"/>
                <a:ea typeface="Microsoft JhengHei"/>
              </a:rPr>
              <a:t>Ch1   認識模板 + 觀念       10 min← 你在這裡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Ch2   專案初始化             12 min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D97757"/>
                </a:solidFill>
                <a:latin typeface="Arial"/>
                <a:ea typeface="Microsoft JhengHei"/>
              </a:rPr>
              <a:t>Ch3   開發循環 x3            20 min⭐ 核心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Ch4   品質驗證                10 min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Ch5   進階 + Q&amp;A              8 min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2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6B7A3F"/>
                </a:solidFill>
                <a:latin typeface="Arial"/>
                <a:ea typeface="Microsoft JhengHei"/>
              </a:rPr>
              <a:t>→  60 分鐘後，你會了工作流 + 一個會串流的聊天機器人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8AEBDF-46FF-4AEA-8407-5BF8D8B140FE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BA1628-AB60-40F1-8B88-AC6114E6A104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D69A98-C586-4D0D-A0BF-121DFA399ECE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646AE4-510F-47C2-89C8-5304970653E3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467E42-0EF0-4C12-B5D2-05CA4F1C4F65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D00D9DD-65C0-4013-BDE6-D218CE4157C3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1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555A133-C53D-4B72-8E20-25D0774C7E4E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18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1014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FF1D8D9-D3CE-4994-84C9-86F3B014A83D}"/>
              </a:ext>
            </a:extLst>
          </p:cNvPr>
          <p:cNvSpPr txBox="1"/>
          <p:nvPr/>
        </p:nvSpPr>
        <p:spPr>
          <a:xfrm>
            <a:off x="6604000" y="1524000"/>
            <a:ext cx="4826000" cy="4318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r"/>
            <a:r>
              <a:rPr lang="en-US" sz="20000" b="1">
                <a:solidFill>
                  <a:srgbClr val="F0E9E0"/>
                </a:solidFill>
                <a:latin typeface="Georgia"/>
                <a:ea typeface="Microsoft JhengHei"/>
              </a:rPr>
              <a:t>02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9200" y="2540000"/>
            <a:ext cx="76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6442"/>
                </a:solidFill>
                <a:latin typeface="Arial"/>
                <a:ea typeface="Microsoft JhengHei"/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3022600"/>
            <a:ext cx="889000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 err="1">
                <a:solidFill>
                  <a:srgbClr val="141413"/>
                </a:solidFill>
                <a:latin typeface="Georgia"/>
                <a:ea typeface="Microsoft JhengHei"/>
              </a:rPr>
              <a:t>專案初始化</a:t>
            </a:r>
            <a:endParaRPr sz="4000" b="1" i="0" dirty="0">
              <a:solidFill>
                <a:srgbClr val="141413"/>
              </a:solidFill>
              <a:latin typeface="Georgia"/>
              <a:ea typeface="Microsoft JhengHei"/>
            </a:endParaRPr>
          </a:p>
          <a:p>
            <a:pPr algn="l">
              <a:spcBef>
                <a:spcPts val="1000"/>
              </a:spcBef>
            </a:pPr>
            <a:r>
              <a:rPr sz="1600" b="0" i="0" dirty="0">
                <a:solidFill>
                  <a:srgbClr val="5E5D59"/>
                </a:solidFill>
                <a:latin typeface="Arial"/>
                <a:ea typeface="Microsoft JhengHei"/>
              </a:rPr>
              <a:t>用 /task-</a:t>
            </a:r>
            <a:r>
              <a:rPr sz="16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init</a:t>
            </a:r>
            <a:r>
              <a:rPr sz="1600" b="0" i="0" dirty="0">
                <a:solidFill>
                  <a:srgbClr val="5E5D59"/>
                </a:solidFill>
                <a:latin typeface="Arial"/>
                <a:ea typeface="Microsoft JhengHei"/>
              </a:rPr>
              <a:t> </a:t>
            </a:r>
            <a:r>
              <a:rPr sz="16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一鍵建立專案文件與任務清單</a:t>
            </a:r>
            <a:endParaRPr sz="1600" b="0" i="0" dirty="0">
              <a:solidFill>
                <a:srgbClr val="5E5D59"/>
              </a:solidFill>
              <a:latin typeface="Arial"/>
              <a:ea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588C16-61E8-4D59-84E8-12E51D67E631}"/>
              </a:ext>
            </a:extLst>
          </p:cNvPr>
          <p:cNvSpPr/>
          <p:nvPr/>
        </p:nvSpPr>
        <p:spPr>
          <a:xfrm>
            <a:off x="9144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173744-8747-455F-A361-4C15772650C5}"/>
              </a:ext>
            </a:extLst>
          </p:cNvPr>
          <p:cNvSpPr/>
          <p:nvPr/>
        </p:nvSpPr>
        <p:spPr>
          <a:xfrm>
            <a:off x="1905000" y="508000"/>
            <a:ext cx="889000" cy="635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F46555-9F00-46CB-88E6-2695F45F7399}"/>
              </a:ext>
            </a:extLst>
          </p:cNvPr>
          <p:cNvSpPr/>
          <p:nvPr/>
        </p:nvSpPr>
        <p:spPr>
          <a:xfrm>
            <a:off x="28956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D40D6C-F6D5-4545-8BCF-E0FC21E2CC77}"/>
              </a:ext>
            </a:extLst>
          </p:cNvPr>
          <p:cNvSpPr/>
          <p:nvPr/>
        </p:nvSpPr>
        <p:spPr>
          <a:xfrm>
            <a:off x="38862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B07154-3867-442F-A514-CC4E4B88AA40}"/>
              </a:ext>
            </a:extLst>
          </p:cNvPr>
          <p:cNvSpPr/>
          <p:nvPr/>
        </p:nvSpPr>
        <p:spPr>
          <a:xfrm>
            <a:off x="48768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739088-0F9B-400F-A42D-97785C0334FC}"/>
              </a:ext>
            </a:extLst>
          </p:cNvPr>
          <p:cNvSpPr/>
          <p:nvPr/>
        </p:nvSpPr>
        <p:spPr>
          <a:xfrm>
            <a:off x="914400" y="2603500"/>
            <a:ext cx="76200" cy="11684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D023C5B-1E47-4FA2-8AC5-A87B02B8D06D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19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9172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 err="1">
                <a:solidFill>
                  <a:srgbClr val="141413"/>
                </a:solidFill>
                <a:latin typeface="Georgia"/>
                <a:ea typeface="Microsoft JhengHei"/>
              </a:rPr>
              <a:t>一切從</a:t>
            </a:r>
            <a:r>
              <a:rPr sz="3200" b="1" i="0" dirty="0">
                <a:solidFill>
                  <a:srgbClr val="141413"/>
                </a:solidFill>
                <a:latin typeface="Georgia"/>
                <a:ea typeface="Microsoft JhengHei"/>
              </a:rPr>
              <a:t> /task-</a:t>
            </a:r>
            <a:r>
              <a:rPr sz="3200" b="1" i="0" dirty="0" err="1">
                <a:solidFill>
                  <a:srgbClr val="141413"/>
                </a:solidFill>
                <a:latin typeface="Georgia"/>
                <a:ea typeface="Microsoft JhengHei"/>
              </a:rPr>
              <a:t>init</a:t>
            </a:r>
            <a:r>
              <a:rPr sz="3200" b="1" i="0" dirty="0">
                <a:solidFill>
                  <a:srgbClr val="141413"/>
                </a:solidFill>
                <a:latin typeface="Georgia"/>
                <a:ea typeface="Microsoft JhengHei"/>
              </a:rPr>
              <a:t> </a:t>
            </a:r>
            <a:r>
              <a:rPr sz="3200" b="1" i="0" dirty="0" err="1">
                <a:solidFill>
                  <a:srgbClr val="141413"/>
                </a:solidFill>
                <a:latin typeface="Georgia"/>
                <a:ea typeface="Microsoft JhengHei"/>
              </a:rPr>
              <a:t>開始</a:t>
            </a:r>
            <a:endParaRPr sz="3200" b="1" i="0" dirty="0">
              <a:solidFill>
                <a:srgbClr val="141413"/>
              </a:solidFill>
              <a:latin typeface="Georgia"/>
              <a:ea typeface="Microsoft Jheng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 dirty="0" err="1">
                <a:solidFill>
                  <a:srgbClr val="C96442"/>
                </a:solidFill>
                <a:latin typeface="Arial"/>
                <a:ea typeface="Microsoft JhengHei"/>
              </a:rPr>
              <a:t>你輸入</a:t>
            </a:r>
            <a:r>
              <a:rPr sz="2400" b="1" i="0" dirty="0">
                <a:solidFill>
                  <a:srgbClr val="C96442"/>
                </a:solidFill>
                <a:latin typeface="Arial"/>
                <a:ea typeface="Microsoft JhengHei"/>
              </a:rPr>
              <a:t>：  /task-</a:t>
            </a:r>
            <a:r>
              <a:rPr sz="2400" b="1" i="0" dirty="0" err="1">
                <a:solidFill>
                  <a:srgbClr val="C96442"/>
                </a:solidFill>
                <a:latin typeface="Arial"/>
                <a:ea typeface="Microsoft JhengHei"/>
              </a:rPr>
              <a:t>init</a:t>
            </a:r>
            <a:r>
              <a:rPr sz="2400" b="1" i="0" dirty="0">
                <a:solidFill>
                  <a:srgbClr val="C96442"/>
                </a:solidFill>
                <a:latin typeface="Arial"/>
                <a:ea typeface="Microsoft JhengHei"/>
              </a:rPr>
              <a:t> </a:t>
            </a:r>
            <a:r>
              <a:rPr sz="2400" b="1" i="0" dirty="0" err="1">
                <a:solidFill>
                  <a:srgbClr val="C96442"/>
                </a:solidFill>
                <a:latin typeface="Arial"/>
                <a:ea typeface="Microsoft JhengHei"/>
              </a:rPr>
              <a:t>GeminiChat</a:t>
            </a:r>
            <a:endParaRPr sz="2400" b="1" i="0" dirty="0">
              <a:solidFill>
                <a:srgbClr val="C96442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400" b="1" i="0" dirty="0">
              <a:solidFill>
                <a:srgbClr val="C96442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 dirty="0">
                <a:solidFill>
                  <a:srgbClr val="141413"/>
                </a:solidFill>
                <a:latin typeface="Arial"/>
                <a:ea typeface="Microsoft JhengHei"/>
              </a:rPr>
              <a:t>AI </a:t>
            </a:r>
            <a:r>
              <a:rPr sz="2000" b="1" i="0" dirty="0" err="1">
                <a:solidFill>
                  <a:srgbClr val="141413"/>
                </a:solidFill>
                <a:latin typeface="Arial"/>
                <a:ea typeface="Microsoft JhengHei"/>
              </a:rPr>
              <a:t>會做</a:t>
            </a:r>
            <a:r>
              <a:rPr sz="2000" b="1" i="0" dirty="0">
                <a:solidFill>
                  <a:srgbClr val="141413"/>
                </a:solidFill>
                <a:latin typeface="Arial"/>
                <a:ea typeface="Microsoft JhengHei"/>
              </a:rPr>
              <a:t>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  1.  </a:t>
            </a:r>
            <a:r>
              <a:rPr sz="20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問你一系列問題（互動式</a:t>
            </a: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 Q&amp;A）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5E5D59"/>
                </a:solidFill>
                <a:latin typeface="Arial"/>
                <a:ea typeface="Microsoft JhengHei"/>
              </a:rPr>
              <a:t>        • </a:t>
            </a:r>
            <a:r>
              <a:rPr sz="16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專案做什麼？用什麼技術？範圍多大</a:t>
            </a:r>
            <a:r>
              <a:rPr sz="1600" b="0" i="0" dirty="0">
                <a:solidFill>
                  <a:srgbClr val="5E5D59"/>
                </a:solidFill>
                <a:latin typeface="Arial"/>
                <a:ea typeface="Microsoft JhengHei"/>
              </a:rPr>
              <a:t>？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  2.  </a:t>
            </a:r>
            <a:r>
              <a:rPr sz="20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根據回答自動產出</a:t>
            </a: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 dirty="0">
                <a:solidFill>
                  <a:srgbClr val="6B7A3F"/>
                </a:solidFill>
                <a:latin typeface="Arial"/>
                <a:ea typeface="Microsoft JhengHei"/>
              </a:rPr>
              <a:t>        • CLAUDE.md  — </a:t>
            </a:r>
            <a:r>
              <a:rPr sz="1800" b="0" i="0" dirty="0" err="1">
                <a:solidFill>
                  <a:srgbClr val="6B7A3F"/>
                </a:solidFill>
                <a:latin typeface="Arial"/>
                <a:ea typeface="Microsoft JhengHei"/>
              </a:rPr>
              <a:t>專案說明書</a:t>
            </a:r>
            <a:endParaRPr sz="1800" b="0" i="0" dirty="0">
              <a:solidFill>
                <a:srgbClr val="6B7A3F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 dirty="0">
                <a:solidFill>
                  <a:srgbClr val="6B7A3F"/>
                </a:solidFill>
                <a:latin typeface="Arial"/>
                <a:ea typeface="Microsoft JhengHei"/>
              </a:rPr>
              <a:t>        • wbs.md     — </a:t>
            </a:r>
            <a:r>
              <a:rPr sz="1800" b="0" i="0" dirty="0" err="1">
                <a:solidFill>
                  <a:srgbClr val="6B7A3F"/>
                </a:solidFill>
                <a:latin typeface="Arial"/>
                <a:ea typeface="Microsoft JhengHei"/>
              </a:rPr>
              <a:t>任務拆解</a:t>
            </a:r>
            <a:endParaRPr sz="1800" b="0" i="0" dirty="0">
              <a:solidFill>
                <a:srgbClr val="6B7A3F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  3.  </a:t>
            </a:r>
            <a:r>
              <a:rPr sz="20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從此</a:t>
            </a: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 AI </a:t>
            </a:r>
            <a:r>
              <a:rPr sz="20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每次對話都知道你的專案脈絡</a:t>
            </a:r>
            <a:endParaRPr sz="2000" b="0" i="0" dirty="0">
              <a:solidFill>
                <a:srgbClr val="141413"/>
              </a:solidFill>
              <a:latin typeface="Arial"/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34DBCB-6132-4181-BD2F-7449805146B2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33238E-FD9E-4C03-A5AB-ECBC1D8D1403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779EA8-B261-4CB8-9773-78542289036A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167551-6126-46C6-897D-B708937FFA67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90DC43-8DED-455C-84D8-430412D8DC38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0FBDB14-3353-447E-9562-DAB043D2E9AC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2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BCCA9FF-0F11-4C1A-9ED3-7ECDD64FF3A2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20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9181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3E4EF65-FFE3-4584-81A5-535CED7FC8A5}"/>
              </a:ext>
            </a:extLst>
          </p:cNvPr>
          <p:cNvSpPr/>
          <p:nvPr/>
        </p:nvSpPr>
        <p:spPr>
          <a:xfrm>
            <a:off x="6273800" y="1371600"/>
            <a:ext cx="5308600" cy="4749800"/>
          </a:xfrm>
          <a:prstGeom prst="roundRect">
            <a:avLst/>
          </a:prstGeom>
          <a:solidFill>
            <a:srgbClr val="F4F5EC"/>
          </a:solidFill>
          <a:ln w="12700" cap="flat" cmpd="sng" algn="ctr">
            <a:solidFill>
              <a:srgbClr val="D2D8B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B8DBC1C-39FC-49E5-9783-2FBC65655A5B}"/>
              </a:ext>
            </a:extLst>
          </p:cNvPr>
          <p:cNvSpPr/>
          <p:nvPr/>
        </p:nvSpPr>
        <p:spPr>
          <a:xfrm>
            <a:off x="609600" y="1371600"/>
            <a:ext cx="5308600" cy="4749800"/>
          </a:xfrm>
          <a:prstGeom prst="roundRect">
            <a:avLst/>
          </a:prstGeom>
          <a:solidFill>
            <a:srgbClr val="FBF1ED"/>
          </a:solidFill>
          <a:ln w="12700" cap="flat" cmpd="sng" algn="ctr">
            <a:solidFill>
              <a:srgbClr val="E8C9B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demo / mvp / full — 三種文件深度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51000"/>
            <a:ext cx="482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C96442"/>
                </a:solidFill>
                <a:latin typeface="Arial"/>
                <a:ea typeface="Microsoft JhengHei"/>
              </a:rPr>
              <a:t>mvp 模式← 今天用這個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單檔 Tech Spec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快速驗證想法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1-2 人小專案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（更快可選 demo：精簡 PRD）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endParaRPr sz="18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5E5D59"/>
                </a:solidFill>
                <a:latin typeface="Arial"/>
                <a:ea typeface="Microsoft JhengHei"/>
              </a:rPr>
              <a:t>隨時可升級為 full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0" y="1651000"/>
            <a:ext cx="482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6B7A3F"/>
                </a:solidFill>
                <a:latin typeface="Arial"/>
                <a:ea typeface="Microsoft JhengHei"/>
              </a:rPr>
              <a:t>full </a:t>
            </a:r>
            <a:r>
              <a:rPr sz="2200" b="1" i="0" dirty="0" err="1">
                <a:solidFill>
                  <a:srgbClr val="6B7A3F"/>
                </a:solidFill>
                <a:latin typeface="Arial"/>
                <a:ea typeface="Microsoft JhengHei"/>
              </a:rPr>
              <a:t>模式</a:t>
            </a:r>
            <a:endParaRPr sz="2200" b="1" i="0" dirty="0">
              <a:solidFill>
                <a:srgbClr val="6B7A3F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完整</a:t>
            </a:r>
            <a:r>
              <a:rPr sz="1800" b="0" i="0" dirty="0">
                <a:solidFill>
                  <a:srgbClr val="141413"/>
                </a:solidFill>
                <a:latin typeface="Arial"/>
                <a:ea typeface="Microsoft JhengHei"/>
              </a:rPr>
              <a:t> 16 </a:t>
            </a:r>
            <a:r>
              <a:rPr sz="18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份文件</a:t>
            </a:r>
            <a:endParaRPr sz="1800" b="0" i="0" dirty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每個決策有文件記錄</a:t>
            </a:r>
            <a:endParaRPr sz="1800" b="0" i="0" dirty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 dirty="0">
                <a:solidFill>
                  <a:srgbClr val="141413"/>
                </a:solidFill>
                <a:latin typeface="Arial"/>
                <a:ea typeface="Microsoft JhengHei"/>
              </a:rPr>
              <a:t>3+ </a:t>
            </a:r>
            <a:r>
              <a:rPr sz="18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人團隊專案</a:t>
            </a:r>
            <a:endParaRPr sz="1800" b="0" i="0" dirty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正式產品</a:t>
            </a:r>
            <a:r>
              <a:rPr sz="1800" b="0" i="0" dirty="0">
                <a:solidFill>
                  <a:srgbClr val="141413"/>
                </a:solidFill>
                <a:latin typeface="Arial"/>
                <a:ea typeface="Microsoft JhengHei"/>
              </a:rPr>
              <a:t> / </a:t>
            </a:r>
            <a:r>
              <a:rPr sz="18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合規需求</a:t>
            </a:r>
            <a:endParaRPr sz="1800" b="0" i="0" dirty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endParaRPr sz="1800" b="0" i="0" dirty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大專案、正式產品用這個</a:t>
            </a:r>
            <a:endParaRPr sz="1800" b="0" i="0" dirty="0">
              <a:solidFill>
                <a:srgbClr val="5E5D59"/>
              </a:solidFill>
              <a:latin typeface="Arial"/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3A3A6C-193D-4D9F-BE8C-C2783A8E5BB0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B03B8E-FA58-415B-A40C-0BB9650E5980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42FD35-2415-41B3-A64E-03B2DB983E2F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83C494-9DA0-4154-8612-A8F375D3FE54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21219E-CFAE-4E7A-9D51-7B81084628FC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3FE1F17-D6D9-43A2-89F7-F0239E5C8D67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2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8C6BC7A-E12B-4678-B795-91BBF3839720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21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AE0382-BEA9-4866-9503-5EA7DE0C3646}"/>
              </a:ext>
            </a:extLst>
          </p:cNvPr>
          <p:cNvSpPr/>
          <p:nvPr/>
        </p:nvSpPr>
        <p:spPr>
          <a:xfrm>
            <a:off x="6070600" y="1778000"/>
            <a:ext cx="38100" cy="3937000"/>
          </a:xfrm>
          <a:prstGeom prst="rect">
            <a:avLst/>
          </a:prstGeom>
          <a:solidFill>
            <a:srgbClr val="D8D3C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2C2C1DF-5E1C-4543-A05F-75E7DDD300D1}"/>
              </a:ext>
            </a:extLst>
          </p:cNvPr>
          <p:cNvSpPr/>
          <p:nvPr/>
        </p:nvSpPr>
        <p:spPr>
          <a:xfrm>
            <a:off x="5803900" y="3556000"/>
            <a:ext cx="584200" cy="584200"/>
          </a:xfrm>
          <a:prstGeom prst="ellipse">
            <a:avLst/>
          </a:prstGeom>
          <a:solidFill>
            <a:srgbClr val="C96442"/>
          </a:solidFill>
          <a:ln w="25400" cap="flat" cmpd="sng" algn="ctr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4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VS</a:t>
            </a:r>
            <a:endParaRPr lang="zh-TW" altLang="en-US" sz="14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0151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CLAUDE.md = 專案的「身分證」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96442"/>
                </a:solidFill>
                <a:latin typeface="Arial"/>
                <a:ea typeface="Microsoft JhengHei"/>
              </a:rPr>
              <a:t>AI 每次對話都會自動讀取這份檔案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1" i="0">
              <a:solidFill>
                <a:srgbClr val="C96442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•  知道專案用什麼技術棧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•  知道程式碼規範（命名、風格）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•  知道目錄結構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•  知道測試策略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•  知道部署方式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6B7A3F"/>
                </a:solidFill>
                <a:latin typeface="Arial"/>
                <a:ea typeface="Microsoft JhengHei"/>
              </a:rPr>
              <a:t>→  你不需要每次重新解釋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6B7A3F"/>
                </a:solidFill>
                <a:latin typeface="Arial"/>
                <a:ea typeface="Microsoft JhengHei"/>
              </a:rPr>
              <a:t>→  團隊成員接手也能立刻上手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936701-DA97-4D8C-BD3B-4B1830E8A64D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040900-EEB4-4A0A-9FA7-8E2C8002FDE2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7B2AF1-A469-4716-B6F1-10C7829E3E19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1E2603-ECE0-4C03-B6B0-C4000FB64540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8634F9-42A1-40F8-912E-B7E148B73B04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855A360-A1B9-4C7D-9097-B17143B2752E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2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D4BDC6D-2E4D-4329-9CFA-89CAF68C3D22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22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5718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413"/>
                </a:solidFill>
                <a:latin typeface="Georgia"/>
                <a:ea typeface="Microsoft JhengHei"/>
              </a:rPr>
              <a:t>WBS = 自動拆解的任務清單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1270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96442"/>
                </a:solidFill>
                <a:latin typeface="Consolas"/>
                <a:ea typeface="Microsoft JhengHei"/>
              </a:rPr>
              <a:t>1.0 專案管理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├── 1.1 需求分析          ← /task-init 產出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└── 1.2 架構設計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3D3D3A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96442"/>
                </a:solidFill>
                <a:latin typeface="Consolas"/>
                <a:ea typeface="Microsoft JhengHei"/>
              </a:rPr>
              <a:t>2.0 後端串流 API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├── 2.1 FastAPI+Gemini 架構          ← /task-next 會指派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├── 2.2 /api/chat SSE 串流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└── 2.3 多輪對話歷史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3D3D3A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96442"/>
                </a:solidFill>
                <a:latin typeface="Consolas"/>
                <a:ea typeface="Microsoft JhengHei"/>
              </a:rPr>
              <a:t>3.0 前端聊天 UI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├── 3.1 單頁骨架 + 樣式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└── 3.2 SSE 逐字串流顯示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3D3D3A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E5D59"/>
                </a:solidFill>
                <a:latin typeface="Consolas"/>
                <a:ea typeface="Microsoft JhengHei"/>
              </a:rPr>
              <a:t>每個任務有：編號 │ 負責人 │ 狀態 │ 工時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CD682F-372C-4921-A8D9-FEAEBCEBEC41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C4272E-F882-43C5-A087-DC0D9414A628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8C8CF8-1379-4BFE-A177-A647EF582A10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D0B248-A1B9-41DC-95F4-216E6BB2589D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7F4A3D-0737-470C-87EB-7257B43C8F4A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1044569-E6B0-473F-81A9-52612780CCEA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2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648BA78-7C58-4225-A302-39FC3A85A85E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23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4813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rgbClr val="141413"/>
                </a:solidFill>
                <a:latin typeface="Georgia"/>
                <a:ea typeface="Microsoft JhengHei"/>
              </a:rPr>
              <a:t>⚡ </a:t>
            </a:r>
            <a:r>
              <a:rPr sz="3000" b="1" i="0" dirty="0" err="1">
                <a:solidFill>
                  <a:srgbClr val="141413"/>
                </a:solidFill>
                <a:latin typeface="Georgia"/>
                <a:ea typeface="Microsoft JhengHei"/>
              </a:rPr>
              <a:t>現場操作</a:t>
            </a:r>
            <a:r>
              <a:rPr sz="3000" b="1" i="0" dirty="0">
                <a:solidFill>
                  <a:srgbClr val="141413"/>
                </a:solidFill>
                <a:latin typeface="Georgia"/>
                <a:ea typeface="Microsoft JhengHei"/>
              </a:rPr>
              <a:t> — /task-</a:t>
            </a:r>
            <a:r>
              <a:rPr sz="3000" b="1" i="0" dirty="0" err="1">
                <a:solidFill>
                  <a:srgbClr val="141413"/>
                </a:solidFill>
                <a:latin typeface="Georgia"/>
                <a:ea typeface="Microsoft JhengHei"/>
              </a:rPr>
              <a:t>init</a:t>
            </a:r>
            <a:endParaRPr sz="3000" b="1" i="0" dirty="0">
              <a:solidFill>
                <a:srgbClr val="141413"/>
              </a:solidFill>
              <a:latin typeface="Georgia"/>
              <a:ea typeface="Microsoft Jheng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1270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5E5D59"/>
                </a:solidFill>
                <a:latin typeface="Consolas"/>
                <a:ea typeface="Microsoft JhengHei"/>
              </a:rPr>
              <a:t># 1. </a:t>
            </a:r>
            <a:r>
              <a:rPr sz="1600" b="0" i="0" dirty="0" err="1">
                <a:solidFill>
                  <a:srgbClr val="5E5D59"/>
                </a:solidFill>
                <a:latin typeface="Consolas"/>
                <a:ea typeface="Microsoft JhengHei"/>
              </a:rPr>
              <a:t>打開終端機</a:t>
            </a:r>
            <a:endParaRPr sz="1600" b="0" i="0" dirty="0">
              <a:solidFill>
                <a:srgbClr val="5E5D59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141413"/>
                </a:solidFill>
                <a:latin typeface="Consolas"/>
                <a:ea typeface="Microsoft JhengHei"/>
              </a:rPr>
              <a:t>cd /your/workspace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 err="1">
                <a:solidFill>
                  <a:srgbClr val="C96442"/>
                </a:solidFill>
                <a:latin typeface="Consolas"/>
                <a:ea typeface="Microsoft JhengHei"/>
              </a:rPr>
              <a:t>claude</a:t>
            </a:r>
            <a:endParaRPr sz="1600" b="0" i="0" dirty="0">
              <a:solidFill>
                <a:srgbClr val="C96442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 dirty="0">
              <a:solidFill>
                <a:srgbClr val="C96442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5E5D59"/>
                </a:solidFill>
                <a:latin typeface="Consolas"/>
                <a:ea typeface="Microsoft JhengHei"/>
              </a:rPr>
              <a:t># 2. </a:t>
            </a:r>
            <a:r>
              <a:rPr sz="1600" b="0" i="0" dirty="0" err="1">
                <a:solidFill>
                  <a:srgbClr val="5E5D59"/>
                </a:solidFill>
                <a:latin typeface="Consolas"/>
                <a:ea typeface="Microsoft JhengHei"/>
              </a:rPr>
              <a:t>執行初始化</a:t>
            </a:r>
            <a:endParaRPr sz="1600" b="0" i="0" dirty="0">
              <a:solidFill>
                <a:srgbClr val="5E5D59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C96442"/>
                </a:solidFill>
                <a:latin typeface="Consolas"/>
                <a:ea typeface="Microsoft JhengHei"/>
              </a:rPr>
              <a:t>/task-</a:t>
            </a:r>
            <a:r>
              <a:rPr sz="1600" b="0" i="0" dirty="0" err="1">
                <a:solidFill>
                  <a:srgbClr val="C96442"/>
                </a:solidFill>
                <a:latin typeface="Consolas"/>
                <a:ea typeface="Microsoft JhengHei"/>
              </a:rPr>
              <a:t>init</a:t>
            </a:r>
            <a:r>
              <a:rPr sz="1600" b="0" i="0" dirty="0">
                <a:solidFill>
                  <a:srgbClr val="C96442"/>
                </a:solidFill>
                <a:latin typeface="Consolas"/>
                <a:ea typeface="Microsoft JhengHei"/>
              </a:rPr>
              <a:t> </a:t>
            </a:r>
            <a:r>
              <a:rPr sz="1600" b="0" i="0" dirty="0" err="1">
                <a:solidFill>
                  <a:srgbClr val="C96442"/>
                </a:solidFill>
                <a:latin typeface="Consolas"/>
                <a:ea typeface="Microsoft JhengHei"/>
              </a:rPr>
              <a:t>GeminiChat</a:t>
            </a:r>
            <a:endParaRPr sz="1600" b="0" i="0" dirty="0">
              <a:solidFill>
                <a:srgbClr val="C96442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 dirty="0">
              <a:solidFill>
                <a:srgbClr val="C96442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5E5D59"/>
                </a:solidFill>
                <a:latin typeface="Consolas"/>
                <a:ea typeface="Microsoft JhengHei"/>
              </a:rPr>
              <a:t># 3. </a:t>
            </a:r>
            <a:r>
              <a:rPr sz="1600" b="0" i="0" dirty="0" err="1">
                <a:solidFill>
                  <a:srgbClr val="5E5D59"/>
                </a:solidFill>
                <a:latin typeface="Consolas"/>
                <a:ea typeface="Microsoft JhengHei"/>
              </a:rPr>
              <a:t>回答</a:t>
            </a:r>
            <a:r>
              <a:rPr sz="1600" b="0" i="0" dirty="0">
                <a:solidFill>
                  <a:srgbClr val="5E5D59"/>
                </a:solidFill>
                <a:latin typeface="Consolas"/>
                <a:ea typeface="Microsoft JhengHei"/>
              </a:rPr>
              <a:t> AI </a:t>
            </a:r>
            <a:r>
              <a:rPr sz="1600" b="0" i="0" dirty="0" err="1">
                <a:solidFill>
                  <a:srgbClr val="5E5D59"/>
                </a:solidFill>
                <a:latin typeface="Consolas"/>
                <a:ea typeface="Microsoft JhengHei"/>
              </a:rPr>
              <a:t>的問題</a:t>
            </a:r>
            <a:endParaRPr sz="1600" b="0" i="0" dirty="0">
              <a:solidFill>
                <a:srgbClr val="5E5D59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專案描述：串流式</a:t>
            </a:r>
            <a:r>
              <a:rPr sz="1600" b="0" i="0" dirty="0">
                <a:solidFill>
                  <a:srgbClr val="141413"/>
                </a:solidFill>
                <a:latin typeface="Consolas"/>
                <a:ea typeface="Microsoft JhengHei"/>
              </a:rPr>
              <a:t> AI </a:t>
            </a: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聊天機器人</a:t>
            </a:r>
            <a:endParaRPr sz="1600" b="0" i="0" dirty="0">
              <a:solidFill>
                <a:srgbClr val="141413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技術棧</a:t>
            </a:r>
            <a:r>
              <a:rPr sz="1600" b="0" i="0" dirty="0">
                <a:solidFill>
                  <a:srgbClr val="141413"/>
                </a:solidFill>
                <a:latin typeface="Consolas"/>
                <a:ea typeface="Microsoft JhengHei"/>
              </a:rPr>
              <a:t>：  Python </a:t>
            </a: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FastAPI</a:t>
            </a:r>
            <a:r>
              <a:rPr sz="1600" b="0" i="0" dirty="0">
                <a:solidFill>
                  <a:srgbClr val="141413"/>
                </a:solidFill>
                <a:latin typeface="Consolas"/>
                <a:ea typeface="Microsoft JhengHei"/>
              </a:rPr>
              <a:t> + Gemini + </a:t>
            </a: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原生單頁</a:t>
            </a:r>
            <a:endParaRPr sz="1600" b="0" i="0" dirty="0">
              <a:solidFill>
                <a:srgbClr val="141413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模式</a:t>
            </a:r>
            <a:r>
              <a:rPr sz="1600" b="0" i="0" dirty="0">
                <a:solidFill>
                  <a:srgbClr val="141413"/>
                </a:solidFill>
                <a:latin typeface="Consolas"/>
                <a:ea typeface="Microsoft JhengHei"/>
              </a:rPr>
              <a:t>：    </a:t>
            </a: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mvp</a:t>
            </a:r>
            <a:endParaRPr sz="1600" b="0" i="0" dirty="0">
              <a:solidFill>
                <a:srgbClr val="141413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功能</a:t>
            </a:r>
            <a:r>
              <a:rPr sz="1600" b="0" i="0" dirty="0">
                <a:solidFill>
                  <a:srgbClr val="141413"/>
                </a:solidFill>
                <a:latin typeface="Consolas"/>
                <a:ea typeface="Microsoft JhengHei"/>
              </a:rPr>
              <a:t>：    </a:t>
            </a: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串流對話</a:t>
            </a:r>
            <a:r>
              <a:rPr sz="1600" b="0" i="0" dirty="0">
                <a:solidFill>
                  <a:srgbClr val="141413"/>
                </a:solidFill>
                <a:latin typeface="Consolas"/>
                <a:ea typeface="Microsoft JhengHei"/>
              </a:rPr>
              <a:t> + </a:t>
            </a: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多輪歷史</a:t>
            </a:r>
            <a:r>
              <a:rPr sz="1600" b="0" i="0" dirty="0">
                <a:solidFill>
                  <a:srgbClr val="141413"/>
                </a:solidFill>
                <a:latin typeface="Consolas"/>
                <a:ea typeface="Microsoft JhengHei"/>
              </a:rPr>
              <a:t> + </a:t>
            </a:r>
            <a:r>
              <a:rPr sz="1600" b="0" i="0" dirty="0" err="1">
                <a:solidFill>
                  <a:srgbClr val="141413"/>
                </a:solidFill>
                <a:latin typeface="Consolas"/>
                <a:ea typeface="Microsoft JhengHei"/>
              </a:rPr>
              <a:t>角色</a:t>
            </a:r>
            <a:endParaRPr sz="1600" b="0" i="0" dirty="0">
              <a:solidFill>
                <a:srgbClr val="141413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 dirty="0">
              <a:solidFill>
                <a:srgbClr val="141413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5E5D59"/>
                </a:solidFill>
                <a:latin typeface="Consolas"/>
                <a:ea typeface="Microsoft JhengHei"/>
              </a:rPr>
              <a:t># 4. </a:t>
            </a:r>
            <a:r>
              <a:rPr sz="1600" b="0" i="0" dirty="0" err="1">
                <a:solidFill>
                  <a:srgbClr val="5E5D59"/>
                </a:solidFill>
                <a:latin typeface="Consolas"/>
                <a:ea typeface="Microsoft JhengHei"/>
              </a:rPr>
              <a:t>檢查產出</a:t>
            </a:r>
            <a:endParaRPr sz="1600" b="0" i="0" dirty="0">
              <a:solidFill>
                <a:srgbClr val="5E5D59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 dirty="0">
                <a:solidFill>
                  <a:srgbClr val="C96442"/>
                </a:solidFill>
                <a:latin typeface="Consolas"/>
                <a:ea typeface="Microsoft JhengHei"/>
              </a:rPr>
              <a:t>/task-status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AD2DE2-01AF-45A9-9576-AD84E37B08C7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6D69B4-7A9A-4623-BB09-8295A7F7C850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016492-90FC-4EE6-82BB-4C4AD74FDAE7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806F5C-F9BF-4D92-94C7-B106A457E1EC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E88567-FC89-4737-BCB3-F980AE95D2E3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32D3C08-E275-4A45-B935-075CBA68635D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2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8F902D1-9CBD-45CD-BDD7-5EDE718A22DD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24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1746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FE58891E-A405-495D-8FB6-94B21E544F13}"/>
              </a:ext>
            </a:extLst>
          </p:cNvPr>
          <p:cNvSpPr txBox="1"/>
          <p:nvPr/>
        </p:nvSpPr>
        <p:spPr>
          <a:xfrm>
            <a:off x="6604000" y="1524000"/>
            <a:ext cx="4826000" cy="4318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r"/>
            <a:r>
              <a:rPr lang="en-US" sz="20000" b="1">
                <a:solidFill>
                  <a:srgbClr val="F0E9E0"/>
                </a:solidFill>
                <a:latin typeface="Georgia"/>
                <a:ea typeface="Microsoft JhengHei"/>
              </a:rPr>
              <a:t>03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9200" y="2540000"/>
            <a:ext cx="76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6442"/>
                </a:solidFill>
                <a:latin typeface="Arial"/>
                <a:ea typeface="Microsoft JhengHei"/>
              </a:rP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3022600"/>
            <a:ext cx="889000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1413"/>
                </a:solidFill>
                <a:latin typeface="Georgia"/>
                <a:ea typeface="Microsoft JhengHei"/>
              </a:rPr>
              <a:t>開發循環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plan → tdd → review，三輪由詳細到快速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88F943-3E04-432C-A237-973CEBAA130F}"/>
              </a:ext>
            </a:extLst>
          </p:cNvPr>
          <p:cNvSpPr/>
          <p:nvPr/>
        </p:nvSpPr>
        <p:spPr>
          <a:xfrm>
            <a:off x="9144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6A30AC-9202-4130-A05E-F8253A84C426}"/>
              </a:ext>
            </a:extLst>
          </p:cNvPr>
          <p:cNvSpPr/>
          <p:nvPr/>
        </p:nvSpPr>
        <p:spPr>
          <a:xfrm>
            <a:off x="19050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EAD8DB-59A6-49A1-84C6-75C5E9B67E15}"/>
              </a:ext>
            </a:extLst>
          </p:cNvPr>
          <p:cNvSpPr/>
          <p:nvPr/>
        </p:nvSpPr>
        <p:spPr>
          <a:xfrm>
            <a:off x="2895600" y="508000"/>
            <a:ext cx="889000" cy="635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B1989B-6AE9-43D1-9F17-AB4A8DA0BF20}"/>
              </a:ext>
            </a:extLst>
          </p:cNvPr>
          <p:cNvSpPr/>
          <p:nvPr/>
        </p:nvSpPr>
        <p:spPr>
          <a:xfrm>
            <a:off x="38862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D0D827-111A-48E3-9F4C-641144C61CB4}"/>
              </a:ext>
            </a:extLst>
          </p:cNvPr>
          <p:cNvSpPr/>
          <p:nvPr/>
        </p:nvSpPr>
        <p:spPr>
          <a:xfrm>
            <a:off x="48768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7C1433-ED6C-467C-94AB-2F0488F3ED2F}"/>
              </a:ext>
            </a:extLst>
          </p:cNvPr>
          <p:cNvSpPr/>
          <p:nvPr/>
        </p:nvSpPr>
        <p:spPr>
          <a:xfrm>
            <a:off x="914400" y="2603500"/>
            <a:ext cx="76200" cy="11684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B146523-F753-41A3-97C5-60081BF27D68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25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474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 err="1">
                <a:solidFill>
                  <a:srgbClr val="141413"/>
                </a:solidFill>
                <a:latin typeface="Georgia"/>
                <a:ea typeface="Microsoft JhengHei"/>
              </a:rPr>
              <a:t>開發循環全貌（依任務模式分流</a:t>
            </a:r>
            <a:r>
              <a:rPr sz="3200" b="1" i="0" dirty="0">
                <a:solidFill>
                  <a:srgbClr val="141413"/>
                </a:solidFill>
                <a:latin typeface="Georgia"/>
                <a:ea typeface="Microsoft JhengHei"/>
              </a:rPr>
              <a:t>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/task-next   </a:t>
            </a:r>
            <a:r>
              <a:rPr sz="20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取任務</a:t>
            </a: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 + </a:t>
            </a:r>
            <a:r>
              <a:rPr sz="20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選模式（quick</a:t>
            </a: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 / standard / critical）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 dirty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 dirty="0">
                <a:solidFill>
                  <a:srgbClr val="6B7A3F"/>
                </a:solidFill>
                <a:latin typeface="Arial"/>
                <a:ea typeface="Microsoft JhengHei"/>
              </a:rPr>
              <a:t>─── quick ───     </a:t>
            </a:r>
            <a:r>
              <a:rPr sz="2000" b="0" i="0" dirty="0" err="1">
                <a:solidFill>
                  <a:srgbClr val="6B7A3F"/>
                </a:solidFill>
                <a:latin typeface="Arial"/>
                <a:ea typeface="Microsoft JhengHei"/>
              </a:rPr>
              <a:t>直接寫</a:t>
            </a:r>
            <a:r>
              <a:rPr sz="2000" b="0" i="0" dirty="0">
                <a:solidFill>
                  <a:srgbClr val="6B7A3F"/>
                </a:solidFill>
                <a:latin typeface="Arial"/>
                <a:ea typeface="Microsoft JhengHei"/>
              </a:rPr>
              <a:t> → /verify (auto: quick)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 dirty="0">
                <a:solidFill>
                  <a:srgbClr val="5E5D59"/>
                </a:solidFill>
                <a:latin typeface="Arial"/>
                <a:ea typeface="Microsoft JhengHei"/>
              </a:rPr>
              <a:t>                          </a:t>
            </a:r>
            <a:r>
              <a:rPr sz="15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適合</a:t>
            </a:r>
            <a:r>
              <a:rPr sz="1500" b="0" i="0" dirty="0">
                <a:solidFill>
                  <a:srgbClr val="5E5D59"/>
                </a:solidFill>
                <a:latin typeface="Arial"/>
                <a:ea typeface="Microsoft JhengHei"/>
              </a:rPr>
              <a:t>：&lt; 30min </a:t>
            </a:r>
            <a:r>
              <a:rPr sz="15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單檔修改</a:t>
            </a:r>
            <a:endParaRPr sz="1500" b="0" i="0" dirty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500" b="0" i="0" dirty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─── standard ───  /plan → /</a:t>
            </a:r>
            <a:r>
              <a:rPr sz="2000" b="0" i="0" dirty="0" err="1">
                <a:solidFill>
                  <a:srgbClr val="141413"/>
                </a:solidFill>
                <a:latin typeface="Arial"/>
                <a:ea typeface="Microsoft JhengHei"/>
              </a:rPr>
              <a:t>tdd</a:t>
            </a:r>
            <a:r>
              <a:rPr sz="2000" b="0" i="0" dirty="0">
                <a:solidFill>
                  <a:srgbClr val="141413"/>
                </a:solidFill>
                <a:latin typeface="Arial"/>
                <a:ea typeface="Microsoft JhengHei"/>
              </a:rPr>
              <a:t> (80%) → /review-code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 dirty="0">
                <a:solidFill>
                  <a:srgbClr val="141413"/>
                </a:solidFill>
                <a:latin typeface="Arial"/>
                <a:ea typeface="Microsoft JhengHei"/>
              </a:rPr>
              <a:t>                          → /verify (auto: full)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 dirty="0">
                <a:solidFill>
                  <a:srgbClr val="5E5D59"/>
                </a:solidFill>
                <a:latin typeface="Arial"/>
                <a:ea typeface="Microsoft JhengHei"/>
              </a:rPr>
              <a:t>                          適合：1-4h </a:t>
            </a:r>
            <a:r>
              <a:rPr sz="15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新功能</a:t>
            </a:r>
            <a:r>
              <a:rPr sz="1500" b="0" i="0" dirty="0">
                <a:solidFill>
                  <a:srgbClr val="5E5D59"/>
                </a:solidFill>
                <a:latin typeface="Arial"/>
                <a:ea typeface="Microsoft JhengHei"/>
              </a:rPr>
              <a:t> / </a:t>
            </a:r>
            <a:r>
              <a:rPr sz="15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重構</a:t>
            </a:r>
            <a:endParaRPr sz="1500" b="0" i="0" dirty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500" b="0" i="0" dirty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 dirty="0">
                <a:solidFill>
                  <a:srgbClr val="D97757"/>
                </a:solidFill>
                <a:latin typeface="Arial"/>
                <a:ea typeface="Microsoft JhengHei"/>
              </a:rPr>
              <a:t>─── critical ───   /plan → /</a:t>
            </a:r>
            <a:r>
              <a:rPr sz="2000" b="0" i="0" dirty="0" err="1">
                <a:solidFill>
                  <a:srgbClr val="D97757"/>
                </a:solidFill>
                <a:latin typeface="Arial"/>
                <a:ea typeface="Microsoft JhengHei"/>
              </a:rPr>
              <a:t>tdd</a:t>
            </a:r>
            <a:r>
              <a:rPr sz="2000" b="0" i="0" dirty="0">
                <a:solidFill>
                  <a:srgbClr val="D97757"/>
                </a:solidFill>
                <a:latin typeface="Arial"/>
                <a:ea typeface="Microsoft JhengHei"/>
              </a:rPr>
              <a:t> (100%) → /review-code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 dirty="0">
                <a:solidFill>
                  <a:srgbClr val="D97757"/>
                </a:solidFill>
                <a:latin typeface="Arial"/>
                <a:ea typeface="Microsoft JhengHei"/>
              </a:rPr>
              <a:t>                          → /verify (auto: pre-pr + </a:t>
            </a:r>
            <a:r>
              <a:rPr sz="1800" b="0" i="0" dirty="0" err="1">
                <a:solidFill>
                  <a:srgbClr val="D97757"/>
                </a:solidFill>
                <a:latin typeface="Arial"/>
                <a:ea typeface="Microsoft JhengHei"/>
              </a:rPr>
              <a:t>安全掃描</a:t>
            </a:r>
            <a:r>
              <a:rPr sz="1800" b="0" i="0" dirty="0">
                <a:solidFill>
                  <a:srgbClr val="D97757"/>
                </a:solidFill>
                <a:latin typeface="Arial"/>
                <a:ea typeface="Microsoft JhengHei"/>
              </a:rPr>
              <a:t>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 dirty="0">
                <a:solidFill>
                  <a:srgbClr val="5E5D59"/>
                </a:solidFill>
                <a:latin typeface="Arial"/>
                <a:ea typeface="Microsoft JhengHei"/>
              </a:rPr>
              <a:t>                          </a:t>
            </a:r>
            <a:r>
              <a:rPr sz="15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適合：金流</a:t>
            </a:r>
            <a:r>
              <a:rPr sz="1500" b="0" i="0" dirty="0">
                <a:solidFill>
                  <a:srgbClr val="5E5D59"/>
                </a:solidFill>
                <a:latin typeface="Arial"/>
                <a:ea typeface="Microsoft JhengHei"/>
              </a:rPr>
              <a:t> / </a:t>
            </a:r>
            <a:r>
              <a:rPr sz="15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認證</a:t>
            </a:r>
            <a:r>
              <a:rPr sz="1500" b="0" i="0" dirty="0">
                <a:solidFill>
                  <a:srgbClr val="5E5D59"/>
                </a:solidFill>
                <a:latin typeface="Arial"/>
                <a:ea typeface="Microsoft JhengHei"/>
              </a:rPr>
              <a:t> / </a:t>
            </a:r>
            <a:r>
              <a:rPr sz="15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安全</a:t>
            </a:r>
            <a:r>
              <a:rPr sz="1500" b="0" i="0" dirty="0">
                <a:solidFill>
                  <a:srgbClr val="5E5D59"/>
                </a:solidFill>
                <a:latin typeface="Arial"/>
                <a:ea typeface="Microsoft JhengHei"/>
              </a:rPr>
              <a:t> / </a:t>
            </a:r>
            <a:r>
              <a:rPr sz="1500" b="0" i="0" dirty="0" err="1">
                <a:solidFill>
                  <a:srgbClr val="5E5D59"/>
                </a:solidFill>
                <a:latin typeface="Arial"/>
                <a:ea typeface="Microsoft JhengHei"/>
              </a:rPr>
              <a:t>核心</a:t>
            </a:r>
            <a:endParaRPr sz="1500" b="0" i="0" dirty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500" b="0" i="0" dirty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C96442"/>
                </a:solidFill>
                <a:latin typeface="Arial"/>
                <a:ea typeface="Microsoft JhengHei"/>
              </a:rPr>
              <a:t>─── </a:t>
            </a:r>
            <a:r>
              <a:rPr sz="1600" b="1" i="0" dirty="0" err="1">
                <a:solidFill>
                  <a:srgbClr val="C96442"/>
                </a:solidFill>
                <a:latin typeface="Arial"/>
                <a:ea typeface="Microsoft JhengHei"/>
              </a:rPr>
              <a:t>完成</a:t>
            </a:r>
            <a:r>
              <a:rPr sz="1600" b="1" i="0" dirty="0">
                <a:solidFill>
                  <a:srgbClr val="C96442"/>
                </a:solidFill>
                <a:latin typeface="Arial"/>
                <a:ea typeface="Microsoft JhengHei"/>
              </a:rPr>
              <a:t> → </a:t>
            </a:r>
            <a:r>
              <a:rPr sz="1600" b="1" i="0" dirty="0" err="1">
                <a:solidFill>
                  <a:srgbClr val="C96442"/>
                </a:solidFill>
                <a:latin typeface="Arial"/>
                <a:ea typeface="Microsoft JhengHei"/>
              </a:rPr>
              <a:t>回到</a:t>
            </a:r>
            <a:r>
              <a:rPr sz="1600" b="1" i="0" dirty="0">
                <a:solidFill>
                  <a:srgbClr val="C96442"/>
                </a:solidFill>
                <a:latin typeface="Arial"/>
                <a:ea typeface="Microsoft JhengHei"/>
              </a:rPr>
              <a:t> /task-next </a:t>
            </a:r>
            <a:r>
              <a:rPr sz="1600" b="1" i="0" dirty="0" err="1">
                <a:solidFill>
                  <a:srgbClr val="C96442"/>
                </a:solidFill>
                <a:latin typeface="Arial"/>
                <a:ea typeface="Microsoft JhengHei"/>
              </a:rPr>
              <a:t>接力下一個</a:t>
            </a:r>
            <a:r>
              <a:rPr sz="1600" b="1" i="0" dirty="0">
                <a:solidFill>
                  <a:srgbClr val="C96442"/>
                </a:solidFill>
                <a:latin typeface="Arial"/>
                <a:ea typeface="Microsoft JhengHei"/>
              </a:rPr>
              <a:t> ───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9489C4-CFB5-4E84-A62D-D090E1B76BFF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FE91DE-2E7C-4A17-BD81-E4F586942BBF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C13789-BBF9-4B42-A033-5586102FFE39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6AF92E-107A-493B-823A-CCC391F81059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8A28C7-07F8-4E09-8376-BB07A309CD8E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48A6384-C2E7-4209-8EF3-F56E812F86C1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4492BC2-A183-4322-9800-AD5DD6C618BA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26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2236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6442"/>
                </a:solidFill>
                <a:latin typeface="Arial"/>
                <a:ea typeface="Microsoft JhengHei"/>
              </a:rPr>
              <a:t>第 1 輪（詳細）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41413"/>
                </a:solidFill>
                <a:latin typeface="Georgia"/>
                <a:ea typeface="Microsoft JhengHei"/>
              </a:rPr>
              <a:t>後端 API — FastAPI + Gemini SSE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0C69D1-89DC-495C-923C-C479218C0F90}"/>
              </a:ext>
            </a:extLst>
          </p:cNvPr>
          <p:cNvSpPr/>
          <p:nvPr/>
        </p:nvSpPr>
        <p:spPr>
          <a:xfrm>
            <a:off x="9144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C75FB1-477F-47E9-B91D-91AFFD8036F8}"/>
              </a:ext>
            </a:extLst>
          </p:cNvPr>
          <p:cNvSpPr/>
          <p:nvPr/>
        </p:nvSpPr>
        <p:spPr>
          <a:xfrm>
            <a:off x="19050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606FB1-5A4E-4B7E-A809-556355830EAF}"/>
              </a:ext>
            </a:extLst>
          </p:cNvPr>
          <p:cNvSpPr/>
          <p:nvPr/>
        </p:nvSpPr>
        <p:spPr>
          <a:xfrm>
            <a:off x="2895600" y="508000"/>
            <a:ext cx="889000" cy="635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BFF5D1-B280-4C15-8BDF-C790F07BC783}"/>
              </a:ext>
            </a:extLst>
          </p:cNvPr>
          <p:cNvSpPr/>
          <p:nvPr/>
        </p:nvSpPr>
        <p:spPr>
          <a:xfrm>
            <a:off x="38862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B42148-42EA-4479-ADEE-A8B7B22503D9}"/>
              </a:ext>
            </a:extLst>
          </p:cNvPr>
          <p:cNvSpPr/>
          <p:nvPr/>
        </p:nvSpPr>
        <p:spPr>
          <a:xfrm>
            <a:off x="48768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DB0B87-B465-47CF-96D9-C4FF9E4BC703}"/>
              </a:ext>
            </a:extLst>
          </p:cNvPr>
          <p:cNvSpPr/>
          <p:nvPr/>
        </p:nvSpPr>
        <p:spPr>
          <a:xfrm>
            <a:off x="5689600" y="16510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01B1C4F-4145-4EDF-A767-D615DE38BCEC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B6C45C3-2654-4157-B0AC-81A5542FBC0C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27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5076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413"/>
                </a:solidFill>
                <a:latin typeface="Georgia"/>
                <a:ea typeface="Microsoft JhengHei"/>
              </a:rPr>
              <a:t>/plan — AI 先想清楚再動手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1270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96442"/>
                </a:solidFill>
                <a:latin typeface="Consolas"/>
                <a:ea typeface="Microsoft JhengHei"/>
              </a:rPr>
              <a:t>📋 實作計畫                            planner agent (Opus)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C96442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1413"/>
                </a:solidFill>
                <a:latin typeface="Consolas"/>
                <a:ea typeface="Microsoft JhengHei"/>
              </a:rPr>
              <a:t>步驟 1: 建立專案結構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  - pyproject.toml (dependencies)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  - app/main.py    (FastAPI entry)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  - app/config.py  (讀 GEMINI_API_KEY)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  - app/gemini.py  (串流封裝)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3D3D3A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1413"/>
                </a:solidFill>
                <a:latin typeface="Consolas"/>
                <a:ea typeface="Microsoft JhengHei"/>
              </a:rPr>
              <a:t>步驟 2: 定義請求/回應模型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  - messages: [{role, content}] 多輪 context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3D3D3A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1413"/>
                </a:solidFill>
                <a:latin typeface="Consolas"/>
                <a:ea typeface="Microsoft JhengHei"/>
              </a:rPr>
              <a:t>步驟 3: 實作 /api/chat 串流端點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D3D3A"/>
                </a:solidFill>
                <a:latin typeface="Consolas"/>
                <a:ea typeface="Microsoft JhengHei"/>
              </a:rPr>
              <a:t>  - generate_content_stream + StreamingResponse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3D3D3A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風險: API 計費 → 測試用 mock，不打真 API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2F9A28-D9D9-445D-B72E-2EC7C6ADC970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F88684-1DF9-438D-A31E-4218B20923EE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997AE4-FC3A-439D-8CB4-88707E3EFD54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AE497A-64CE-4EAD-B2BC-9031AEA5C73D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585829-9A81-459D-A353-59AFDD9EC549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B45D9AB-0C1C-4CC6-861A-3A5EC9C7557E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FE889EF-6FD2-4CB5-9D05-81C599E544D0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28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0637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/tdd — 先寫測試，再寫實作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5E5D59"/>
                </a:solidFill>
                <a:latin typeface="Arial"/>
                <a:ea typeface="Microsoft JhengHei"/>
              </a:rPr>
              <a:t>tdd-guide agent (Sonnet) 強制執行：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800" b="0" i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B53333"/>
                </a:solidFill>
                <a:latin typeface="Arial"/>
                <a:ea typeface="Microsoft JhengHei"/>
              </a:rPr>
              <a:t>  RED          寫測試，執行 → 全部 FAIL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                     pytest → ❌ 紅色（這是對的！）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600" b="0" i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6B7A3F"/>
                </a:solidFill>
                <a:latin typeface="Arial"/>
                <a:ea typeface="Microsoft JhengHei"/>
              </a:rPr>
              <a:t>  GREEN      寫最小實作，執行 → 全部 PASS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                     pytest → ✅ 綠色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600" b="0" i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C96442"/>
                </a:solidFill>
                <a:latin typeface="Arial"/>
                <a:ea typeface="Microsoft JhengHei"/>
              </a:rPr>
              <a:t>  IMPROVE  重構，保持測試綠色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                     改善命名、抽取共用邏輯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BABB5B-A507-4846-A971-3D0F309E74F2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3990AC-DDFB-43FA-A10D-813979A4B04F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32C077-25AF-4453-A720-61EF3BCD3A62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D9B7F4-ED24-4741-85A7-6F9EF5EBD165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185064-C60B-44B0-A1F9-FD324067E299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80106D6-D8E7-445A-9DE5-6A405DA2339C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112A6EE-D0D1-407B-85AB-39FBA58DCF38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29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3771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FastAPI /docs — 免費的互動文檔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C96442"/>
                </a:solidFill>
                <a:latin typeface="Arial"/>
                <a:ea typeface="Microsoft JhengHei"/>
              </a:rPr>
              <a:t>API 寫完，文檔就自動有了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400" b="1" i="0">
              <a:solidFill>
                <a:srgbClr val="C96442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uvicorn app.main:app --reload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6B7A3F"/>
                </a:solidFill>
                <a:latin typeface="Arial"/>
                <a:ea typeface="Microsoft JhengHei"/>
              </a:rPr>
              <a:t>打開 http://localhost:8000/docs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>
              <a:solidFill>
                <a:srgbClr val="6B7A3F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•  Swagger UI 自動產生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•  直接在瀏覽器中測試每個 API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•  curl -N 可看 token 逐塊串流吐出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5E5D59"/>
                </a:solidFill>
                <a:latin typeface="Arial"/>
                <a:ea typeface="Microsoft JhengHei"/>
              </a:rPr>
              <a:t>→  選 FastAPI 的額外好處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FD0BAE-73C9-414D-BFD0-63EC768A0A8D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96D3AE-4DA4-4862-8A87-9E2A42BE6B37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4C799A-F6D9-4A4C-9CDB-B87C37AE3825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5FA33D-DCAA-4FFE-9DC1-7C0B0F03EF48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C8D274-CFCB-487B-BDB7-36EBE4474C57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6615168-117C-4A6C-8F1F-20CFD488CD5A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826AB2D-AF95-4478-9FB5-969D784118D0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30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5702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413"/>
                </a:solidFill>
                <a:latin typeface="Georgia"/>
                <a:ea typeface="Microsoft JhengHei"/>
              </a:rPr>
              <a:t>/review-code — AI 審查程式碼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1270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96442"/>
                </a:solidFill>
                <a:latin typeface="Consolas"/>
                <a:ea typeface="Microsoft JhengHei"/>
              </a:rPr>
              <a:t>📋 程式碼審查報告          code-quality-specialist (Sonnet)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C96442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✅ PASS  命名規範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✅ PASS  函式長度 &lt; 50 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✅ PASS  無硬編碼值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B53333"/>
                </a:solidFill>
                <a:latin typeface="Consolas"/>
                <a:ea typeface="Microsoft JhengHei"/>
              </a:rPr>
              <a:t>⚠️  WARN  API Key 不可硬編碼 → 改用 .env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✅ PASS  錯誤處理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✅ PASS  不可變模式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6B7A3F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1413"/>
                </a:solidFill>
                <a:latin typeface="Consolas"/>
                <a:ea typeface="Microsoft JhengHei"/>
              </a:rPr>
              <a:t>整體: 8.5/10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D97757"/>
                </a:solidFill>
                <a:latin typeface="Consolas"/>
                <a:ea typeface="Microsoft JhengHei"/>
              </a:rPr>
              <a:t>必修: 把 API Key 移到環境變數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588D38-4634-40FB-A942-DEDA7D838198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6FA496-2BE4-4C5B-9A1C-5C5C62EA5E26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E58B11-C646-4B1D-A936-63908976B76A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C09BF3-35DD-4ADB-B85C-693E3620839A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68F969-ECA6-4DAC-86FD-4AF31B508635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16375E0-ED1D-4ADB-AA22-F49E7BF0151F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B80BCB7-7C97-4C3E-A00D-AC2B77EF5E4F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31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58331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6442"/>
                </a:solidFill>
                <a:latin typeface="Arial"/>
                <a:ea typeface="Microsoft JhengHei"/>
              </a:rPr>
              <a:t>第 2 輪（加速）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41413"/>
                </a:solidFill>
                <a:latin typeface="Georgia"/>
                <a:ea typeface="Microsoft JhengHei"/>
              </a:rPr>
              <a:t>前端 UI — 原生單頁 + 逐字串流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CD74DE-00B2-42F0-B768-30A27E2C9F8F}"/>
              </a:ext>
            </a:extLst>
          </p:cNvPr>
          <p:cNvSpPr/>
          <p:nvPr/>
        </p:nvSpPr>
        <p:spPr>
          <a:xfrm>
            <a:off x="9144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D28C9C-79D3-4056-8A6D-A285AB0ACA84}"/>
              </a:ext>
            </a:extLst>
          </p:cNvPr>
          <p:cNvSpPr/>
          <p:nvPr/>
        </p:nvSpPr>
        <p:spPr>
          <a:xfrm>
            <a:off x="19050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2B2B9E-C2DA-4CFF-A080-FB2CD49E2627}"/>
              </a:ext>
            </a:extLst>
          </p:cNvPr>
          <p:cNvSpPr/>
          <p:nvPr/>
        </p:nvSpPr>
        <p:spPr>
          <a:xfrm>
            <a:off x="2895600" y="508000"/>
            <a:ext cx="889000" cy="635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A12790-241E-4C4D-A439-9E906421710D}"/>
              </a:ext>
            </a:extLst>
          </p:cNvPr>
          <p:cNvSpPr/>
          <p:nvPr/>
        </p:nvSpPr>
        <p:spPr>
          <a:xfrm>
            <a:off x="38862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F203F6-C5B5-4C72-8110-C9170EAFEC1F}"/>
              </a:ext>
            </a:extLst>
          </p:cNvPr>
          <p:cNvSpPr/>
          <p:nvPr/>
        </p:nvSpPr>
        <p:spPr>
          <a:xfrm>
            <a:off x="48768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39759B-A902-4665-BBC5-70B406B03CFA}"/>
              </a:ext>
            </a:extLst>
          </p:cNvPr>
          <p:cNvSpPr/>
          <p:nvPr/>
        </p:nvSpPr>
        <p:spPr>
          <a:xfrm>
            <a:off x="5689600" y="16510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08DB06B-6C76-4689-9108-826E3A987525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B35234E-1DD1-450B-A3D1-07F34A494144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32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8083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第 2 輪：同樣的流程，加快節奏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/task-next      →  自動跳到前端任務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/plan + /tdd   →  學員已熟悉，快速帶過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2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C96442"/>
                </a:solidFill>
                <a:latin typeface="Arial"/>
                <a:ea typeface="Microsoft JhengHei"/>
              </a:rPr>
              <a:t>重點觀察：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200" b="1" i="0">
              <a:solidFill>
                <a:srgbClr val="C96442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•  UI 設計規則自動套用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     → 系統字型、圓角 12-16px、輕微陰影、大量留白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600" b="0" i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•  來自 .claude/rules/ui-design.md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     → 不需要手動指定，AI 自動遵守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600" b="0" i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6B7A3F"/>
                </a:solidFill>
                <a:latin typeface="Arial"/>
                <a:ea typeface="Microsoft JhengHei"/>
              </a:rPr>
              <a:t>•  瀏覽器開聊天頁 → 看 AI 一個字一個字串流回覆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F04B73-7CE3-457F-9ABD-9409188AA346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38F48E-D995-4D98-9E69-A33A2AFA2329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5F75A4-3AED-4AD5-883C-01D717ABA924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7746CF-6103-4865-A23F-64F75C2EE50A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309048-269D-4C5A-9268-E8F20B3BA1DE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823BAF3-B51E-4E17-98ED-1E3F51FD3279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10988D7-612D-4511-816E-6AC05382C013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33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4003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6442"/>
                </a:solidFill>
                <a:latin typeface="Arial"/>
                <a:ea typeface="Microsoft JhengHei"/>
              </a:rPr>
              <a:t>第 3 輪（快速）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41413"/>
                </a:solidFill>
                <a:latin typeface="Georgia"/>
                <a:ea typeface="Microsoft JhengHei"/>
              </a:rPr>
              <a:t>修 Bug — /build-fix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EE8028-070E-4EC7-AE7E-CDBFD236965B}"/>
              </a:ext>
            </a:extLst>
          </p:cNvPr>
          <p:cNvSpPr/>
          <p:nvPr/>
        </p:nvSpPr>
        <p:spPr>
          <a:xfrm>
            <a:off x="9144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7002EC-2F03-402C-B36C-496E970ABDC6}"/>
              </a:ext>
            </a:extLst>
          </p:cNvPr>
          <p:cNvSpPr/>
          <p:nvPr/>
        </p:nvSpPr>
        <p:spPr>
          <a:xfrm>
            <a:off x="19050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1CEA9D-FDF8-4D0D-9C9A-451E729EA1FD}"/>
              </a:ext>
            </a:extLst>
          </p:cNvPr>
          <p:cNvSpPr/>
          <p:nvPr/>
        </p:nvSpPr>
        <p:spPr>
          <a:xfrm>
            <a:off x="2895600" y="508000"/>
            <a:ext cx="889000" cy="635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293B30-8CEA-4107-9E6D-10AA3C3A7E49}"/>
              </a:ext>
            </a:extLst>
          </p:cNvPr>
          <p:cNvSpPr/>
          <p:nvPr/>
        </p:nvSpPr>
        <p:spPr>
          <a:xfrm>
            <a:off x="38862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B30042-DC96-4AA6-B341-1264CCB9C030}"/>
              </a:ext>
            </a:extLst>
          </p:cNvPr>
          <p:cNvSpPr/>
          <p:nvPr/>
        </p:nvSpPr>
        <p:spPr>
          <a:xfrm>
            <a:off x="48768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D8DEF7-CED5-4A76-A43E-3FB0C3CBF8E9}"/>
              </a:ext>
            </a:extLst>
          </p:cNvPr>
          <p:cNvSpPr/>
          <p:nvPr/>
        </p:nvSpPr>
        <p:spPr>
          <a:xfrm>
            <a:off x="5689600" y="16510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32C1EDD-0131-4468-8209-04D402F849C4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31E43AB-C3C3-46C1-A377-0F7DCDBAC5E6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34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78434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/build-fix — 出錯不可怕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⚡ 刻意引入一個 bug，讓建置失敗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2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C96442"/>
                </a:solidFill>
                <a:latin typeface="Arial"/>
                <a:ea typeface="Microsoft JhengHei"/>
              </a:rPr>
              <a:t>/build-fix 啟動 build-error-resolver agent (Haiku)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200" b="1" i="0">
              <a:solidFill>
                <a:srgbClr val="C96442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  1.  讀取錯誤訊息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  2.  定位問題檔案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  3.  用最小差異修復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  4.  驗證修復成功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6B7A3F"/>
                </a:solidFill>
                <a:latin typeface="Arial"/>
                <a:ea typeface="Microsoft JhengHei"/>
              </a:rPr>
              <a:t>變更: 1 file, 1 line    測試: ✅ all passed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>
              <a:solidFill>
                <a:srgbClr val="6B7A3F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5E5D59"/>
                </a:solidFill>
                <a:latin typeface="Arial"/>
                <a:ea typeface="Microsoft JhengHei"/>
              </a:rPr>
              <a:t>→  用最輕量的 Haiku 模型，快速修復，省成本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FD253E-9BDA-4683-9E5A-843EF914C3AC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872F33-B35A-4527-BDA3-C5E86DAD3DEE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DE80A1-07A9-45FF-BE98-2723D7E557AC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7B2E0F-C66E-4095-9874-A9BF18AB3A0C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869BD7-58C5-4182-A4EE-CFE43F20A29B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F50CD81-AC10-4FDB-9F25-C87EBB70DCD8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200" b="1" dirty="0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 dirty="0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3E83170-5E5F-4B50-9BCA-563492BC6A08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35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3842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Chapter 3 小結 — 3 種 Lane 完成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第 1 輪:  後端 API    (standard) FastAPI + Gemini SSE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第 2 輪:  前端 UI     (standard) 原生單頁 + 逐字串流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第 3 輪:  換人設+修Bug (quick) 直接寫 + /verify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2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96442"/>
                </a:solidFill>
                <a:latin typeface="Arial"/>
                <a:ea typeface="Microsoft JhengHei"/>
              </a:rPr>
              <a:t>核心流程（依模式分流）：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6B7A3F"/>
                </a:solidFill>
                <a:latin typeface="Arial"/>
                <a:ea typeface="Microsoft JhengHei"/>
              </a:rPr>
              <a:t>quick     →  直接寫 → /verify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standard  →  /plan → /tdd (80%) → /review-code → /verify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D97757"/>
                </a:solidFill>
                <a:latin typeface="Arial"/>
                <a:ea typeface="Microsoft JhengHei"/>
              </a:rPr>
              <a:t>critical  →  /plan → /tdd (100%) → /review-code → /verify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>
              <a:solidFill>
                <a:srgbClr val="D97757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6B7A3F"/>
                </a:solidFill>
                <a:latin typeface="Arial"/>
                <a:ea typeface="Microsoft JhengHei"/>
              </a:rPr>
              <a:t>Agent 協作：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D3D3A"/>
                </a:solidFill>
                <a:latin typeface="Arial"/>
                <a:ea typeface="Microsoft JhengHei"/>
              </a:rPr>
              <a:t>  planner (Opus) → tdd-guide (Sonnet) → code-quality (Sonnet) → build-resolver (Haiku)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72E17C-C716-41A4-B9E5-8B6671ADAEAA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4348F2-DD7A-4965-A836-76C86B96A140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387568-7804-4B6C-A826-7BB48597399C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791369-C5AB-468E-B797-53995F432074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D4C3AF-FC43-4E0C-9699-4A4856366B34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0BCAB4B-E85F-4EB7-8CB4-A8A2A6DA2E33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3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BF296BF-A96D-4A6B-9629-094358E025E1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36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94265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A732B10B-68DD-4EA6-8C19-0528B0BF80E2}"/>
              </a:ext>
            </a:extLst>
          </p:cNvPr>
          <p:cNvSpPr txBox="1"/>
          <p:nvPr/>
        </p:nvSpPr>
        <p:spPr>
          <a:xfrm>
            <a:off x="6604000" y="1524000"/>
            <a:ext cx="4826000" cy="4318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r"/>
            <a:r>
              <a:rPr lang="en-US" sz="20000" b="1">
                <a:solidFill>
                  <a:srgbClr val="F0E9E0"/>
                </a:solidFill>
                <a:latin typeface="Georgia"/>
                <a:ea typeface="Microsoft JhengHei"/>
              </a:rPr>
              <a:t>04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9200" y="2540000"/>
            <a:ext cx="76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6442"/>
                </a:solidFill>
                <a:latin typeface="Arial"/>
                <a:ea typeface="Microsoft JhengHei"/>
              </a:rP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3022600"/>
            <a:ext cx="889000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1413"/>
                </a:solidFill>
                <a:latin typeface="Georgia"/>
                <a:ea typeface="Microsoft JhengHei"/>
              </a:rPr>
              <a:t>品質驗證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verify、e2e、time-log — 自動把關品質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96F9EC-8A1A-4C03-8351-BEDA951FA3E8}"/>
              </a:ext>
            </a:extLst>
          </p:cNvPr>
          <p:cNvSpPr/>
          <p:nvPr/>
        </p:nvSpPr>
        <p:spPr>
          <a:xfrm>
            <a:off x="9144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0ABFDF-4C73-41EA-9B0C-C7060F58DECD}"/>
              </a:ext>
            </a:extLst>
          </p:cNvPr>
          <p:cNvSpPr/>
          <p:nvPr/>
        </p:nvSpPr>
        <p:spPr>
          <a:xfrm>
            <a:off x="19050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1176B9-FB6A-49F7-8719-E1A9DCEBD08A}"/>
              </a:ext>
            </a:extLst>
          </p:cNvPr>
          <p:cNvSpPr/>
          <p:nvPr/>
        </p:nvSpPr>
        <p:spPr>
          <a:xfrm>
            <a:off x="28956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CC8C83-F810-49E9-89D7-E861F9B43E9C}"/>
              </a:ext>
            </a:extLst>
          </p:cNvPr>
          <p:cNvSpPr/>
          <p:nvPr/>
        </p:nvSpPr>
        <p:spPr>
          <a:xfrm>
            <a:off x="3886200" y="508000"/>
            <a:ext cx="889000" cy="635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A17687-FBE5-4E4D-93CF-2304CC7BC921}"/>
              </a:ext>
            </a:extLst>
          </p:cNvPr>
          <p:cNvSpPr/>
          <p:nvPr/>
        </p:nvSpPr>
        <p:spPr>
          <a:xfrm>
            <a:off x="48768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953768-D606-412B-AEFE-74AF0561D13D}"/>
              </a:ext>
            </a:extLst>
          </p:cNvPr>
          <p:cNvSpPr/>
          <p:nvPr/>
        </p:nvSpPr>
        <p:spPr>
          <a:xfrm>
            <a:off x="914400" y="2603500"/>
            <a:ext cx="76200" cy="11684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AE7703B-3614-4597-8640-9CA1A5DB2802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37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41319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1413"/>
                </a:solidFill>
                <a:latin typeface="Georgia"/>
                <a:ea typeface="Microsoft JhengHei"/>
              </a:rPr>
              <a:t>/verify — 三道品質門（依模式自動）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1270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96442"/>
                </a:solidFill>
                <a:latin typeface="Consolas"/>
                <a:ea typeface="Microsoft JhengHei"/>
              </a:rPr>
              <a:t>🔍 全面驗證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C96442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1413"/>
                </a:solidFill>
                <a:latin typeface="Consolas"/>
                <a:ea typeface="Microsoft JhengHei"/>
              </a:rPr>
              <a:t>Gate 1: 型別檢查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  mypy --strict             ✅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E5D59"/>
                </a:solidFill>
                <a:latin typeface="Consolas"/>
                <a:ea typeface="Microsoft JhengHei"/>
              </a:rPr>
              <a:t>  (Gemini 全程 mock，不打真 API)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5E5D59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1413"/>
                </a:solidFill>
                <a:latin typeface="Consolas"/>
                <a:ea typeface="Microsoft JhengHei"/>
              </a:rPr>
              <a:t>Gate 2: 測試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  pytest     → 9/9 passed✅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  stream→  8/8  passed  ✅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  coverage   →  86%✅ (&gt;80%)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6B7A3F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1413"/>
                </a:solidFill>
                <a:latin typeface="Consolas"/>
                <a:ea typeface="Microsoft JhengHei"/>
              </a:rPr>
              <a:t>Gate 3: Lint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  ruff       →  0 errors     ✅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  format→  0 errors     ✅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1600" b="0" i="0">
              <a:solidFill>
                <a:srgbClr val="6B7A3F"/>
              </a:solidFill>
              <a:latin typeface="Consolas"/>
              <a:ea typeface="Microsoft Jheng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A3F"/>
                </a:solidFill>
                <a:latin typeface="Consolas"/>
                <a:ea typeface="Microsoft JhengHei"/>
              </a:rPr>
              <a:t>結果: ✅ 全部通過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C5D323-DE77-4D44-AC45-CCC7BAEF766A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7C9F57-5614-4013-BFDF-0A405BB8139E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6BE7C5-D2AF-4AAC-904E-3C5D3181D120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5CB463-30DF-4B8C-A878-025373B9D24C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788F23-8DDC-4498-A81E-DA2512F0770D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364BC31-3BAA-4A02-90CC-1C8A186D8CB9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4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65EC2B4-15D1-4BD6-A253-91C191494899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38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4381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/e2e — Playwright 自動操作瀏覽器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5E5D59"/>
                </a:solidFill>
                <a:latin typeface="Arial"/>
                <a:ea typeface="Microsoft JhengHei"/>
              </a:rPr>
              <a:t>e2e-validation-specialist agent 會：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800" b="0" i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  1.  啟動 Playwright 瀏覽器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  2.  自動執行使用者流程：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3D3D3A"/>
                </a:solidFill>
                <a:latin typeface="Arial"/>
                <a:ea typeface="Microsoft JhengHei"/>
              </a:rPr>
              <a:t>        打開聊天頁 → 看到空的對話視窗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3D3D3A"/>
                </a:solidFill>
                <a:latin typeface="Arial"/>
                <a:ea typeface="Microsoft JhengHei"/>
              </a:rPr>
              <a:t>        送出「你好」 → AI 開始串流回覆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3D3D3A"/>
                </a:solidFill>
                <a:latin typeface="Arial"/>
                <a:ea typeface="Microsoft JhengHei"/>
              </a:rPr>
              <a:t>        等待串流完成 → 氣泡顯示完整回覆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3D3D3A"/>
                </a:solidFill>
                <a:latin typeface="Arial"/>
                <a:ea typeface="Microsoft JhengHei"/>
              </a:rPr>
              <a:t>        再追問一句 → 多輪 context 生效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3D3D3A"/>
                </a:solidFill>
                <a:latin typeface="Arial"/>
                <a:ea typeface="Microsoft JhengHei"/>
              </a:rPr>
              <a:t>        清除對話 → 回到空白視窗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800" b="0" i="0">
              <a:solidFill>
                <a:srgbClr val="3D3D3A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6B7A3F"/>
                </a:solidFill>
                <a:latin typeface="Arial"/>
                <a:ea typeface="Microsoft JhengHei"/>
              </a:rPr>
              <a:t>  3.  產出截圖 + 測試報告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50D3E5-B94D-4114-B1CC-C46908C64B24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DA29B5-101F-4C66-B083-3C0C363C817D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B8CAFB-74F6-468E-8882-B6BD53F60A67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1B0708-2317-4C1E-AAA6-7F60B89FA445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47A59A-A329-4B2F-BF6F-5C767CD6B948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73CBBDF-0F14-4C02-AFAB-4EFA599DA512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4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01815A9-E292-4FAC-82FD-FB961055C6DE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39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07522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/time-log — 自動時間追蹤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C96442"/>
                </a:solidFill>
                <a:latin typeface="Arial"/>
                <a:ea typeface="Microsoft JhengHei"/>
              </a:rPr>
              <a:t>你沒有手動記過任何時間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400" b="1" i="0">
              <a:solidFill>
                <a:srgbClr val="C96442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  2.1  Gemini 架構           4 min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  2.2  串流端點 /api/chat    8 min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  3.1  單頁 + CSS            2 min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  3.2  SSE 逐字串流顯示      4 min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  4.1  換人設 + 修 Bug       2 min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87867F"/>
                </a:solidFill>
                <a:latin typeface="Arial"/>
                <a:ea typeface="Microsoft JhengHei"/>
              </a:rPr>
              <a:t>  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6B7A3F"/>
                </a:solidFill>
                <a:latin typeface="Arial"/>
                <a:ea typeface="Microsoft JhengHei"/>
              </a:rPr>
              <a:t>  合計                          ~20 min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200" b="1" i="0">
              <a:solidFill>
                <a:srgbClr val="6B7A3F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5E5D59"/>
                </a:solidFill>
                <a:latin typeface="Arial"/>
                <a:ea typeface="Microsoft JhengHei"/>
              </a:rPr>
              <a:t>→  全部由 Hook 自動追蹤，對回顧和未來估算非常有用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FA9D87-4237-49A1-BA1A-97428CE72318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5830E-1B77-4A94-9FE1-2F8A332E9CE5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F47292-7FF3-4D05-B21C-35DC776B9F28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D6F2E6-B571-4D97-854E-484885C222AA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E5C165-938F-4FC4-87B6-22D416D2B821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98CAE01-85A4-4EAB-96B9-44D77448172A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4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372D532-7953-41F6-BEAB-21FBDDC91947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40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3956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F525A881-E928-4437-8D37-7034E5166636}"/>
              </a:ext>
            </a:extLst>
          </p:cNvPr>
          <p:cNvSpPr txBox="1"/>
          <p:nvPr/>
        </p:nvSpPr>
        <p:spPr>
          <a:xfrm>
            <a:off x="6604000" y="1524000"/>
            <a:ext cx="4826000" cy="4318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r"/>
            <a:r>
              <a:rPr lang="en-US" sz="20000" b="1">
                <a:solidFill>
                  <a:srgbClr val="F0E9E0"/>
                </a:solidFill>
                <a:latin typeface="Georgia"/>
                <a:ea typeface="Microsoft JhengHei"/>
              </a:rPr>
              <a:t>05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9200" y="2540000"/>
            <a:ext cx="76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6442"/>
                </a:solidFill>
                <a:latin typeface="Arial"/>
                <a:ea typeface="Microsoft JhengHei"/>
              </a:rPr>
              <a:t>CHAPTER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3022600"/>
            <a:ext cx="889000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1413"/>
                </a:solidFill>
                <a:latin typeface="Georgia"/>
                <a:ea typeface="Microsoft JhengHei"/>
              </a:rPr>
              <a:t>進階技巧與收尾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更多功能、流程回顧與課後練習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D1DCB7-0540-40CC-8223-3B29E47DBF25}"/>
              </a:ext>
            </a:extLst>
          </p:cNvPr>
          <p:cNvSpPr/>
          <p:nvPr/>
        </p:nvSpPr>
        <p:spPr>
          <a:xfrm>
            <a:off x="9144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5DF9D1-63BC-4C2D-8B77-AA576DD4B14A}"/>
              </a:ext>
            </a:extLst>
          </p:cNvPr>
          <p:cNvSpPr/>
          <p:nvPr/>
        </p:nvSpPr>
        <p:spPr>
          <a:xfrm>
            <a:off x="19050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0DF050-21E3-498E-9CF5-D46BB513CD06}"/>
              </a:ext>
            </a:extLst>
          </p:cNvPr>
          <p:cNvSpPr/>
          <p:nvPr/>
        </p:nvSpPr>
        <p:spPr>
          <a:xfrm>
            <a:off x="28956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B1B62F-3362-4AE4-AD3F-AE1D23B5897C}"/>
              </a:ext>
            </a:extLst>
          </p:cNvPr>
          <p:cNvSpPr/>
          <p:nvPr/>
        </p:nvSpPr>
        <p:spPr>
          <a:xfrm>
            <a:off x="3886200" y="508000"/>
            <a:ext cx="889000" cy="635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F2F41E-AFBA-4284-92AA-F4477D0B9CF4}"/>
              </a:ext>
            </a:extLst>
          </p:cNvPr>
          <p:cNvSpPr/>
          <p:nvPr/>
        </p:nvSpPr>
        <p:spPr>
          <a:xfrm>
            <a:off x="4876800" y="508000"/>
            <a:ext cx="889000" cy="635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661B24-CBFD-4E07-9918-F0A261B81F1C}"/>
              </a:ext>
            </a:extLst>
          </p:cNvPr>
          <p:cNvSpPr/>
          <p:nvPr/>
        </p:nvSpPr>
        <p:spPr>
          <a:xfrm>
            <a:off x="914400" y="2603500"/>
            <a:ext cx="76200" cy="11684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EE01EB-3B7B-4F5C-AD63-E8D3FEFE713B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41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2135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更多可以探索的功能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/suggest-mode      調整建議密度（新手 high、熟練 low/off）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/agent-log           看 subagent 軌跡與 handoff 交接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/save-session      保存會話狀態，下次接續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                             → 每次下班前執行，隔天無縫接續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600" b="0" i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/hub-delegate       手動點名 Agent 執行任務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                             → 例如直接請 security-auditor 掃描安全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600" b="0" i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/learn                   萃取可複用模式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                             → 教 AI 學會你的開發偏好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600" b="0" i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41413"/>
                </a:solidFill>
                <a:latin typeface="Arial"/>
                <a:ea typeface="Microsoft JhengHei"/>
              </a:rPr>
              <a:t>94+ 備用技能包  custom-rule&amp;skill/skills/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E5D59"/>
                </a:solidFill>
                <a:latin typeface="Arial"/>
                <a:ea typeface="Microsoft JhengHei"/>
              </a:rPr>
              <a:t>                             → 複製過來就能用，涵蓋各種語言框架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2DF9F1-E636-451F-8F3B-B4D27EC50394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3FDB73-9E72-40F6-B6EF-A2BF2D39570B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6C5F55-F12A-4F7F-90D4-48D4715D9FCB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952886-EEF5-49EE-A499-2A534C2BDF84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53DB3F-D8F5-4854-B4BC-D2DA71269C6C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64FBB33-20C7-4CCF-B986-E4BB4EFF1B01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5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D188464-D8B9-47D4-9652-22D6C08F9D3D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42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1294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完整流程回顧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E5D59"/>
                </a:solidFill>
                <a:latin typeface="Arial"/>
                <a:ea typeface="Microsoft JhengHei"/>
              </a:rPr>
              <a:t>Ch1   認識模板         .claude 6 大觀念、14 Agent、編排劇本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E5D59"/>
                </a:solidFill>
                <a:latin typeface="Arial"/>
                <a:ea typeface="Microsoft JhengHei"/>
              </a:rPr>
              <a:t>Ch2   /task-init           專案初始化 → CLAUDE.md + WBS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Ch3   開發循環 x3       /task-next → /plan → /tdd → /review-code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Ch4   品質驗證           /verify → /e2e → /agent-log → /time-log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E5D59"/>
                </a:solidFill>
                <a:latin typeface="Arial"/>
                <a:ea typeface="Microsoft JhengHei"/>
              </a:rPr>
              <a:t>Ch5   進階技巧           /save-session、/learn、擴充技能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>
              <a:solidFill>
                <a:srgbClr val="5E5D59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6B7A3F"/>
                </a:solidFill>
                <a:latin typeface="Arial"/>
                <a:ea typeface="Microsoft JhengHei"/>
              </a:rPr>
              <a:t>→  ~60 min 完成一個有測試、有文檔、有品質門的 AI 聊天機器人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94349B-77AE-450B-8B27-B4B365193168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84B1F5-1671-4C88-8DBA-9DA8A68FCF65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4708D2-FD23-4879-BD39-9C5C0E1B3B6B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64DDA2-E7E2-4941-BA41-DD637209427D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C8FF23-8335-432C-AB03-FE7D068452B8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C1F9A0B-994F-4951-9092-65E5365AEB82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5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833DB3B-BDD8-4C2B-AC88-7576964E9D97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43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99589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課後作業 — 選一個挑戰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6B7A3F"/>
                </a:solidFill>
                <a:latin typeface="Arial"/>
                <a:ea typeface="Microsoft JhengHei"/>
              </a:rPr>
              <a:t>初級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用模板建立一個「翻譯小幫手」chatbot，跑完 /task-init → /task-next → /tdd 循環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8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C96442"/>
                </a:solidFill>
                <a:latin typeface="Arial"/>
                <a:ea typeface="Microsoft JhengHei"/>
              </a:rPr>
              <a:t>中級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為 GeminiChat 加「對話持久化（SQLite）+ 多角色切換」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18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D97757"/>
                </a:solidFill>
                <a:latin typeface="Arial"/>
                <a:ea typeface="Microsoft JhengHei"/>
              </a:rPr>
              <a:t>進階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3"/>
                </a:solidFill>
                <a:latin typeface="Arial"/>
                <a:ea typeface="Microsoft JhengHei"/>
              </a:rPr>
              <a:t>  為 GeminiChat 加 RAG（讀 PDF 問答）或用 mcp-builder 包成 MCP tool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AFA08F-D233-456F-89D9-7BA15AB7B803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013AB2-95F4-40F3-AC00-9C22A76C2F79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C92688-ADC4-4890-B532-FF572CD8C307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28B6D8-7BA1-4F3C-AC48-D3B4BA673F56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803117-718D-47A2-81F1-71F89A531B0F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BBCCE9B-5FFE-48A2-B0CF-5578AB5BAB8F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5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FA14DB8-0288-462D-B1C3-62D4C8987C25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44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2938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1413"/>
                </a:solidFill>
                <a:latin typeface="Georgia"/>
                <a:ea typeface="Microsoft JhengHei"/>
              </a:rPr>
              <a:t>推薦探索路徑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6600" y="1168400"/>
            <a:ext cx="8128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想深入 Agent 機制     →  .claude/agents/ (14 個定義檔)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想客製化規則        →  .claude/rules/ (15 條，可改可加)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想擴充技能            →  custom-rule&amp;skill/skills/ (94+)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想做完整專案文件  →  /project-docs + 16 個模板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想建 MCP Server     →  mcp-builder skill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41413"/>
                </a:solidFill>
                <a:latin typeface="Arial"/>
                <a:ea typeface="Microsoft JhengHei"/>
              </a:rPr>
              <a:t>想瞭解運作原理     →  .claude/guides/MECHANISMS.md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sz="2000" b="0" i="0">
              <a:solidFill>
                <a:srgbClr val="141413"/>
              </a:solidFill>
              <a:latin typeface="Arial"/>
              <a:ea typeface="Microsoft JhengHe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C96442"/>
                </a:solidFill>
                <a:latin typeface="Arial"/>
                <a:ea typeface="Microsoft JhengHei"/>
              </a:rPr>
              <a:t>速查卡： workshop/docs/03_command_cheatsheet.md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2A72B6-55BE-46F8-AD1C-48E5486AED91}"/>
              </a:ext>
            </a:extLst>
          </p:cNvPr>
          <p:cNvSpPr/>
          <p:nvPr/>
        </p:nvSpPr>
        <p:spPr>
          <a:xfrm>
            <a:off x="7366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5F4A16-925C-4E22-989F-390429A6F2DF}"/>
              </a:ext>
            </a:extLst>
          </p:cNvPr>
          <p:cNvSpPr/>
          <p:nvPr/>
        </p:nvSpPr>
        <p:spPr>
          <a:xfrm>
            <a:off x="17272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786674-18F5-4974-BE17-919B85E28E1E}"/>
              </a:ext>
            </a:extLst>
          </p:cNvPr>
          <p:cNvSpPr/>
          <p:nvPr/>
        </p:nvSpPr>
        <p:spPr>
          <a:xfrm>
            <a:off x="27178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7DEF8B-6AE2-4D74-9D34-A586BBD397A7}"/>
              </a:ext>
            </a:extLst>
          </p:cNvPr>
          <p:cNvSpPr/>
          <p:nvPr/>
        </p:nvSpPr>
        <p:spPr>
          <a:xfrm>
            <a:off x="3708400" y="203200"/>
            <a:ext cx="889000" cy="50800"/>
          </a:xfrm>
          <a:prstGeom prst="rect">
            <a:avLst/>
          </a:prstGeom>
          <a:solidFill>
            <a:srgbClr val="E5E0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4E59F2-4B8B-426F-BB5B-65AA9DD1B96B}"/>
              </a:ext>
            </a:extLst>
          </p:cNvPr>
          <p:cNvSpPr/>
          <p:nvPr/>
        </p:nvSpPr>
        <p:spPr>
          <a:xfrm>
            <a:off x="4699000" y="203200"/>
            <a:ext cx="889000" cy="508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B958522-B816-48F3-B9CE-D40A27ED52F5}"/>
              </a:ext>
            </a:extLst>
          </p:cNvPr>
          <p:cNvSpPr/>
          <p:nvPr/>
        </p:nvSpPr>
        <p:spPr>
          <a:xfrm>
            <a:off x="10642600" y="304800"/>
            <a:ext cx="787400" cy="330200"/>
          </a:xfrm>
          <a:prstGeom prst="round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CH 5</a:t>
            </a:r>
            <a:endParaRPr lang="zh-TW" altLang="en-US" sz="1200" b="1">
              <a:solidFill>
                <a:srgbClr val="FFFFFF"/>
              </a:solidFill>
              <a:latin typeface="Arial"/>
              <a:ea typeface="Microsoft JhengHei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5BC7133-0696-4383-9286-ADA31D055718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45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49814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41413"/>
                </a:solidFill>
                <a:latin typeface="Georgia"/>
                <a:ea typeface="Microsoft JhengHei"/>
              </a:rPr>
              <a:t>Q &amp; A</a:t>
            </a:r>
          </a:p>
          <a:p>
            <a:pPr algn="ctr">
              <a:spcBef>
                <a:spcPts val="1600"/>
              </a:spcBef>
              <a:spcAft>
                <a:spcPts val="600"/>
              </a:spcAft>
            </a:pPr>
            <a:r>
              <a:rPr sz="2200" b="0" i="0">
                <a:solidFill>
                  <a:srgbClr val="5E5D59"/>
                </a:solidFill>
                <a:latin typeface="Arial"/>
                <a:ea typeface="Microsoft JhengHei"/>
              </a:rPr>
              <a:t>問任何關於模板、工作流、Claude Code 的問題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383280"/>
            <a:ext cx="4846320" cy="381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783A4F-3A25-48B0-9237-E90DBF6E2C7E}"/>
              </a:ext>
            </a:extLst>
          </p:cNvPr>
          <p:cNvSpPr/>
          <p:nvPr/>
        </p:nvSpPr>
        <p:spPr>
          <a:xfrm>
            <a:off x="5689600" y="1630680"/>
            <a:ext cx="812800" cy="635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F5B920A-BB60-4917-8906-8CAC91E108B2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46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0693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41413"/>
                </a:solidFill>
                <a:latin typeface="Georgia"/>
                <a:ea typeface="Microsoft JhengHei"/>
              </a:rPr>
              <a:t>Thank You</a:t>
            </a:r>
          </a:p>
          <a:p>
            <a:pPr algn="ctr">
              <a:spcBef>
                <a:spcPts val="1600"/>
              </a:spcBef>
              <a:spcAft>
                <a:spcPts val="600"/>
              </a:spcAft>
            </a:pPr>
            <a:r>
              <a:rPr sz="2200" b="0" i="0">
                <a:solidFill>
                  <a:srgbClr val="5E5D59"/>
                </a:solidFill>
                <a:latin typeface="Arial"/>
                <a:ea typeface="Microsoft JhengHei"/>
              </a:rPr>
              <a:t>速查卡在 workshop/docs/ — 有問題隨時在內部頻道問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383280"/>
            <a:ext cx="4846320" cy="381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27A34-720C-47D9-A11E-80F8284F754C}"/>
              </a:ext>
            </a:extLst>
          </p:cNvPr>
          <p:cNvSpPr/>
          <p:nvPr/>
        </p:nvSpPr>
        <p:spPr>
          <a:xfrm>
            <a:off x="5689600" y="1630680"/>
            <a:ext cx="812800" cy="63500"/>
          </a:xfrm>
          <a:prstGeom prst="rect">
            <a:avLst/>
          </a:prstGeom>
          <a:solidFill>
            <a:srgbClr val="C9644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ea typeface="Microsoft JhengHe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B8B8AEC-768E-4852-B045-72854F429DB1}"/>
              </a:ext>
            </a:extLst>
          </p:cNvPr>
          <p:cNvSpPr txBox="1"/>
          <p:nvPr/>
        </p:nvSpPr>
        <p:spPr>
          <a:xfrm>
            <a:off x="11404600" y="6451600"/>
            <a:ext cx="584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TW" sz="1100">
                <a:solidFill>
                  <a:srgbClr val="A8A6A0"/>
                </a:solidFill>
                <a:latin typeface="Arial"/>
                <a:ea typeface="Microsoft JhengHei"/>
                <a:cs typeface="Arial"/>
              </a:rPr>
              <a:t>47</a:t>
            </a:r>
            <a:endParaRPr lang="zh-TW" altLang="en-US" sz="1100">
              <a:solidFill>
                <a:srgbClr val="A8A6A0"/>
              </a:solidFill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9871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DC4027-C483-4291-B2FC-FBA641425F2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c42bc57-a5a7-49dc-adec-19a8805d6d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2815</Words>
  <Application>Microsoft Office PowerPoint</Application>
  <PresentationFormat>寬螢幕</PresentationFormat>
  <Paragraphs>664</Paragraphs>
  <Slides>47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47</vt:i4>
      </vt:variant>
    </vt:vector>
  </HeadingPairs>
  <TitlesOfParts>
    <vt:vector size="54" baseType="lpstr">
      <vt:lpstr>Microsoft JhengHei</vt:lpstr>
      <vt:lpstr>Aptos</vt:lpstr>
      <vt:lpstr>Arial</vt:lpstr>
      <vt:lpstr>Calibri</vt:lpstr>
      <vt:lpstr>Consolas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陳冠瑋(KuanWei Chen)</cp:lastModifiedBy>
  <cp:revision>3</cp:revision>
  <dcterms:created xsi:type="dcterms:W3CDTF">2013-01-27T09:14:16Z</dcterms:created>
  <dcterms:modified xsi:type="dcterms:W3CDTF">2026-06-08T10:05:28Z</dcterms:modified>
  <cp:category/>
</cp:coreProperties>
</file>