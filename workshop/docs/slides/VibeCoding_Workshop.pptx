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互動：請學員舉手看看遇過幾個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核心訊息：差別在流程，不在 AI 模型本身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今天主要用 Command 和 Agent，其他三個先知道就好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不需要背，知道去哪找就好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給學員 1 分鐘檢查，有問題的舉手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這是最關鍵的 Aha Moment — AI 先問問題、理解需求，再產文件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讓學員跟著做。注意 AI 一次只問一題。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v5.3 新增任務分級。小修改走 quick 不被綡住，核心邏輯走 critical 加倍嚴謹。/verify 依模式自動選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暫停讓學員讀計畫。強調：AI 不是直接寫 code，而是先用 Opus 做規劃。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看到紅色不要緊張。先定義期望（測試），再寫滿足期望的 code。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Aha Moment：讓學員打開 /docs 頁面，點 Try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寫的 code，再讓另一個 AI 審查。依模板的 9 條規則打分。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教學效果：刻意犯錯比完美示範更有記憶點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視覺衝擊最強的 demo — 瀏覽器自己在動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用數據收尾：我們花了 X 分鐘完成一個全端應用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C1C1C"/>
                </a:solidFill>
                <a:latin typeface="Segoe UI"/>
              </a:rPr>
              <a:t>VibeCoding 模板實戰 Workshop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F5F5D"/>
                </a:solidFill>
                <a:latin typeface="Segoe UI"/>
              </a:rPr>
              <a:t>用 Claude Code 跑完一個專案的開發工作流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C1C1C"/>
                </a:solidFill>
                <a:latin typeface="Segoe UI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C1C1C"/>
                </a:solidFill>
                <a:latin typeface="Segoe UI"/>
              </a:rPr>
              <a:t>認識 VibeCoding 模板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用 AI 寫程式的 5 個痛點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A8453D"/>
                </a:solidFill>
                <a:latin typeface="Segoe UI"/>
              </a:rPr>
              <a:t>1.  每次對話都要重新解釋專案背景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A8453D"/>
                </a:solidFill>
                <a:latin typeface="Segoe UI"/>
              </a:rPr>
              <a:t>2.  AI 產出的程式碼品質不穩定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A8453D"/>
                </a:solidFill>
                <a:latin typeface="Segoe UI"/>
              </a:rPr>
              <a:t>3.  沒有測試、沒有審查，直接上線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A8453D"/>
                </a:solidFill>
                <a:latin typeface="Segoe UI"/>
              </a:rPr>
              <a:t>4.  需求 → 設計 → 實作之間斷裂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A8453D"/>
                </a:solidFill>
                <a:latin typeface="Segoe UI"/>
              </a:rPr>
              <a:t>5.  換個專案又從零開始設定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F5F5D"/>
                </a:solidFill>
                <a:latin typeface="Segoe UI"/>
              </a:rPr>
              <a:t>→  問題不在 AI 不夠聰明，而是缺乏系統化工作流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VibeCoding 模板 = AI 開發的標準作業程序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📋  16 份文件模板        規範從需求到部署的每個階段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🤖  13 個 AI Agent        各司其職、自動協作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⚡  17 個快捷指令        一行啟動完整流程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📏   9 條自動規則         品質底線自動守護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🔧   7 個領域技能         按需載入專業知識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C1C1C"/>
                </a:solidFill>
                <a:latin typeface="Segoe UI"/>
              </a:rPr>
              <a:t>→  複製到任何新專案，立即可用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對比 — 沒模板 vs 有模板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C1C1C"/>
                </a:solidFill>
                <a:latin typeface="Segoe UI"/>
              </a:rPr>
              <a:t>❌  沒有模板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"幫我寫一個 Todo App"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→ AI 直接寫一大段程式碼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→ 沒測試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→ 沒文件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→ 沒品質把關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→ 出問題才發現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5B7A52"/>
                </a:solidFill>
                <a:latin typeface="Segoe UI"/>
              </a:rPr>
              <a:t>✅  有模板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/task-init  → 互動式 Q&amp;A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/task-next  → 拆好的任務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/plan       → 先規劃再動手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/tdd        → 先寫測試再實作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/review-code → AI 審查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/verify     → 品質門把關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5 大擴展機制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Hook        系統事件自動觸發 → Shell 腳本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例：啟動時偵測模板、自動追蹤時間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Command   使用者輸入 /xxx → 預設 Prompt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例：/tdd, /plan,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Skill          語意偵測自動觸發 → 領域知識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例：偵測到 FastAPI 自動載入相關知識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Agent        主 Agent 委派子任務 → 專業 AI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例：code-quality-specialist 做審查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Context     跨 Agent 知識共享 → 報告存檔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例：品質報告 → 測試報告接力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13 個 Agent — 按模型分級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C1C1C"/>
                </a:solidFill>
                <a:latin typeface="Segoe UI"/>
              </a:rPr>
              <a:t>Opus  (重量級推理)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    planner • architect • security-auditor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5B7A52"/>
                </a:solidFill>
                <a:latin typeface="Segoe UI"/>
              </a:rPr>
              <a:t>Sonnet  (一般開發)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    code-quality • tdd-guide • e2e-specialist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    test-engineer • refactor-cleaner • deployment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9A7B3A"/>
                </a:solidFill>
                <a:latin typeface="Segoe UI"/>
              </a:rPr>
              <a:t>Haiku  (輕量快速)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    build-resolver • doc-specialist • template-mgr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→  模板自動分配，不需要手動選擇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C1C1C"/>
                </a:solidFill>
                <a:latin typeface="Segoe UI"/>
              </a:rPr>
              <a:t>目錄結構 — .claude/ 下的關鍵目錄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ECEAE4"/>
          </a:solidFill>
          <a:ln w="12700">
            <a:solidFill>
              <a:srgbClr val="EC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.claude/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├── agents/          ← 13 個 Agent 定義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├── commands/        ← 17 個快捷指令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├── rules/           ← 9 條自動規則（每次對話載入）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├── skills/          ← 7 個領域技能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├── hooks/           ← 6 個系統事件腳本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├── context/         ← Agent 間的報告共享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>├── guides/          ← 參考文件（不自動載入）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└── taskmaster-data/ ← WBS 任務 + 時間追蹤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環境準備檢查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D"/>
                </a:solidFill>
                <a:latin typeface="Segoe UI"/>
              </a:rPr>
              <a:t>  ☐  Claude Code CLI 已安裝    → claude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D"/>
                </a:solidFill>
                <a:latin typeface="Segoe UI"/>
              </a:rPr>
              <a:t>  ☐  Python 3.11+ 已安裝         → python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D"/>
                </a:solidFill>
                <a:latin typeface="Segoe UI"/>
              </a:rPr>
              <a:t>  ☐  Node.js 18+ 已安裝           → node --version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D"/>
                </a:solidFill>
                <a:latin typeface="Segoe UI"/>
              </a:rPr>
              <a:t>  ☐  Git 已設定                          → git config user.name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D"/>
                </a:solidFill>
                <a:latin typeface="Segoe UI"/>
              </a:rPr>
              <a:t>  ☐  模板已複製到工作目錄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3D3D3D"/>
                </a:solidFill>
                <a:latin typeface="Segoe UI"/>
              </a:rPr>
              <a:t>  ☐  .mcp.json 已設定 API Key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今天的旅程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C1C1C"/>
                </a:solidFill>
                <a:latin typeface="Segoe UI"/>
              </a:rPr>
              <a:t>Ch1   認識模板                10 min  ← 你在這裡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Ch2   專案初始化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9A7B3A"/>
                </a:solidFill>
                <a:latin typeface="Segoe UI"/>
              </a:rPr>
              <a:t>Ch3   開發循環 x3            25 min   ⭐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Ch4   品質驗證   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Ch5   進階 + Q&amp;A             10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5B7A52"/>
                </a:solidFill>
                <a:latin typeface="Segoe UI"/>
              </a:rPr>
              <a:t>→  70 分鐘後，你會了一套 AI 開發工作流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C1C1C"/>
                </a:solidFill>
                <a:latin typeface="Segoe UI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C1C1C"/>
                </a:solidFill>
                <a:latin typeface="Segoe UI"/>
              </a:rPr>
              <a:t>專案初始化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一切從 /task-init 開始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C1C1C"/>
                </a:solidFill>
                <a:latin typeface="Segoe UI"/>
              </a:rPr>
              <a:t>你輸入：  /task-init TaskFlow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C1C1C"/>
                </a:solidFill>
                <a:latin typeface="Segoe UI"/>
              </a:rPr>
              <a:t>AI 會做：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  1.  問你一系列問題（互動式 Q&amp;A）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• 專案做什麼？用什麼技術？範圍多大？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  2.  根據回答自動產出：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B7A52"/>
                </a:solidFill>
                <a:latin typeface="Segoe UI"/>
              </a:rPr>
              <a:t>        • CLAUDE.md  — 專案說明書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B7A52"/>
                </a:solidFill>
                <a:latin typeface="Segoe UI"/>
              </a:rPr>
              <a:t>        • wbs.md     — 任務拆解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  3.  從此 AI 每次對話都知道你的專案脈絡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MVP vs Complete 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1C1C1C"/>
                </a:solidFill>
                <a:latin typeface="Segoe UI"/>
              </a:rPr>
              <a:t>MVP 模式  ← 今天用這個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輕量 Tech Spec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快速驗證想法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1-2 人小專案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原型 / POC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5F5F5D"/>
                </a:solidFill>
                <a:latin typeface="Segoe UI"/>
              </a:rPr>
              <a:t>隨時可升級為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 i="0">
                <a:solidFill>
                  <a:srgbClr val="5B7A52"/>
                </a:solidFill>
                <a:latin typeface="Segoe UI"/>
              </a:rPr>
              <a:t>Complete 模式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完整 16 份文件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每個決策有文件記錄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3+ 人團隊專案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正式產品 / 合規需求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5F5F5D"/>
                </a:solidFill>
                <a:latin typeface="Segoe UI"/>
              </a:rPr>
              <a:t>大專案、正式產品用這個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CLAUDE.md = 專案的「身分證」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C1C1C"/>
                </a:solidFill>
                <a:latin typeface="Segoe UI"/>
              </a:rPr>
              <a:t>AI 每次對話都會自動讀取這份檔案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知道專案用什麼技術棧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知道程式碼規範（命名、風格）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知道目錄結構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知道測試策略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知道部署方式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B7A52"/>
                </a:solidFill>
                <a:latin typeface="Segoe UI"/>
              </a:rPr>
              <a:t>→  你不需要每次重新解釋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B7A52"/>
                </a:solidFill>
                <a:latin typeface="Segoe UI"/>
              </a:rPr>
              <a:t>→  團隊成員接手也能立刻上手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C1C1C"/>
                </a:solidFill>
                <a:latin typeface="Segoe UI"/>
              </a:rPr>
              <a:t>WBS = 自動拆解的任務清單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ECEAE4"/>
          </a:solidFill>
          <a:ln w="12700">
            <a:solidFill>
              <a:srgbClr val="EC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1.0 專案管理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├── 1.1 需求分析          ← /task-init 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└── 1.2 架構設計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2.0 後端開發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├── 2.1 基礎架構          ← /task-next 會指派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├── 2.2 CRUD API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└── 2.3 篩選功能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3.0 前端開發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├── 3.1 元件開發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└── 3.2 互動功能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F5F5D"/>
                </a:solidFill>
                <a:latin typeface="Consolas"/>
              </a:rPr>
              <a:t>每個任務有：編號 │ 負責人 │ 狀態 │ 工時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C1C1C"/>
                </a:solidFill>
                <a:latin typeface="Segoe UI"/>
              </a:rPr>
              <a:t>⚡ 現場操作 — /task-init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ECEAE4"/>
          </a:solidFill>
          <a:ln w="12700">
            <a:solidFill>
              <a:srgbClr val="EC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F5F5D"/>
                </a:solidFill>
                <a:latin typeface="Consolas"/>
              </a:rPr>
              <a:t># 1. 打開終端機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cd /your/workspace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claude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F5F5D"/>
                </a:solidFill>
                <a:latin typeface="Consolas"/>
              </a:rPr>
              <a:t># 2. 執行初始化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/task-init TaskFlow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F5F5D"/>
                </a:solidFill>
                <a:latin typeface="Consolas"/>
              </a:rPr>
              <a:t># 3. 回答 AI 的問題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專案描述：極簡待辦清單應用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技術棧：  Python FastAPI + React + SQLite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模式：    MVP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功能：    CRUD + 分類篩選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F5F5D"/>
                </a:solidFill>
                <a:latin typeface="Consolas"/>
              </a:rPr>
              <a:t># 4. 檢查產出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/task-status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C1C1C"/>
                </a:solidFill>
                <a:latin typeface="Segoe UI"/>
              </a:rPr>
              <a:t>Chapter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C1C1C"/>
                </a:solidFill>
                <a:latin typeface="Segoe UI"/>
              </a:rPr>
              <a:t>開發循環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開發循環全貌（依任務模式分流）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/task-next   取任務 + 選模式（quick / standard / critical）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B7A52"/>
                </a:solidFill>
                <a:latin typeface="Segoe UI"/>
              </a:rPr>
              <a:t>─── quick ───     直接寫 → /verify (auto: quick)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F5F5D"/>
                </a:solidFill>
                <a:latin typeface="Segoe UI"/>
              </a:rPr>
              <a:t>                          適合：&lt; 30min 單檔修改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─── standard ───  /plan → /tdd (80%)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                          → /verify (auto: full)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F5F5D"/>
                </a:solidFill>
                <a:latin typeface="Segoe UI"/>
              </a:rPr>
              <a:t>                          適合：1-4h 新功能 / 重構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9A7B3A"/>
                </a:solidFill>
                <a:latin typeface="Segoe UI"/>
              </a:rPr>
              <a:t>─── critical ───   /plan → /tdd (100%)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9A7B3A"/>
                </a:solidFill>
                <a:latin typeface="Segoe UI"/>
              </a:rPr>
              <a:t>                          → /verify (auto: pre-pr + 安全掃描)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5F5F5D"/>
                </a:solidFill>
                <a:latin typeface="Segoe UI"/>
              </a:rPr>
              <a:t>                          適合：金流 / 認證 / 安全 / 核心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1C1C1C"/>
                </a:solidFill>
                <a:latin typeface="Segoe UI"/>
              </a:rPr>
              <a:t>─── 完成 → 回到 /task-next 接力下一個 ───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C1C1C"/>
                </a:solidFill>
                <a:latin typeface="Segoe UI"/>
              </a:rPr>
              <a:t>第 1 輪（詳細）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C1C1C"/>
                </a:solidFill>
                <a:latin typeface="Segoe UI"/>
              </a:rPr>
              <a:t>後端 API — FastAPI + pytest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C1C1C"/>
                </a:solidFill>
                <a:latin typeface="Segoe UI"/>
              </a:rPr>
              <a:t>/plan — AI 先想清楚再動手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ECEAE4"/>
          </a:solidFill>
          <a:ln w="12700">
            <a:solidFill>
              <a:srgbClr val="EC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📋 實作計畫                            planner agent (Opus)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步驟 1: 建立專案結構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  - pyproject.toml (dependencies)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  - app/main.py    (FastAPI entry)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  - app/models.py  (SQLModel schemas)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  - app/database.py(SQLite connection)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步驟 2: 定義 Todo 資料模型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  - id, title, category, done, created_at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步驟 3: 實作 CRUD endpoints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3D3D3D"/>
                </a:solidFill>
                <a:latin typeface="Consolas"/>
              </a:rPr>
              <a:t>  - GET / POST / PUT / DELETE  /api/todos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風險: 無（標準 CRUD，低複雜度）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/tdd — 先寫測試，再寫實作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F5F5D"/>
                </a:solidFill>
                <a:latin typeface="Segoe UI"/>
              </a:rPr>
              <a:t>tdd-guide agent (Sonnet) 強制執行：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A8453D"/>
                </a:solidFill>
                <a:latin typeface="Segoe UI"/>
              </a:rPr>
              <a:t>  RED          寫測試，執行 → 全部 FAIL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   pytest → ❌ 紅色（這是對的！）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5B7A52"/>
                </a:solidFill>
                <a:latin typeface="Segoe UI"/>
              </a:rPr>
              <a:t>  GREEN      寫最小實作，執行 → 全部 PASS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   pytest → ✅ 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C1C1C"/>
                </a:solidFill>
                <a:latin typeface="Segoe UI"/>
              </a:rPr>
              <a:t>  IMPROVE  重構，保持測試綠色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   改善命名、抽取共用邏輯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FastAPI /docs — 免費的互動文檔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C1C1C"/>
                </a:solidFill>
                <a:latin typeface="Segoe UI"/>
              </a:rPr>
              <a:t>API 寫完，文檔就自動有了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uvicorn app.main:app --reload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B7A52"/>
                </a:solidFill>
                <a:latin typeface="Segoe UI"/>
              </a:rPr>
              <a:t>打開 http://localhost:8000/docs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Swagger UI 自動產生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直接在瀏覽器中測試每個 API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不需要 Postman 或其他工具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F5F5D"/>
                </a:solidFill>
                <a:latin typeface="Segoe UI"/>
              </a:rPr>
              <a:t>→  選 FastAPI 的額外好處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C1C1C"/>
                </a:solidFill>
                <a:latin typeface="Segoe UI"/>
              </a:rPr>
              <a:t>/review-code — AI 審查程式碼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ECEAE4"/>
          </a:solidFill>
          <a:ln w="12700">
            <a:solidFill>
              <a:srgbClr val="EC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📋 程式碼審查報告          code-quality-specialist (Sonnet)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✅ PASS  命名規範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✅ PASS  函式長度 &lt; 50 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✅ PASS  無硬編碼值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A7B3A"/>
                </a:solidFill>
                <a:latin typeface="Consolas"/>
              </a:rPr>
              <a:t>⚠️  WARN  缺少輸入驗證 (title 長度)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✅ PASS  錯誤處理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✅ PASS  不可變模式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整體: 8.5/10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9A7B3A"/>
                </a:solidFill>
                <a:latin typeface="Consolas"/>
              </a:rPr>
              <a:t>建議: 加上 title 的 max_length 驗證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C1C1C"/>
                </a:solidFill>
                <a:latin typeface="Segoe UI"/>
              </a:rPr>
              <a:t>第 2 輪（加速）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C1C1C"/>
                </a:solidFill>
                <a:latin typeface="Segoe UI"/>
              </a:rPr>
              <a:t>前端 UI — React + Tailwind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第 2 輪：同樣的流程，加快節奏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/task-next      →  自動跳到前端任務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/plan + /tdd   →  學員已熟悉，快速帶過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C1C1C"/>
                </a:solidFill>
                <a:latin typeface="Segoe UI"/>
              </a:rPr>
              <a:t>重點觀察：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UI 設計規則自動套用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→ 系統字型、圓角 12-16px、輕微陰影、大量留白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•  來自 .claude/rules/ui-design.md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→ 不需要手動指定，AI 自動遵守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B7A52"/>
                </a:solidFill>
                <a:latin typeface="Segoe UI"/>
              </a:rPr>
              <a:t>•  瀏覽器中查看成果：啟動 dev server，實際操作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C1C1C"/>
                </a:solidFill>
                <a:latin typeface="Segoe UI"/>
              </a:rPr>
              <a:t>第 3 輪（快速）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C1C1C"/>
                </a:solidFill>
                <a:latin typeface="Segoe UI"/>
              </a:rPr>
              <a:t>修 Bug — /build-fix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/build-fix — 出錯不可怕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⚡ 刻意引入一個 bug，讓建置失敗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1C1C1C"/>
                </a:solidFill>
                <a:latin typeface="Segoe UI"/>
              </a:rPr>
              <a:t>/build-fix 啟動 build-error-resolver agent (Haiku)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  1.  讀取錯誤訊息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  2.  定位問題檔案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  3.  用最小差異修復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  4.  驗證修復成功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B7A52"/>
                </a:solidFill>
                <a:latin typeface="Segoe UI"/>
              </a:rPr>
              <a:t>變更: 1 file, 1 line    測試: ✅ all passed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F5F5D"/>
                </a:solidFill>
                <a:latin typeface="Segoe UI"/>
              </a:rPr>
              <a:t>→  用最輕量的 Haiku 模型，快速修復，省成本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Chapter 3 小結 — 3 種 Lane 完成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第 1 輪:  後端 API    (standard) FastAPI + pytest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第 2 輪:  前端 UI     (standard) React + Vitest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第 3 輪:  Bug 修復   (quick) 直接寫 +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1C1C1C"/>
                </a:solidFill>
                <a:latin typeface="Segoe UI"/>
              </a:rPr>
              <a:t>核心流程（依模式分流）：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B7A52"/>
                </a:solidFill>
                <a:latin typeface="Segoe UI"/>
              </a:rPr>
              <a:t>quick     →  直接寫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standard  →  /plan → /tdd (80%)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9A7B3A"/>
                </a:solidFill>
                <a:latin typeface="Segoe UI"/>
              </a:rPr>
              <a:t>critical  →  /plan → /tdd (100%) → /review-code → /verify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5B7A52"/>
                </a:solidFill>
                <a:latin typeface="Segoe UI"/>
              </a:rPr>
              <a:t>Agent 協作：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3D3D3D"/>
                </a:solidFill>
                <a:latin typeface="Segoe UI"/>
              </a:rPr>
              <a:t>  planner (Opus) → tdd-guide (Sonnet) → code-quality (Sonnet) → build-resolver (Haiku)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C1C1C"/>
                </a:solidFill>
                <a:latin typeface="Segoe UI"/>
              </a:rPr>
              <a:t>Chapter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C1C1C"/>
                </a:solidFill>
                <a:latin typeface="Segoe UI"/>
              </a:rPr>
              <a:t>品質驗證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C1C1C"/>
                </a:solidFill>
                <a:latin typeface="Segoe UI"/>
              </a:rPr>
              <a:t>/verify — 三道品質門（依模式自動）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5212080"/>
          </a:xfrm>
          <a:prstGeom prst="rect">
            <a:avLst/>
          </a:prstGeom>
          <a:solidFill>
            <a:srgbClr val="ECEAE4"/>
          </a:solidFill>
          <a:ln w="12700">
            <a:solidFill>
              <a:srgbClr val="ECE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🔍 全面驗證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Gate 1: 型別檢查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  Python: mypy --strict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  TS:     tsc --noEmit 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Gate 2: 測試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  pytest     → 12/12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  vitest     →  8/8  passed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  coverage   →  87%          ✅ (&gt;80%)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1C1C1C"/>
                </a:solidFill>
                <a:latin typeface="Consolas"/>
              </a:rPr>
              <a:t>Gate 3: Lint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  ruff  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  eslint     →  0 errors     ✅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A8A6A0"/>
                </a:solidFill>
                <a:latin typeface="Consolas"/>
              </a:rPr>
              <a:t/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5B7A52"/>
                </a:solidFill>
                <a:latin typeface="Consolas"/>
              </a:rPr>
              <a:t>結果: ✅ 全部通過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/e2e — Playwright 自動操作瀏覽器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F5F5D"/>
                </a:solidFill>
                <a:latin typeface="Segoe UI"/>
              </a:rPr>
              <a:t>e2e-validation-specialist agent 會：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  1.  啟動 Playwright 瀏覽器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  2.  自動執行使用者流程：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D"/>
                </a:solidFill>
                <a:latin typeface="Segoe UI"/>
              </a:rPr>
              <a:t>        打開首頁 → 看到空的 Todo 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D"/>
                </a:solidFill>
                <a:latin typeface="Segoe UI"/>
              </a:rPr>
              <a:t>        新增 "買牛奶" → 列表出現該項目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D"/>
                </a:solidFill>
                <a:latin typeface="Segoe UI"/>
              </a:rPr>
              <a:t>        標記完成 → 出現刪除線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D"/>
                </a:solidFill>
                <a:latin typeface="Segoe UI"/>
              </a:rPr>
              <a:t>        切換分類 → 篩選正確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3D3D3D"/>
                </a:solidFill>
                <a:latin typeface="Segoe UI"/>
              </a:rPr>
              <a:t>        刪除 → 回到空列表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B7A52"/>
                </a:solidFill>
                <a:latin typeface="Segoe UI"/>
              </a:rPr>
              <a:t>  3.  產出截圖 + 測試報告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/time-log — 自動時間追蹤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C1C1C"/>
                </a:solidFill>
                <a:latin typeface="Segoe UI"/>
              </a:rPr>
              <a:t>你沒有手動記過任何時間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  2.1  基礎架構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  2.2  CRUD API                18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  3.1  前端元件              15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  3.2  CRUD 互動              12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  4.1  Bug 修復                3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A8A6A0"/>
                </a:solidFill>
                <a:latin typeface="Segoe UI"/>
              </a:rPr>
              <a:t>  ───────────────────────────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5B7A52"/>
                </a:solidFill>
                <a:latin typeface="Segoe UI"/>
              </a:rPr>
              <a:t>  合計                          60 min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5F5F5D"/>
                </a:solidFill>
                <a:latin typeface="Segoe UI"/>
              </a:rPr>
              <a:t>→  全部由 Hook 自動追蹤，對回顧和未來估算非常有用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C1C1C"/>
                </a:solidFill>
                <a:latin typeface="Segoe UI"/>
              </a:rPr>
              <a:t>Chapter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1C1C1C"/>
                </a:solidFill>
                <a:latin typeface="Segoe UI"/>
              </a:rPr>
              <a:t>進階技巧與收尾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更多可以探索的功能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/save-session      保存會話狀態，下次接續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           → 每次下班前執行，隔天無縫接續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/hub-delegate       手動點名 Agent 執行任務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           → 例如直接請 security-auditor 掃描安全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/learn                   萃取可複用模式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           → 教 AI 學會你的開發偏好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6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1C1C1C"/>
                </a:solidFill>
                <a:latin typeface="Segoe UI"/>
              </a:rPr>
              <a:t>94+ 備用技能包  custom-rule&amp;skill/skills/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F5F5D"/>
                </a:solidFill>
                <a:latin typeface="Segoe UI"/>
              </a:rPr>
              <a:t>                             → 複製過來就能用，涵蓋各種語言框架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完整流程回顧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F5F5D"/>
                </a:solidFill>
                <a:latin typeface="Segoe UI"/>
              </a:rPr>
              <a:t>Ch1   認識模板         5 大機制、13 個 Agent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F5F5D"/>
                </a:solidFill>
                <a:latin typeface="Segoe UI"/>
              </a:rPr>
              <a:t>Ch2   /task-init           專案初始化 → CLAUDE.md + WBS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Ch3   開發循環 x3       /task-next → /plan → /tdd → /review-code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Ch4   品質驗證           /verify → /e2e → /time-log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F5F5D"/>
                </a:solidFill>
                <a:latin typeface="Segoe UI"/>
              </a:rPr>
              <a:t>Ch5   進階技巧           /save-session、/learn、擴充技能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1" i="0">
                <a:solidFill>
                  <a:srgbClr val="5B7A52"/>
                </a:solidFill>
                <a:latin typeface="Segoe UI"/>
              </a:rPr>
              <a:t>→  ~60 min 完成一個有測試、有文檔、有品質門的全端應用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課後作業 — 選一個挑戰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5B7A52"/>
                </a:solidFill>
                <a:latin typeface="Segoe UI"/>
              </a:rPr>
              <a:t>初級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  用模板建立一個「記帳本」App，跑完 /task-init → /task-next → /tdd 循環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1C1C1C"/>
                </a:solidFill>
                <a:latin typeface="Segoe UI"/>
              </a:rPr>
              <a:t>中級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  為 TaskFlow 加上「到期日」欄位，練習 SQLModel migration + 前端更新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8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9A7B3A"/>
                </a:solidFill>
                <a:latin typeface="Segoe UI"/>
              </a:rPr>
              <a:t>進階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  為 TaskFlow 加上 JWT 認證（FastAPI Security），體驗 security-auditor agent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C1C1C"/>
                </a:solidFill>
                <a:latin typeface="Segoe UI"/>
              </a:rPr>
              <a:t>推薦探索路徑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254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想深入 Agent 機制     →  .claude/agents/ (13 個定義檔)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想客製化規則        →  .claude/rules/ (修改或新增)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想擴充技能            →  custom-rule&amp;skill/skills/ (94+)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想做完整專案文件  →  /project-docs + 16 個模板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想建 MCP Server     →  mcp-builder skill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1C1C1C"/>
                </a:solidFill>
                <a:latin typeface="Segoe UI"/>
              </a:rPr>
              <a:t>想瞭解運作原理     →  .claude/guides/MECHANISMS.md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1C1C1C"/>
                </a:solidFill>
                <a:latin typeface="Segoe UI"/>
              </a:rPr>
              <a:t/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1C1C1C"/>
                </a:solidFill>
                <a:latin typeface="Segoe UI"/>
              </a:rPr>
              <a:t>速查卡： workshop/docs/03_command_cheatsheet.md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C1C1C"/>
                </a:solidFill>
                <a:latin typeface="Segoe UI"/>
              </a:rPr>
              <a:t>Q &amp; A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F5F5D"/>
                </a:solidFill>
                <a:latin typeface="Segoe UI"/>
              </a:rPr>
              <a:t>問任何關於模板、工作流、Claude Code 的問題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C1C1C"/>
                </a:solidFill>
                <a:latin typeface="Segoe UI"/>
              </a:rPr>
              <a:t>Thank You</a:t>
            </a:r>
          </a:p>
          <a:p>
            <a:pPr algn="ctr">
              <a:spcBef>
                <a:spcPts val="1600"/>
              </a:spcBef>
              <a:spcAft>
                <a:spcPts val="600"/>
              </a:spcAft>
            </a:pPr>
            <a:r>
              <a:rPr sz="2200" b="0" i="0">
                <a:solidFill>
                  <a:srgbClr val="5F5F5D"/>
                </a:solidFill>
                <a:latin typeface="Segoe UI"/>
              </a:rPr>
              <a:t>速查卡在 workshop/docs/ — 有問題隨時在內部頻道問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383280"/>
            <a:ext cx="4846320" cy="381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